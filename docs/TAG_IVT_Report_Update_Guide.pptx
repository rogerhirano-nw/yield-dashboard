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612a0bb7-0cc6-541a-f1dd-eb7f6c93159f}">
          <p14:sldIdLst>
            <p14:sldId id="256"/>
            <p14:sldId id="257"/>
            <p14:sldId id="258"/>
            <p14:sldId id="259"/>
            <p14:sldId id="260"/>
            <p14:sldId id="261"/>
            <p14:sldId id="262"/>
            <p14:sldId id="263"/>
            <p14:sldId id="264"/>
            <p14:sldId id="265"/>
            <p14:sldId id="266"/>
            <p14:sldId id="267"/>
          </p14:sldIdLst>
        </p14:section>
        <p14:section name="Step 1 · GAM" id="{df5b372e-6b54-2874-5afa-62d5334c505d}">
          <p14:sldIdLst>
            <p14:sldId id="268"/>
            <p14:sldId id="269"/>
            <p14:sldId id="270"/>
            <p14:sldId id="271"/>
            <p14:sldId id="272"/>
            <p14:sldId id="273"/>
          </p14:sldIdLst>
        </p14:section>
        <p14:section name="Step 2 · DV" id="{10901d52-7efa-ba85-f6fe-01bfce1b95ad}">
          <p14:sldIdLst>
            <p14:sldId id="274"/>
            <p14:sldId id="275"/>
            <p14:sldId id="276"/>
          </p14:sldIdLst>
        </p14:section>
        <p14:section name="Step 3 · GA4 + pre-bid" id="{0b75761b-68a0-f733-e16a-f5c947622051}">
          <p14:sldIdLst>
            <p14:sldId id="277"/>
            <p14:sldId id="278"/>
          </p14:sldIdLst>
        </p14:section>
        <p14:section name="Step 4 · Quarter math" id="{0ad1d3ca-a643-c9fa-699a-3cb734f0cb0e}">
          <p14:sldIdLst>
            <p14:sldId id="279"/>
            <p14:sldId id="280"/>
          </p14:sldIdLst>
        </p14:section>
        <p14:section name="Step 5 · Build the deck" id="{f1f449c2-af33-10ef-b60d-fbc3cc52b196}">
          <p14:sldIdLst>
            <p14:sldId id="281"/>
            <p14:sldId id="282"/>
            <p14:sldId id="283"/>
          </p14:sldIdLst>
        </p14:section>
        <p14:section name="Appendix" id="{a45da84d-2e02-ccf2-a87c-6bae46657484}">
          <p14:sldIdLst>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Discrepancy rate by month, 2026 YTD (Jan–Sep, October excluded)</a:t>
            </a:r>
          </a:p>
        </c:rich>
      </c:tx>
      <c:layout/>
      <c:overlay val="0"/>
    </c:title>
    <c:autoTitleDeleted val="0"/>
    <c:plotArea>
      <c:layout/>
      <c:lineChart>
        <c:varyColors val="0"/>
        <c:ser>
          <c:idx val="0"/>
          <c:order val="0"/>
          <c:tx>
            <c:strRef>
              <c:f>Sheet1!$B$1</c:f>
              <c:strCache>
                <c:ptCount val="1"/>
                <c:pt idx="0">
                  <c:v>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3.1</c:v>
                </c:pt>
                <c:pt idx="1">
                  <c:v>3.2</c:v>
                </c:pt>
                <c:pt idx="2">
                  <c:v>3</c:v>
                </c:pt>
                <c:pt idx="3">
                  <c:v>1.9</c:v>
                </c:pt>
                <c:pt idx="4">
                  <c:v>8.6</c:v>
                </c:pt>
                <c:pt idx="5">
                  <c:v>2.4</c:v>
                </c:pt>
                <c:pt idx="6">
                  <c:v>5.4</c:v>
                </c:pt>
                <c:pt idx="7">
                  <c:v>5.8</c:v>
                </c:pt>
                <c:pt idx="8">
                  <c:v>4</c:v>
                </c:pt>
              </c:numCache>
            </c:numRef>
          </c:val>
          <c:smooth val="0"/>
        </c:ser>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Volumes, millions</a:t>
            </a:r>
          </a:p>
        </c:rich>
      </c:tx>
      <c:layout/>
      <c:overlay val="0"/>
    </c:title>
    <c:autoTitleDeleted val="0"/>
    <c:plotArea>
      <c:layout/>
      <c:barChart>
        <c:barDir val="col"/>
        <c:grouping val="clustered"/>
        <c:varyColors val="0"/>
        <c:ser>
          <c:idx val="0"/>
          <c:order val="0"/>
          <c:tx>
            <c:strRef>
              <c:f>Sheet1!$B$1</c:f>
              <c:strCache>
                <c:ptCount val="1"/>
                <c:pt idx="0">
                  <c:v>GA4 pageviews</c:v>
                </c:pt>
              </c:strCache>
            </c:strRef>
          </c:tx>
          <c:spPr>
            <a:solidFill>
              <a:srgbClr val="B089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88.8</c:v>
                </c:pt>
                <c:pt idx="1">
                  <c:v>76.4</c:v>
                </c:pt>
                <c:pt idx="2">
                  <c:v>78.9</c:v>
                </c:pt>
                <c:pt idx="3">
                  <c:v>44.6</c:v>
                </c:pt>
                <c:pt idx="4">
                  <c:v>40.3</c:v>
                </c:pt>
                <c:pt idx="5">
                  <c:v>39.4</c:v>
                </c:pt>
                <c:pt idx="6">
                  <c:v>41.8</c:v>
                </c:pt>
                <c:pt idx="7">
                  <c:v>42.8</c:v>
                </c:pt>
                <c:pt idx="8">
                  <c:v>52.6</c:v>
                </c:pt>
              </c:numCache>
            </c:numRef>
          </c:val>
        </c:ser>
        <c:ser>
          <c:idx val="1"/>
          <c:order val="1"/>
          <c:tx>
            <c:strRef>
              <c:f>Sheet1!$C$1</c:f>
              <c:strCache>
                <c:ptCount val="1"/>
                <c:pt idx="0">
                  <c:v>DV pre-bid requests</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86</c:v>
                </c:pt>
                <c:pt idx="1">
                  <c:v>74</c:v>
                </c:pt>
                <c:pt idx="2">
                  <c:v>76.5</c:v>
                </c:pt>
                <c:pt idx="3">
                  <c:v>43.8</c:v>
                </c:pt>
                <c:pt idx="4">
                  <c:v>36.8</c:v>
                </c:pt>
                <c:pt idx="5">
                  <c:v>38.4</c:v>
                </c:pt>
                <c:pt idx="6">
                  <c:v>39.5</c:v>
                </c:pt>
                <c:pt idx="7">
                  <c:v>40.3</c:v>
                </c:pt>
                <c:pt idx="8">
                  <c:v>50.5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Display discrepancy %</a:t>
            </a:r>
          </a:p>
        </c:rich>
      </c:tx>
      <c:layout/>
      <c:overlay val="0"/>
    </c:title>
    <c:autoTitleDeleted val="0"/>
    <c:plotArea>
      <c:layout/>
      <c:lineChart>
        <c:varyColors val="0"/>
        <c:ser>
          <c:idx val="0"/>
          <c:order val="0"/>
          <c:tx>
            <c:strRef>
              <c:f>Sheet1!$B$1</c:f>
              <c:strCache>
                <c:ptCount val="1"/>
                <c:pt idx="0">
                  <c:v>Display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7.8</c:v>
                </c:pt>
                <c:pt idx="1">
                  <c:v>8</c:v>
                </c:pt>
                <c:pt idx="2">
                  <c:v>10.5</c:v>
                </c:pt>
                <c:pt idx="3">
                  <c:v>10.6</c:v>
                </c:pt>
                <c:pt idx="4">
                  <c:v>8.6</c:v>
                </c:pt>
                <c:pt idx="5">
                  <c:v>7.6</c:v>
                </c:pt>
                <c:pt idx="6">
                  <c:v>7.8</c:v>
                </c:pt>
                <c:pt idx="7">
                  <c:v>7.3</c:v>
                </c:pt>
                <c:pt idx="8">
                  <c:v>7.1</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Display,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401.2</c:v>
                </c:pt>
                <c:pt idx="1">
                  <c:v>343.9</c:v>
                </c:pt>
                <c:pt idx="2">
                  <c:v>356.7</c:v>
                </c:pt>
                <c:pt idx="3">
                  <c:v>201.9</c:v>
                </c:pt>
                <c:pt idx="4">
                  <c:v>173.7</c:v>
                </c:pt>
                <c:pt idx="5">
                  <c:v>198.2</c:v>
                </c:pt>
                <c:pt idx="6">
                  <c:v>209.7</c:v>
                </c:pt>
                <c:pt idx="7">
                  <c:v>210</c:v>
                </c:pt>
                <c:pt idx="8">
                  <c:v>260.5</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370</c:v>
                </c:pt>
                <c:pt idx="1">
                  <c:v>316.4</c:v>
                </c:pt>
                <c:pt idx="2">
                  <c:v>319.2</c:v>
                </c:pt>
                <c:pt idx="3">
                  <c:v>180.6</c:v>
                </c:pt>
                <c:pt idx="4">
                  <c:v>158.8</c:v>
                </c:pt>
                <c:pt idx="5">
                  <c:v>183.2</c:v>
                </c:pt>
                <c:pt idx="6">
                  <c:v>193.4</c:v>
                </c:pt>
                <c:pt idx="7">
                  <c:v>194.6</c:v>
                </c:pt>
                <c:pt idx="8">
                  <c:v>241.9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Video discrepancy %</a:t>
            </a:r>
          </a:p>
        </c:rich>
      </c:tx>
      <c:layout/>
      <c:overlay val="0"/>
    </c:title>
    <c:autoTitleDeleted val="0"/>
    <c:plotArea>
      <c:layout/>
      <c:lineChart>
        <c:varyColors val="0"/>
        <c:ser>
          <c:idx val="0"/>
          <c:order val="0"/>
          <c:tx>
            <c:strRef>
              <c:f>Sheet1!$B$1</c:f>
              <c:strCache>
                <c:ptCount val="1"/>
                <c:pt idx="0">
                  <c:v>Video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c:v>
                </c:pt>
                <c:pt idx="1">
                  <c:v>15.1</c:v>
                </c:pt>
                <c:pt idx="2">
                  <c:v>14</c:v>
                </c:pt>
                <c:pt idx="3">
                  <c:v>16.4</c:v>
                </c:pt>
                <c:pt idx="4">
                  <c:v>14.3</c:v>
                </c:pt>
                <c:pt idx="5">
                  <c:v>11.2</c:v>
                </c:pt>
                <c:pt idx="6">
                  <c:v>11.7</c:v>
                </c:pt>
                <c:pt idx="7">
                  <c:v>13.1</c:v>
                </c:pt>
                <c:pt idx="8">
                  <c:v>11.6</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Video,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46.7</c:v>
                </c:pt>
                <c:pt idx="1">
                  <c:v>43.3</c:v>
                </c:pt>
                <c:pt idx="2">
                  <c:v>47.1</c:v>
                </c:pt>
                <c:pt idx="3">
                  <c:v>25.7</c:v>
                </c:pt>
                <c:pt idx="4">
                  <c:v>23.9</c:v>
                </c:pt>
                <c:pt idx="5">
                  <c:v>27.2</c:v>
                </c:pt>
                <c:pt idx="6">
                  <c:v>28.9</c:v>
                </c:pt>
                <c:pt idx="7">
                  <c:v>26.6</c:v>
                </c:pt>
                <c:pt idx="8">
                  <c:v>32.9</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40.9</c:v>
                </c:pt>
                <c:pt idx="1">
                  <c:v>36.8</c:v>
                </c:pt>
                <c:pt idx="2">
                  <c:v>40.5</c:v>
                </c:pt>
                <c:pt idx="3">
                  <c:v>21.5</c:v>
                </c:pt>
                <c:pt idx="4">
                  <c:v>20.5</c:v>
                </c:pt>
                <c:pt idx="5">
                  <c:v>24.2</c:v>
                </c:pt>
                <c:pt idx="6">
                  <c:v>25.5</c:v>
                </c:pt>
                <c:pt idx="7">
                  <c:v>23.1</c:v>
                </c:pt>
                <c:pt idx="8">
                  <c:v>29.1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SIVT rate by quarter, 2026 YTD (Jan–Sep, October excluded)</a:t>
            </a:r>
          </a:p>
        </c:rich>
      </c:tx>
      <c:layout/>
      <c:overlay val="0"/>
    </c:title>
    <c:autoTitleDeleted val="0"/>
    <c:plotArea>
      <c:layout/>
      <c:barChart>
        <c:barDir val="col"/>
        <c:grouping val="clustered"/>
        <c:varyColors val="0"/>
        <c:ser>
          <c:idx val="0"/>
          <c:order val="0"/>
          <c:tx>
            <c:strRef>
              <c:f>Sheet1!$B$1</c:f>
              <c:strCache>
                <c:ptCount val="1"/>
                <c:pt idx="0">
                  <c:v>Overall</c:v>
                </c:pt>
              </c:strCache>
            </c:strRef>
          </c:tx>
          <c:spPr>
            <a:solidFill>
              <a:srgbClr val="1F1E19"/>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Sheet1!$B$2:$B$5</c:f>
              <c:numCache>
                <c:formatCode>General</c:formatCode>
                <c:ptCount val="4"/>
                <c:pt idx="0">
                  <c:v>0.039</c:v>
                </c:pt>
                <c:pt idx="1">
                  <c:v>0.042</c:v>
                </c:pt>
                <c:pt idx="2">
                  <c:v>0.044</c:v>
                </c:pt>
                <c:pt idx="3">
                  <c:v>0.041</c:v>
                </c:pt>
              </c:numCache>
            </c:numRef>
          </c:val>
        </c:ser>
        <c:ser>
          <c:idx val="1"/>
          <c:order val="1"/>
          <c:tx>
            <c:strRef>
              <c:f>Sheet1!$C$1</c:f>
              <c:strCache>
                <c:ptCount val="1"/>
                <c:pt idx="0">
                  <c:v>Display</c:v>
                </c:pt>
              </c:strCache>
            </c:strRef>
          </c:tx>
          <c:spPr>
            <a:solidFill>
              <a:srgbClr val="4B62E0"/>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Sheet1!$C$2:$C$5</c:f>
              <c:numCache>
                <c:formatCode>General</c:formatCode>
                <c:ptCount val="4"/>
                <c:pt idx="0">
                  <c:v>0.04</c:v>
                </c:pt>
                <c:pt idx="1">
                  <c:v>0.046</c:v>
                </c:pt>
                <c:pt idx="2">
                  <c:v>0.048</c:v>
                </c:pt>
                <c:pt idx="3">
                  <c:v>0.044</c:v>
                </c:pt>
              </c:numCache>
            </c:numRef>
          </c:val>
        </c:ser>
        <c:ser>
          <c:idx val="2"/>
          <c:order val="2"/>
          <c:tx>
            <c:strRef>
              <c:f>Sheet1!$D$1</c:f>
              <c:strCache>
                <c:ptCount val="1"/>
                <c:pt idx="0">
                  <c:v>Video</c:v>
                </c:pt>
              </c:strCache>
            </c:strRef>
          </c:tx>
          <c:spPr>
            <a:solidFill>
              <a:srgbClr val="824DD7"/>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Sheet1!$D$2:$D$5</c:f>
              <c:numCache>
                <c:formatCode>General</c:formatCode>
                <c:ptCount val="4"/>
                <c:pt idx="0">
                  <c:v>0.027</c:v>
                </c:pt>
                <c:pt idx="1">
                  <c:v>0.016</c:v>
                </c:pt>
                <c:pt idx="2">
                  <c:v>0.017</c:v>
                </c:pt>
                <c:pt idx="3">
                  <c:v>0.021</c:v>
                </c:pt>
              </c:numCache>
            </c:numRef>
          </c:val>
        </c:ser>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0.0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for the monthly refresh of the Newsweek IVT Monitoring Report, the TAG CAF evidence pack. Everything here is done in the Ad Manager, DoubleVerify Pinnacle and GA4 interfaces.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W_COVER">
    <p:bg>
      <p:bgPr>
        <a:solidFill>
          <a:srgbClr val="1F1E19"/>
        </a:solidFill>
      </p:bgPr>
    </p:bg>
    <p:spTree>
      <p:nvGrpSpPr>
        <p:cNvPr id="1" name=""/>
        <p:cNvGrpSpPr/>
        <p:nvPr/>
      </p:nvGrpSpPr>
      <p:grpSpPr>
        <a:xfrm>
          <a:off x="0" y="0"/>
          <a:ext cx="0" cy="0"/>
          <a:chOff x="0" y="0"/>
          <a:chExt cx="0" cy="0"/>
        </a:xfrm>
      </p:grpSpPr>
      <p:pic>
        <p:nvPicPr>
          <p:cNvPr id="2" name="Image 0" descr="/tmp/claude-0/-home-user-yield-dashboard/4d5cc11e-e324-5930-811f-3c218404ae68/scratchpad/deck/img/s1_Picture_10.png">    </p:cNvPr>
          <p:cNvPicPr>
            <a:picLocks noChangeAspect="1"/>
          </p:cNvPicPr>
          <p:nvPr/>
        </p:nvPicPr>
        <p:blipFill>
          <a:blip r:embed="rId1"/>
          <a:stretch>
            <a:fillRect/>
          </a:stretch>
        </p:blipFill>
        <p:spPr>
          <a:xfrm>
            <a:off x="548640" y="548640"/>
            <a:ext cx="2377440" cy="365760"/>
          </a:xfrm>
          <a:prstGeom prst="rect">
            <a:avLst/>
          </a:prstGeom>
        </p:spPr>
      </p:pic>
      <p:sp>
        <p:nvSpPr>
          <p:cNvPr id="3" name="Text 0"/>
          <p:cNvSpPr/>
          <p:nvPr>
            <p:ph idx="101" type="body" hasCustomPrompt="1"/>
          </p:nvPr>
        </p:nvSpPr>
        <p:spPr>
          <a:xfrm>
            <a:off x="822960" y="2743200"/>
            <a:ext cx="8229600" cy="365760"/>
          </a:xfrm>
          <a:prstGeom prst="rect">
            <a:avLst/>
          </a:prstGeom>
          <a:noFill/>
          <a:ln/>
        </p:spPr>
        <p:txBody>
          <a:bodyPr wrap="square" rtlCol="0"/>
          <a:lstStyle>
            <a:lvl1pPr indent="0" marL="0">
              <a:buNone/>
              <a:defRPr lang="en-US" sz="1400" b="1" spc="300" kern="0" dirty="0">
                <a:solidFill>
                  <a:schemeClr val="bg2"/>
                </a:solidFill>
              </a:defRPr>
            </a:lvl1pPr>
          </a:lstStyle>
          <a:p>
            <a:pPr indent="0" marL="0">
              <a:buNone/>
            </a:pPr>
            <a:endParaRPr lang="en-US" sz="1400" dirty="0"/>
          </a:p>
        </p:txBody>
      </p:sp>
      <p:sp>
        <p:nvSpPr>
          <p:cNvPr id="4" name="Text 0"/>
          <p:cNvSpPr/>
          <p:nvPr>
            <p:ph idx="102" type="title" hasCustomPrompt="1"/>
          </p:nvPr>
        </p:nvSpPr>
        <p:spPr>
          <a:xfrm>
            <a:off x="548640" y="3154680"/>
            <a:ext cx="10515600" cy="1737360"/>
          </a:xfrm>
          <a:prstGeom prst="rect">
            <a:avLst/>
          </a:prstGeom>
          <a:noFill/>
          <a:ln/>
        </p:spPr>
        <p:txBody>
          <a:bodyPr wrap="square" rtlCol="0"/>
          <a:lstStyle>
            <a:lvl1pPr algn="l" indent="0" marL="0">
              <a:buNone/>
              <a:defRPr lang="en-US" sz="4800" dirty="0">
                <a:solidFill>
                  <a:schemeClr val="bg1"/>
                </a:solidFill>
                <a:latin typeface="Georgia" pitchFamily="34" charset="0"/>
                <a:ea typeface="Georgia" pitchFamily="34" charset="-122"/>
                <a:cs typeface="Georgia" pitchFamily="34" charset="-120"/>
              </a:defRPr>
            </a:lvl1pPr>
          </a:lstStyle>
          <a:p>
            <a:pPr algn="l" indent="0" marL="0">
              <a:buNone/>
            </a:pP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W_SECTION">
    <p:bg>
      <p:bgPr>
        <a:solidFill>
          <a:srgbClr val="1F1E1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rtlCol="0"/>
          <a:lstStyle>
            <a:lvl1pPr indent="0" marL="0">
              <a:buNone/>
              <a:defRPr lang="en-US" sz="12000" dirty="0">
                <a:solidFill>
                  <a:schemeClr val="accent1"/>
                </a:solidFill>
                <a:latin typeface="Georgia" pitchFamily="34" charset="0"/>
                <a:ea typeface="Georgia" pitchFamily="34" charset="-122"/>
                <a:cs typeface="Georgia" pitchFamily="34" charset="-120"/>
              </a:defRPr>
            </a:lvl1pPr>
          </a:lstStyle>
          <a:p>
            <a:pPr indent="0" marL="0">
              <a:buNone/>
            </a:pP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rtlCol="0"/>
          <a:lstStyle>
            <a:lvl1pPr algn="l" indent="0" marL="0">
              <a:buNone/>
              <a:defRPr lang="en-US" sz="4400" dirty="0">
                <a:solidFill>
                  <a:schemeClr val="bg1"/>
                </a:solidFill>
                <a:latin typeface="Georgia" pitchFamily="34" charset="0"/>
                <a:ea typeface="Georgia" pitchFamily="34" charset="-122"/>
                <a:cs typeface="Georgia" pitchFamily="34" charset="-120"/>
              </a:defRPr>
            </a:lvl1pPr>
          </a:lstStyle>
          <a:p>
            <a:pPr algn="l" indent="0" marL="0">
              <a:buNone/>
            </a:pP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pic>
        <p:nvPicPr>
          <p:cNvPr id="5" name="Image 0" descr="/tmp/claude-0/-home-user-yield-dashboard/4d5cc11e-e324-5930-811f-3c218404ae68/scratchpad/deck/img/s1_Picture_10.png">    </p:cNvPr>
          <p:cNvPicPr>
            <a:picLocks noChangeAspect="1"/>
          </p:cNvPicPr>
          <p:nvPr/>
        </p:nvPicPr>
        <p:blipFill>
          <a:blip r:embed="rId1"/>
          <a:stretch>
            <a:fillRect/>
          </a:stretch>
        </p:blipFill>
        <p:spPr>
          <a:xfrm>
            <a:off x="10271455" y="6355080"/>
            <a:ext cx="1371600" cy="21031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W_CONTENT">
    <p:bg>
      <p:bgPr>
        <a:solidFill>
          <a:srgbClr val="FEFCF6"/>
        </a:solidFill>
      </p:bgPr>
    </p:bg>
    <p:spTree>
      <p:nvGrpSpPr>
        <p:cNvPr id="1" name=""/>
        <p:cNvGrpSpPr/>
        <p:nvPr/>
      </p:nvGrpSpPr>
      <p:grpSpPr>
        <a:xfrm>
          <a:off x="0" y="0"/>
          <a:ext cx="0" cy="0"/>
          <a:chOff x="0" y="0"/>
          <a:chExt cx="0" cy="0"/>
        </a:xfrm>
      </p:grpSpPr>
      <p:sp>
        <p:nvSpPr>
          <p:cNvPr id="2" name="Shape 0"/>
          <p:cNvSpPr/>
          <p:nvPr/>
        </p:nvSpPr>
        <p:spPr>
          <a:xfrm>
            <a:off x="548640" y="566928"/>
            <a:ext cx="109728" cy="109728"/>
          </a:xfrm>
          <a:prstGeom prst="rect">
            <a:avLst/>
          </a:prstGeom>
          <a:solidFill>
            <a:srgbClr val="E91D0C"/>
          </a:solidFill>
          <a:ln/>
        </p:spPr>
      </p:sp>
      <p:sp>
        <p:nvSpPr>
          <p:cNvPr id="3" name="Text 1"/>
          <p:cNvSpPr/>
          <p:nvPr>
            <p:ph idx="101" type="body" hasCustomPrompt="1"/>
          </p:nvPr>
        </p:nvSpPr>
        <p:spPr>
          <a:xfrm>
            <a:off x="749808" y="457200"/>
            <a:ext cx="8229600" cy="329184"/>
          </a:xfrm>
          <a:prstGeom prst="rect">
            <a:avLst/>
          </a:prstGeom>
          <a:noFill/>
          <a:ln/>
        </p:spPr>
        <p:txBody>
          <a:bodyPr wrap="square" rtlCol="0"/>
          <a:lstStyle>
            <a:lvl1pPr indent="0" marL="0">
              <a:buNone/>
              <a:defRPr lang="en-US" sz="1200" b="1" spc="300" kern="0" dirty="0">
                <a:solidFill>
                  <a:schemeClr val="tx2"/>
                </a:solidFill>
              </a:defRPr>
            </a:lvl1pPr>
          </a:lstStyle>
          <a:p>
            <a:pPr indent="0" marL="0">
              <a:buNone/>
            </a:pPr>
            <a:endParaRPr lang="en-US" sz="1200" dirty="0"/>
          </a:p>
        </p:txBody>
      </p:sp>
      <p:sp>
        <p:nvSpPr>
          <p:cNvPr id="4" name="Text 1"/>
          <p:cNvSpPr/>
          <p:nvPr>
            <p:ph idx="102" type="title" hasCustomPrompt="1"/>
          </p:nvPr>
        </p:nvSpPr>
        <p:spPr>
          <a:xfrm>
            <a:off x="548640" y="868680"/>
            <a:ext cx="11094415" cy="868680"/>
          </a:xfrm>
          <a:prstGeom prst="rect">
            <a:avLst/>
          </a:prstGeom>
          <a:noFill/>
          <a:ln/>
        </p:spPr>
        <p:txBody>
          <a:bodyPr wrap="square" rtlCol="0"/>
          <a:lstStyle>
            <a:lvl1pPr algn="l" indent="0" marL="0">
              <a:buNone/>
              <a:defRPr lang="en-US" sz="3400" dirty="0">
                <a:solidFill>
                  <a:schemeClr val="tx1"/>
                </a:solidFill>
                <a:latin typeface="Georgia" pitchFamily="34" charset="0"/>
                <a:ea typeface="Georgia" pitchFamily="34" charset="-122"/>
                <a:cs typeface="Georgia" pitchFamily="34" charset="-120"/>
              </a:defRPr>
            </a:lvl1pPr>
          </a:lstStyle>
          <a:p>
            <a:pPr algn="l" indent="0" marL="0">
              <a:buNone/>
            </a:pPr>
            <a:endParaRPr lang="en-US" sz="3400" dirty="0"/>
          </a:p>
        </p:txBody>
      </p:sp>
      <p:sp>
        <p:nvSpPr>
          <p:cNvPr id="5" name="Text 1"/>
          <p:cNvSpPr/>
          <p:nvPr/>
        </p:nvSpPr>
        <p:spPr>
          <a:xfrm>
            <a:off x="1097280" y="6400800"/>
            <a:ext cx="5486400" cy="274320"/>
          </a:xfrm>
          <a:prstGeom prst="rect">
            <a:avLst/>
          </a:prstGeom>
          <a:noFill/>
          <a:ln/>
        </p:spPr>
        <p:txBody>
          <a:bodyPr wrap="square" lIns="0" tIns="0" rIns="0" bIns="0" rtlCol="0" anchor="ctr"/>
          <a:lstStyle/>
          <a:p>
            <a:pPr indent="0" marL="0">
              <a:buNone/>
            </a:pPr>
            <a:r>
              <a:rPr lang="en-US" sz="1000" dirty="0">
                <a:solidFill>
                  <a:srgbClr val="8C887B"/>
                </a:solidFill>
                <a:latin typeface="Arial" pitchFamily="34" charset="0"/>
                <a:ea typeface="Arial" pitchFamily="34" charset="-122"/>
                <a:cs typeface="Arial" pitchFamily="34" charset="-120"/>
              </a:rPr>
              <a:t>TAG IVT monitoring report · update guide</a:t>
            </a:r>
            <a:endParaRPr lang="en-US" sz="1000" dirty="0"/>
          </a:p>
        </p:txBody>
      </p:sp>
      <p:pic>
        <p:nvPicPr>
          <p:cNvPr id="6" name="Image 0" descr="/tmp/claude-0/-home-user-yield-dashboard/4d5cc11e-e324-5930-811f-3c218404ae68/scratchpad/deck/img/s1_Picture_10.png">    </p:cNvPr>
          <p:cNvPicPr>
            <a:picLocks noChangeAspect="1"/>
          </p:cNvPicPr>
          <p:nvPr/>
        </p:nvPicPr>
        <p:blipFill>
          <a:blip r:embed="rId1"/>
          <a:stretch>
            <a:fillRect/>
          </a:stretch>
        </p:blipFill>
        <p:spPr>
          <a:xfrm>
            <a:off x="10454335" y="6400800"/>
            <a:ext cx="1188720" cy="182880"/>
          </a:xfrm>
          <a:prstGeom prst="rect">
            <a:avLst/>
          </a:prstGeom>
        </p:spPr>
      </p:pic>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newsweek0.sharepoint.com/:f:/r/sites/yield/Shared%20Documents/TAG?d=w6f5bf7a5ebcb486fb227e5800637b2be&amp;csf=1&amp;web=1&amp;e=ocTR9G" TargetMode="Externa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analytics.google.com/analytics/web/#/analysis/a131632414p359317277/edit/Gbsqfd36SraxUc8LJyQB6g" TargetMode="External"/><Relationship Id="rId2" Type="http://schemas.openxmlformats.org/officeDocument/2006/relationships/hyperlink" Target="https://drive.google.com/drive/folders/1JXnbW3dBa-KjEO_W-aWQXCzUdApxmtxt" TargetMode="External"/><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822960" y="2743200"/>
            <a:ext cx="8229600" cy="365760"/>
          </a:xfrm>
          <a:prstGeom prst="rect">
            <a:avLst/>
          </a:prstGeom>
          <a:noFill/>
          <a:ln/>
        </p:spPr>
        <p:txBody>
          <a:bodyPr wrap="square" lIns="0" tIns="0" rIns="0" bIns="0" rtlCol="0"/>
          <a:lstStyle/>
          <a:p>
            <a:pPr indent="0" marL="0">
              <a:buNone/>
            </a:pPr>
            <a:r>
              <a:rPr lang="en-US" sz="1400" b="1" spc="300" kern="0" dirty="0">
                <a:solidFill>
                  <a:schemeClr val="bg2"/>
                </a:solidFill>
              </a:rPr>
              <a:t>REVOPS · TAG CERTIFIED AGAINST FRAUD</a:t>
            </a:r>
            <a:endParaRPr lang="en-US" sz="1400" dirty="0"/>
          </a:p>
        </p:txBody>
      </p:sp>
      <p:sp>
        <p:nvSpPr>
          <p:cNvPr id="3" name="cover tick"/>
          <p:cNvSpPr/>
          <p:nvPr/>
        </p:nvSpPr>
        <p:spPr>
          <a:xfrm>
            <a:off x="548640" y="2862072"/>
            <a:ext cx="128016" cy="128016"/>
          </a:xfrm>
          <a:prstGeom prst="rect">
            <a:avLst/>
          </a:prstGeom>
          <a:solidFill>
            <a:schemeClr val="accent1"/>
          </a:solidFill>
          <a:ln/>
        </p:spPr>
      </p:sp>
      <p:sp>
        <p:nvSpPr>
          <p:cNvPr id="4" name="Text 0"/>
          <p:cNvSpPr/>
          <p:nvPr>
            <p:ph idx="102" type="title" hasCustomPrompt="1"/>
          </p:nvPr>
        </p:nvSpPr>
        <p:spPr>
          <a:xfrm>
            <a:off x="548640" y="3154680"/>
            <a:ext cx="10515600" cy="1737360"/>
          </a:xfrm>
          <a:prstGeom prst="rect">
            <a:avLst/>
          </a:prstGeom>
          <a:noFill/>
          <a:ln/>
        </p:spPr>
        <p:txBody>
          <a:bodyPr wrap="square" lIns="0" tIns="0" rIns="0" bIns="0" rtlCol="0" anchor="t"/>
          <a:lstStyle/>
          <a:p>
            <a:pPr algn="l" indent="0" marL="0">
              <a:buNone/>
            </a:pPr>
            <a:r>
              <a:rPr lang="en-US" sz="4800" dirty="0">
                <a:solidFill>
                  <a:schemeClr val="bg1"/>
                </a:solidFill>
                <a:latin typeface="Georgia" pitchFamily="34" charset="0"/>
                <a:ea typeface="Georgia" pitchFamily="34" charset="-122"/>
                <a:cs typeface="Georgia" pitchFamily="34" charset="-120"/>
              </a:rPr>
              <a:t>Updating the IVT Monitoring Report</a:t>
            </a: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lIns="0" tIns="0" rIns="0" bIns="0" rtlCol="0" anchor="t"/>
          <a:lstStyle/>
          <a:p>
            <a:pPr indent="0" marL="0">
              <a:buNone/>
            </a:pPr>
            <a:r>
              <a:rPr lang="en-US" sz="1800" dirty="0">
                <a:solidFill>
                  <a:schemeClr val="bg2"/>
                </a:solidFill>
              </a:rPr>
              <a:t>A step-by-step guide for anyone, even if you have never heard of TAG: where every number comes from and how it reaches the deck we send the auditors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Why this deck exists</a:t>
            </a:r>
            <a:endParaRPr lang="en-US" sz="3400" dirty="0"/>
          </a:p>
        </p:txBody>
      </p:sp>
      <p:sp>
        <p:nvSpPr>
          <p:cNvPr id="4" name="Text 2"/>
          <p:cNvSpPr txBox="1"/>
          <p:nvPr/>
        </p:nvSpPr>
        <p:spPr>
          <a:xfrm>
            <a:off x="548640" y="1828800"/>
            <a:ext cx="11094415" cy="1005840"/>
          </a:xfrm>
          <a:prstGeom prst="rect">
            <a:avLst/>
          </a:prstGeom>
          <a:noFill/>
          <a:ln/>
        </p:spPr>
        <p:txBody>
          <a:bodyPr wrap="square" lIns="0" tIns="0" rIns="0" bIns="0" rtlCol="0" anchor="t"/>
          <a:lstStyle/>
          <a:p>
            <a:pPr indent="0" marL="0">
              <a:buNone/>
            </a:pPr>
            <a:r>
              <a:rPr lang="en-US" sz="1500" dirty="0">
                <a:solidFill>
                  <a:schemeClr val="tx1"/>
                </a:solidFill>
              </a:rPr>
              <a:t>TAG (the Trustworthy Accountability Group) is an ad-industry body. Its Certified Against Fraud (CAF) seal lets Newsweek show buyers that we prevent and remove invalid traffic, not just measure it. To keep the seal, TAG's auditors ask for evidence. The IVT Monitoring Report is that evidence, and this guide refreshes it every month.</a:t>
            </a:r>
            <a:endParaRPr lang="en-US" sz="1500" dirty="0"/>
          </a:p>
        </p:txBody>
      </p:sp>
      <p:sp>
        <p:nvSpPr>
          <p:cNvPr id="5" name="proof 1"/>
          <p:cNvSpPr/>
          <p:nvPr/>
        </p:nvSpPr>
        <p:spPr>
          <a:xfrm>
            <a:off x="548640" y="3063240"/>
            <a:ext cx="3454298" cy="2743200"/>
          </a:xfrm>
          <a:prstGeom prst="rect">
            <a:avLst/>
          </a:prstGeom>
          <a:solidFill>
            <a:schemeClr val="tx1"/>
          </a:solidFill>
          <a:ln w="9525">
            <a:solidFill>
              <a:srgbClr val="E7E0C9"/>
            </a:solidFill>
            <a:prstDash val="solid"/>
          </a:ln>
        </p:spPr>
      </p:sp>
      <p:sp>
        <p:nvSpPr>
          <p:cNvPr id="6" name="Text 4"/>
          <p:cNvSpPr txBox="1"/>
          <p:nvPr/>
        </p:nvSpPr>
        <p:spPr>
          <a:xfrm>
            <a:off x="822960" y="3291840"/>
            <a:ext cx="2905658" cy="274320"/>
          </a:xfrm>
          <a:prstGeom prst="rect">
            <a:avLst/>
          </a:prstGeom>
          <a:noFill/>
          <a:ln/>
        </p:spPr>
        <p:txBody>
          <a:bodyPr wrap="square" lIns="0" tIns="0" rIns="0" bIns="0" rtlCol="0" anchor="t"/>
          <a:lstStyle/>
          <a:p>
            <a:pPr indent="0" marL="0">
              <a:buNone/>
            </a:pPr>
            <a:r>
              <a:rPr lang="en-US" sz="1000" b="1" spc="200" kern="0" dirty="0">
                <a:solidFill>
                  <a:schemeClr val="bg2"/>
                </a:solidFill>
              </a:rPr>
              <a:t>WHAT AUDITORS NEED TO SEE · 1</a:t>
            </a:r>
            <a:endParaRPr lang="en-US" sz="1000" dirty="0"/>
          </a:p>
        </p:txBody>
      </p:sp>
      <p:sp>
        <p:nvSpPr>
          <p:cNvPr id="7" name="Text 5"/>
          <p:cNvSpPr txBox="1"/>
          <p:nvPr/>
        </p:nvSpPr>
        <p:spPr>
          <a:xfrm>
            <a:off x="822960" y="3657600"/>
            <a:ext cx="2905658" cy="731520"/>
          </a:xfrm>
          <a:prstGeom prst="rect">
            <a:avLst/>
          </a:prstGeom>
          <a:noFill/>
          <a:ln/>
        </p:spPr>
        <p:txBody>
          <a:bodyPr wrap="square" lIns="0" tIns="0" rIns="0" bIns="0" rtlCol="0" anchor="t"/>
          <a:lstStyle/>
          <a:p>
            <a:pPr indent="0" marL="0">
              <a:buNone/>
            </a:pPr>
            <a:r>
              <a:rPr lang="en-US" sz="2100" dirty="0">
                <a:solidFill>
                  <a:schemeClr val="bg1"/>
                </a:solidFill>
                <a:latin typeface="Georgia" pitchFamily="34" charset="0"/>
                <a:ea typeface="Georgia" pitchFamily="34" charset="-122"/>
                <a:cs typeface="Georgia" pitchFamily="34" charset="-120"/>
              </a:rPr>
              <a:t>Every pageview is screened</a:t>
            </a:r>
            <a:endParaRPr lang="en-US" sz="2100" dirty="0"/>
          </a:p>
        </p:txBody>
      </p:sp>
      <p:sp>
        <p:nvSpPr>
          <p:cNvPr id="8" name="Text 6"/>
          <p:cNvSpPr txBox="1"/>
          <p:nvPr/>
        </p:nvSpPr>
        <p:spPr>
          <a:xfrm>
            <a:off x="822960" y="4434840"/>
            <a:ext cx="2905658" cy="731520"/>
          </a:xfrm>
          <a:prstGeom prst="rect">
            <a:avLst/>
          </a:prstGeom>
          <a:noFill/>
          <a:ln/>
        </p:spPr>
        <p:txBody>
          <a:bodyPr wrap="square" lIns="0" tIns="0" rIns="0" bIns="0" rtlCol="0" anchor="t"/>
          <a:lstStyle/>
          <a:p>
            <a:pPr indent="0" marL="0">
              <a:buNone/>
            </a:pPr>
            <a:r>
              <a:rPr lang="en-US" sz="1400" dirty="0">
                <a:solidFill>
                  <a:schemeClr val="bg2"/>
                </a:solidFill>
              </a:rPr>
              <a:t>DoubleVerify checks each page before ads are requested (pre-bid).</a:t>
            </a:r>
            <a:endParaRPr lang="en-US" sz="1400" dirty="0"/>
          </a:p>
        </p:txBody>
      </p:sp>
      <p:sp>
        <p:nvSpPr>
          <p:cNvPr id="9" name="Text 7"/>
          <p:cNvSpPr txBox="1"/>
          <p:nvPr/>
        </p:nvSpPr>
        <p:spPr>
          <a:xfrm>
            <a:off x="822960" y="5303520"/>
            <a:ext cx="2905658" cy="274320"/>
          </a:xfrm>
          <a:prstGeom prst="rect">
            <a:avLst/>
          </a:prstGeom>
          <a:noFill/>
          <a:ln/>
        </p:spPr>
        <p:txBody>
          <a:bodyPr wrap="square" lIns="0" tIns="0" rIns="0" bIns="0" rtlCol="0" anchor="t"/>
          <a:lstStyle/>
          <a:p>
            <a:pPr indent="0" marL="0">
              <a:buNone/>
            </a:pPr>
            <a:r>
              <a:rPr lang="en-US" sz="1000" b="1" spc="200" kern="0" dirty="0">
                <a:solidFill>
                  <a:schemeClr val="bg1"/>
                </a:solidFill>
              </a:rPr>
              <a:t>PROVED BY: DV-GA WORKBOOK</a:t>
            </a:r>
            <a:endParaRPr lang="en-US" sz="1000" dirty="0"/>
          </a:p>
        </p:txBody>
      </p:sp>
      <p:sp>
        <p:nvSpPr>
          <p:cNvPr id="10" name="proof 2"/>
          <p:cNvSpPr/>
          <p:nvPr/>
        </p:nvSpPr>
        <p:spPr>
          <a:xfrm>
            <a:off x="4368698" y="3063240"/>
            <a:ext cx="3454298" cy="2743200"/>
          </a:xfrm>
          <a:prstGeom prst="rect">
            <a:avLst/>
          </a:prstGeom>
          <a:solidFill>
            <a:schemeClr val="bg2"/>
          </a:solidFill>
          <a:ln w="9525">
            <a:solidFill>
              <a:srgbClr val="E7E0C9"/>
            </a:solidFill>
            <a:prstDash val="solid"/>
          </a:ln>
        </p:spPr>
      </p:sp>
      <p:sp>
        <p:nvSpPr>
          <p:cNvPr id="11" name="Text 9"/>
          <p:cNvSpPr txBox="1"/>
          <p:nvPr/>
        </p:nvSpPr>
        <p:spPr>
          <a:xfrm>
            <a:off x="4643018"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2</a:t>
            </a:r>
            <a:endParaRPr lang="en-US" sz="1000" dirty="0"/>
          </a:p>
        </p:txBody>
      </p:sp>
      <p:sp>
        <p:nvSpPr>
          <p:cNvPr id="12" name="Text 10"/>
          <p:cNvSpPr txBox="1"/>
          <p:nvPr/>
        </p:nvSpPr>
        <p:spPr>
          <a:xfrm>
            <a:off x="4643018"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Every impression is measured</a:t>
            </a:r>
            <a:endParaRPr lang="en-US" sz="2100" dirty="0"/>
          </a:p>
        </p:txBody>
      </p:sp>
      <p:sp>
        <p:nvSpPr>
          <p:cNvPr id="13" name="Text 11"/>
          <p:cNvSpPr txBox="1"/>
          <p:nvPr/>
        </p:nvSpPr>
        <p:spPr>
          <a:xfrm>
            <a:off x="4643018"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DoubleVerify measures the impressions Ad Manager serves (post-bid).</a:t>
            </a:r>
            <a:endParaRPr lang="en-US" sz="1400" dirty="0"/>
          </a:p>
        </p:txBody>
      </p:sp>
      <p:sp>
        <p:nvSpPr>
          <p:cNvPr id="14" name="Text 12"/>
          <p:cNvSpPr txBox="1"/>
          <p:nvPr/>
        </p:nvSpPr>
        <p:spPr>
          <a:xfrm>
            <a:off x="4643018"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15" name="proof 3"/>
          <p:cNvSpPr/>
          <p:nvPr/>
        </p:nvSpPr>
        <p:spPr>
          <a:xfrm>
            <a:off x="8188757" y="3063240"/>
            <a:ext cx="3454298" cy="2743200"/>
          </a:xfrm>
          <a:prstGeom prst="rect">
            <a:avLst/>
          </a:prstGeom>
          <a:solidFill>
            <a:schemeClr val="bg2"/>
          </a:solidFill>
          <a:ln w="9525">
            <a:solidFill>
              <a:srgbClr val="E7E0C9"/>
            </a:solidFill>
            <a:prstDash val="solid"/>
          </a:ln>
        </p:spPr>
      </p:sp>
      <p:sp>
        <p:nvSpPr>
          <p:cNvPr id="16" name="Text 14"/>
          <p:cNvSpPr txBox="1"/>
          <p:nvPr/>
        </p:nvSpPr>
        <p:spPr>
          <a:xfrm>
            <a:off x="8463077"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3</a:t>
            </a:r>
            <a:endParaRPr lang="en-US" sz="1000" dirty="0"/>
          </a:p>
        </p:txBody>
      </p:sp>
      <p:sp>
        <p:nvSpPr>
          <p:cNvPr id="17" name="Text 15"/>
          <p:cNvSpPr txBox="1"/>
          <p:nvPr/>
        </p:nvSpPr>
        <p:spPr>
          <a:xfrm>
            <a:off x="8463077"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Invalid traffic stays low</a:t>
            </a:r>
            <a:endParaRPr lang="en-US" sz="2100" dirty="0"/>
          </a:p>
        </p:txBody>
      </p:sp>
      <p:sp>
        <p:nvSpPr>
          <p:cNvPr id="18" name="Text 16"/>
          <p:cNvSpPr txBox="1"/>
          <p:nvPr/>
        </p:nvSpPr>
        <p:spPr>
          <a:xfrm>
            <a:off x="8463077"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DV's SIVT rate, month by month and quarter by quarter.</a:t>
            </a:r>
            <a:endParaRPr lang="en-US" sz="1400" dirty="0"/>
          </a:p>
        </p:txBody>
      </p:sp>
      <p:sp>
        <p:nvSpPr>
          <p:cNvPr id="19" name="Text 17"/>
          <p:cNvSpPr txBox="1"/>
          <p:nvPr/>
        </p:nvSpPr>
        <p:spPr>
          <a:xfrm>
            <a:off x="8463077"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words you'll see in this guide</a:t>
            </a:r>
            <a:endParaRPr lang="en-US" sz="3400" dirty="0"/>
          </a:p>
        </p:txBody>
      </p:sp>
      <p:graphicFrame>
        <p:nvGraphicFramePr>
          <p:cNvPr id="4" name="glossary 1"/>
          <p:cNvGraphicFramePr>
            <a:graphicFrameLocks noGrp="1"/>
          </p:cNvGraphicFramePr>
          <p:nvPr>
            <p:extLst>
              <p:ext uri="{D42A27DB-BD31-4B8C-83A1-F6EECF244321}">
                <p14:modId xmlns:p14="http://schemas.microsoft.com/office/powerpoint/2010/main" val="1579011935"/>
              </p:ext>
            </p:extLst>
          </p:nvPr>
        </p:nvGraphicFramePr>
        <p:xfrm>
          <a:off x="548640"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Invalid traffic: impressions not seen by a real person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General IVT: known bots and crawlers, caught by lists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Sophisticated IVT: hijacked devices, bots posing as people. Hard to detect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checks a page before any ad is requested; risky pages get no ads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Post-bid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measures each impression after it has served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gap between two counts of the same thing, as a %</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graphicFrame>
        <p:nvGraphicFramePr>
          <p:cNvPr id="7" name="glossary 2"/>
          <p:cNvGraphicFramePr>
            <a:graphicFrameLocks noGrp="1"/>
          </p:cNvGraphicFramePr>
          <p:nvPr>
            <p:extLst>
              <p:ext uri="{D42A27DB-BD31-4B8C-83A1-F6EECF244321}">
                <p14:modId xmlns:p14="http://schemas.microsoft.com/office/powerpoint/2010/main" val="1579011935"/>
              </p:ext>
            </p:extLst>
          </p:nvPr>
        </p:nvGraphicFramePr>
        <p:xfrm>
          <a:off x="6278728"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Ad Manager, the ad server that counts our impressions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DoubleVerify, our verification vendor. Its web UI is Pinnacle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Analytics 4, where pageviews are counted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Google's exchange. Its count already includes Private Auction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Other exchanges bidding inside Ad Manager</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PA · PD · PG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 Preferred Deal · Programmatic Guaranteed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Before you start</a:t>
            </a:r>
            <a:endParaRPr lang="en-US" sz="3400" dirty="0"/>
          </a:p>
        </p:txBody>
      </p:sp>
      <p:sp>
        <p:nvSpPr>
          <p:cNvPr id="4" name="prep 1"/>
          <p:cNvSpPr/>
          <p:nvPr/>
        </p:nvSpPr>
        <p:spPr>
          <a:xfrm>
            <a:off x="548640" y="1874520"/>
            <a:ext cx="5410048" cy="1920240"/>
          </a:xfrm>
          <a:prstGeom prst="rect">
            <a:avLst/>
          </a:prstGeom>
          <a:solidFill>
            <a:schemeClr val="bg1"/>
          </a:solidFill>
          <a:ln w="9525">
            <a:solidFill>
              <a:srgbClr val="E7E0C9"/>
            </a:solidFill>
            <a:prstDash val="solid"/>
          </a:ln>
        </p:spPr>
      </p:sp>
      <p:sp>
        <p:nvSpPr>
          <p:cNvPr id="5" name="Text 3"/>
          <p:cNvSpPr txBox="1"/>
          <p:nvPr/>
        </p:nvSpPr>
        <p:spPr>
          <a:xfrm>
            <a:off x="822960"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ACCESS</a:t>
            </a:r>
            <a:endParaRPr lang="en-US" sz="1000" dirty="0"/>
          </a:p>
        </p:txBody>
      </p:sp>
      <p:sp>
        <p:nvSpPr>
          <p:cNvPr id="6" name="Text 4"/>
          <p:cNvSpPr txBox="1"/>
          <p:nvPr/>
        </p:nvSpPr>
        <p:spPr>
          <a:xfrm>
            <a:off x="822960"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Logins you need</a:t>
            </a:r>
            <a:endParaRPr lang="en-US" sz="1800" dirty="0"/>
          </a:p>
        </p:txBody>
      </p:sp>
      <p:sp>
        <p:nvSpPr>
          <p:cNvPr id="7" name="Text 5"/>
          <p:cNvSpPr txBox="1"/>
          <p:nvPr/>
        </p:nvSpPr>
        <p:spPr>
          <a:xfrm>
            <a:off x="822960"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Google Ad Manager reporting, network 22541732127</a:t>
            </a:r>
            <a:endParaRPr lang="en-US" sz="1300" dirty="0"/>
          </a:p>
          <a:p>
            <a:pPr marL="342900" indent="-342900">
              <a:spcAft>
                <a:spcPts val="200"/>
              </a:spcAft>
              <a:buSzPct val="100000"/>
              <a:buChar char="•"/>
            </a:pPr>
            <a:r>
              <a:rPr lang="en-US" sz="1300" dirty="0">
                <a:solidFill>
                  <a:schemeClr val="tx1"/>
                </a:solidFill>
              </a:rPr>
              <a:t>DoubleVerify Pinnacle · Publisher Suite</a:t>
            </a:r>
            <a:endParaRPr lang="en-US" sz="1300" dirty="0"/>
          </a:p>
          <a:p>
            <a:pPr marL="342900" indent="-342900">
              <a:spcAft>
                <a:spcPts val="200"/>
              </a:spcAft>
              <a:buSzPct val="100000"/>
              <a:buChar char="•"/>
            </a:pPr>
            <a:r>
              <a:rPr lang="en-US" sz="1300" dirty="0">
                <a:solidFill>
                  <a:schemeClr val="tx1"/>
                </a:solidFill>
              </a:rPr>
              <a:t>GA4 property 359317277 and DV's shared pre-bid Drive folder</a:t>
            </a:r>
            <a:endParaRPr lang="en-US" sz="1300" dirty="0"/>
          </a:p>
        </p:txBody>
      </p:sp>
      <p:sp>
        <p:nvSpPr>
          <p:cNvPr id="8" name="prep 2"/>
          <p:cNvSpPr/>
          <p:nvPr/>
        </p:nvSpPr>
        <p:spPr>
          <a:xfrm>
            <a:off x="6233008" y="1874520"/>
            <a:ext cx="5410048" cy="1920240"/>
          </a:xfrm>
          <a:prstGeom prst="rect">
            <a:avLst/>
          </a:prstGeom>
          <a:solidFill>
            <a:schemeClr val="bg1"/>
          </a:solidFill>
          <a:ln w="9525">
            <a:solidFill>
              <a:srgbClr val="E7E0C9"/>
            </a:solidFill>
            <a:prstDash val="solid"/>
          </a:ln>
        </p:spPr>
      </p:sp>
      <p:sp>
        <p:nvSpPr>
          <p:cNvPr id="9" name="Text 7"/>
          <p:cNvSpPr txBox="1"/>
          <p:nvPr/>
        </p:nvSpPr>
        <p:spPr>
          <a:xfrm>
            <a:off x="6507328"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FILES</a:t>
            </a:r>
            <a:endParaRPr lang="en-US" sz="1000" dirty="0"/>
          </a:p>
        </p:txBody>
      </p:sp>
      <p:sp>
        <p:nvSpPr>
          <p:cNvPr id="10" name="Text 8"/>
          <p:cNvSpPr txBox="1"/>
          <p:nvPr/>
        </p:nvSpPr>
        <p:spPr>
          <a:xfrm>
            <a:off x="6507328"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Where things live</a:t>
            </a:r>
            <a:endParaRPr lang="en-US" sz="1800" dirty="0"/>
          </a:p>
        </p:txBody>
      </p:sp>
      <p:sp>
        <p:nvSpPr>
          <p:cNvPr id="11" name="Text 9"/>
          <p:cNvSpPr txBox="1"/>
          <p:nvPr/>
        </p:nvSpPr>
        <p:spPr>
          <a:xfrm>
            <a:off x="6507328"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SharePoint: yield › Documents › TAG › &lt;year&gt;</a:t>
            </a:r>
            <a:endParaRPr lang="en-US" sz="1300" dirty="0"/>
          </a:p>
          <a:p>
            <a:pPr marL="342900" indent="-342900">
              <a:spcAft>
                <a:spcPts val="200"/>
              </a:spcAft>
              <a:buSzPct val="100000"/>
              <a:buChar char="•"/>
            </a:pPr>
            <a:r>
              <a:rPr lang="en-US" sz="1300" dirty="0">
                <a:solidFill>
                  <a:schemeClr val="tx1"/>
                </a:solidFill>
              </a:rPr>
              <a:t>One folder per year; start a new one each January</a:t>
            </a:r>
            <a:endParaRPr lang="en-US" sz="1300" dirty="0"/>
          </a:p>
        </p:txBody>
      </p:sp>
      <p:sp>
        <p:nvSpPr>
          <p:cNvPr id="12" name="Text 10"/>
          <p:cNvSpPr txBox="1"/>
          <p:nvPr/>
        </p:nvSpPr>
        <p:spPr>
          <a:xfrm>
            <a:off x="6507328" y="3410712"/>
            <a:ext cx="4861408" cy="274320"/>
          </a:xfrm>
          <a:prstGeom prst="rect">
            <a:avLst/>
          </a:prstGeom>
          <a:noFill/>
          <a:ln/>
        </p:spPr>
        <p:txBody>
          <a:bodyPr wrap="square" lIns="0" tIns="0" rIns="0" bIns="0" rtlCol="0" anchor="t"/>
          <a:lstStyle/>
          <a:p>
            <a:pPr indent="0" marL="0">
              <a:buNone/>
            </a:pPr>
            <a:r>
              <a:rPr lang="en-US" sz="1300" b="1"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the TAG folder</a:t>
            </a:r>
            <a:endParaRPr lang="en-US" sz="1300" dirty="0"/>
          </a:p>
        </p:txBody>
      </p:sp>
      <p:sp>
        <p:nvSpPr>
          <p:cNvPr id="13" name="prep 3"/>
          <p:cNvSpPr/>
          <p:nvPr/>
        </p:nvSpPr>
        <p:spPr>
          <a:xfrm>
            <a:off x="548640" y="3977640"/>
            <a:ext cx="5410048" cy="1920240"/>
          </a:xfrm>
          <a:prstGeom prst="rect">
            <a:avLst/>
          </a:prstGeom>
          <a:solidFill>
            <a:schemeClr val="bg1"/>
          </a:solidFill>
          <a:ln w="9525">
            <a:solidFill>
              <a:srgbClr val="E7E0C9"/>
            </a:solidFill>
            <a:prstDash val="solid"/>
          </a:ln>
        </p:spPr>
      </p:sp>
      <p:sp>
        <p:nvSpPr>
          <p:cNvPr id="14" name="Text 12"/>
          <p:cNvSpPr txBox="1"/>
          <p:nvPr/>
        </p:nvSpPr>
        <p:spPr>
          <a:xfrm>
            <a:off x="822960"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TIMING</a:t>
            </a:r>
            <a:endParaRPr lang="en-US" sz="1000" dirty="0"/>
          </a:p>
        </p:txBody>
      </p:sp>
      <p:sp>
        <p:nvSpPr>
          <p:cNvPr id="15" name="Text 13"/>
          <p:cNvSpPr txBox="1"/>
          <p:nvPr/>
        </p:nvSpPr>
        <p:spPr>
          <a:xfrm>
            <a:off x="822960"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When to run it</a:t>
            </a:r>
            <a:endParaRPr lang="en-US" sz="1800" dirty="0"/>
          </a:p>
        </p:txBody>
      </p:sp>
      <p:sp>
        <p:nvSpPr>
          <p:cNvPr id="16" name="Text 14"/>
          <p:cNvSpPr txBox="1"/>
          <p:nvPr/>
        </p:nvSpPr>
        <p:spPr>
          <a:xfrm>
            <a:off x="822960"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Every month, ~3 days after it closes, so DV data is complete</a:t>
            </a:r>
            <a:endParaRPr lang="en-US" sz="1300" dirty="0"/>
          </a:p>
          <a:p>
            <a:pPr marL="342900" indent="-342900">
              <a:spcAft>
                <a:spcPts val="200"/>
              </a:spcAft>
              <a:buSzPct val="100000"/>
              <a:buChar char="•"/>
            </a:pPr>
            <a:r>
              <a:rPr lang="en-US" sz="1300" dirty="0">
                <a:solidFill>
                  <a:schemeClr val="tx1"/>
                </a:solidFill>
              </a:rPr>
              <a:t>TAG's deadline falls close to the end of the year</a:t>
            </a:r>
            <a:endParaRPr lang="en-US" sz="1300" dirty="0"/>
          </a:p>
          <a:p>
            <a:pPr marL="342900" indent="-342900">
              <a:spcAft>
                <a:spcPts val="200"/>
              </a:spcAft>
              <a:buSzPct val="100000"/>
              <a:buChar char="•"/>
            </a:pPr>
            <a:r>
              <a:rPr lang="en-US" sz="1300" dirty="0">
                <a:solidFill>
                  <a:schemeClr val="tx1"/>
                </a:solidFill>
              </a:rPr>
              <a:t>AAM's review call follows in January (Appendix)</a:t>
            </a:r>
            <a:endParaRPr lang="en-US" sz="1300" dirty="0"/>
          </a:p>
        </p:txBody>
      </p:sp>
      <p:sp>
        <p:nvSpPr>
          <p:cNvPr id="17" name="prep 4"/>
          <p:cNvSpPr/>
          <p:nvPr/>
        </p:nvSpPr>
        <p:spPr>
          <a:xfrm>
            <a:off x="6233008" y="3977640"/>
            <a:ext cx="5410048" cy="1920240"/>
          </a:xfrm>
          <a:prstGeom prst="rect">
            <a:avLst/>
          </a:prstGeom>
          <a:solidFill>
            <a:schemeClr val="bg1"/>
          </a:solidFill>
          <a:ln w="9525">
            <a:solidFill>
              <a:srgbClr val="E7E0C9"/>
            </a:solidFill>
            <a:prstDash val="solid"/>
          </a:ln>
        </p:spPr>
      </p:sp>
      <p:sp>
        <p:nvSpPr>
          <p:cNvPr id="18" name="Text 16"/>
          <p:cNvSpPr txBox="1"/>
          <p:nvPr/>
        </p:nvSpPr>
        <p:spPr>
          <a:xfrm>
            <a:off x="6507328"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PEOPLE</a:t>
            </a:r>
            <a:endParaRPr lang="en-US" sz="1000" dirty="0"/>
          </a:p>
        </p:txBody>
      </p:sp>
      <p:sp>
        <p:nvSpPr>
          <p:cNvPr id="19" name="Text 17"/>
          <p:cNvSpPr txBox="1"/>
          <p:nvPr/>
        </p:nvSpPr>
        <p:spPr>
          <a:xfrm>
            <a:off x="6507328"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Who reviews and receives it</a:t>
            </a:r>
            <a:endParaRPr lang="en-US" sz="1800" dirty="0"/>
          </a:p>
        </p:txBody>
      </p:sp>
      <p:sp>
        <p:nvSpPr>
          <p:cNvPr id="20" name="Text 18"/>
          <p:cNvSpPr txBox="1"/>
          <p:nvPr/>
        </p:nvSpPr>
        <p:spPr>
          <a:xfrm>
            <a:off x="6507328"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Review: Michael (CTO), Kelly Liu (SVP Yield &amp; AdOps)</a:t>
            </a:r>
            <a:endParaRPr lang="en-US" sz="1300" dirty="0"/>
          </a:p>
          <a:p>
            <a:pPr marL="342900" indent="-342900">
              <a:spcAft>
                <a:spcPts val="200"/>
              </a:spcAft>
              <a:buSzPct val="100000"/>
              <a:buChar char="•"/>
            </a:pPr>
            <a:r>
              <a:rPr lang="en-US" sz="1300" dirty="0">
                <a:solidFill>
                  <a:schemeClr val="tx1"/>
                </a:solidFill>
              </a:rPr>
              <a:t>Send to: Katrina Eddy, VP Tech Assurance, AAM</a:t>
            </a:r>
            <a:endParaRPr lang="en-US" sz="1300" dirty="0"/>
          </a:p>
          <a:p>
            <a:pPr marL="342900" indent="-342900">
              <a:spcAft>
                <a:spcPts val="200"/>
              </a:spcAft>
              <a:buSzPct val="100000"/>
              <a:buChar char="•"/>
            </a:pPr>
            <a:r>
              <a:rPr lang="en-US" sz="1300" dirty="0">
                <a:solidFill>
                  <a:schemeClr val="tx1"/>
                </a:solidFill>
              </a:rPr>
              <a:t>katrina.eddy@auditedmedia.com · O 203-447-2883</a:t>
            </a:r>
            <a:endParaRPr lang="en-US" sz="1300" dirty="0"/>
          </a:p>
          <a:p>
            <a:pPr marL="342900" indent="-342900">
              <a:spcAft>
                <a:spcPts val="200"/>
              </a:spcAft>
              <a:buSzPct val="100000"/>
              <a:buChar char="•"/>
            </a:pPr>
            <a:r>
              <a:rPr lang="en-US" sz="1300" dirty="0">
                <a:solidFill>
                  <a:schemeClr val="tx1"/>
                </a:solidFill>
              </a:rPr>
              <a:t>Cc: Jonathan Reid · TechAssurance@auditedmedia.com</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IVT Monitoring Report, slide by slide</a:t>
            </a:r>
            <a:endParaRPr lang="en-US" sz="3400" dirty="0"/>
          </a:p>
        </p:txBody>
      </p:sp>
      <p:sp>
        <p:nvSpPr>
          <p:cNvPr id="4" name="outline 1"/>
          <p:cNvSpPr/>
          <p:nvPr/>
        </p:nvSpPr>
        <p:spPr>
          <a:xfrm>
            <a:off x="548640" y="1874520"/>
            <a:ext cx="5364328" cy="676656"/>
          </a:xfrm>
          <a:prstGeom prst="rect">
            <a:avLst/>
          </a:prstGeom>
          <a:solidFill>
            <a:schemeClr val="bg2"/>
          </a:solidFill>
          <a:ln w="9525">
            <a:solidFill>
              <a:srgbClr val="E7E0C9"/>
            </a:solidFill>
            <a:prstDash val="solid"/>
          </a:ln>
        </p:spPr>
      </p:sp>
      <p:sp>
        <p:nvSpPr>
          <p:cNvPr id="5" name="Text 3"/>
          <p:cNvSpPr txBox="1"/>
          <p:nvPr/>
        </p:nvSpPr>
        <p:spPr>
          <a:xfrm>
            <a:off x="731520"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a:t>
            </a:r>
            <a:endParaRPr lang="en-US" sz="2200" dirty="0"/>
          </a:p>
        </p:txBody>
      </p:sp>
      <p:sp>
        <p:nvSpPr>
          <p:cNvPr id="6" name="Text 4"/>
          <p:cNvSpPr txBox="1"/>
          <p:nvPr/>
        </p:nvSpPr>
        <p:spPr>
          <a:xfrm>
            <a:off x="1280160"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Cover</a:t>
            </a:r>
            <a:endParaRPr lang="en-US" sz="1500" dirty="0"/>
          </a:p>
        </p:txBody>
      </p:sp>
      <p:sp>
        <p:nvSpPr>
          <p:cNvPr id="7" name="Text 5"/>
          <p:cNvSpPr txBox="1"/>
          <p:nvPr/>
        </p:nvSpPr>
        <p:spPr>
          <a:xfrm>
            <a:off x="1280160"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Title and year</a:t>
            </a:r>
            <a:endParaRPr lang="en-US" sz="1200" dirty="0"/>
          </a:p>
        </p:txBody>
      </p:sp>
      <p:sp>
        <p:nvSpPr>
          <p:cNvPr id="8" name="Text 6"/>
          <p:cNvSpPr txBox="1"/>
          <p:nvPr/>
        </p:nvSpPr>
        <p:spPr>
          <a:xfrm>
            <a:off x="4084168" y="2093976"/>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9" name="outline 2"/>
          <p:cNvSpPr/>
          <p:nvPr/>
        </p:nvSpPr>
        <p:spPr>
          <a:xfrm>
            <a:off x="548640" y="2660904"/>
            <a:ext cx="5364328" cy="676656"/>
          </a:xfrm>
          <a:prstGeom prst="rect">
            <a:avLst/>
          </a:prstGeom>
          <a:solidFill>
            <a:schemeClr val="bg1"/>
          </a:solidFill>
          <a:ln w="9525">
            <a:solidFill>
              <a:srgbClr val="E7E0C9"/>
            </a:solidFill>
            <a:prstDash val="solid"/>
          </a:ln>
        </p:spPr>
      </p:sp>
      <p:sp>
        <p:nvSpPr>
          <p:cNvPr id="10" name="Text 8"/>
          <p:cNvSpPr txBox="1"/>
          <p:nvPr/>
        </p:nvSpPr>
        <p:spPr>
          <a:xfrm>
            <a:off x="731520"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2</a:t>
            </a:r>
            <a:endParaRPr lang="en-US" sz="2200" dirty="0"/>
          </a:p>
        </p:txBody>
      </p:sp>
      <p:sp>
        <p:nvSpPr>
          <p:cNvPr id="11" name="Text 9"/>
          <p:cNvSpPr txBox="1"/>
          <p:nvPr/>
        </p:nvSpPr>
        <p:spPr>
          <a:xfrm>
            <a:off x="1280160"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Executive summary</a:t>
            </a:r>
            <a:endParaRPr lang="en-US" sz="1500" dirty="0"/>
          </a:p>
        </p:txBody>
      </p:sp>
      <p:sp>
        <p:nvSpPr>
          <p:cNvPr id="12" name="Text 10"/>
          <p:cNvSpPr txBox="1"/>
          <p:nvPr/>
        </p:nvSpPr>
        <p:spPr>
          <a:xfrm>
            <a:off x="1280160"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What TAG CAF is and why it matters</a:t>
            </a:r>
            <a:endParaRPr lang="en-US" sz="1200" dirty="0"/>
          </a:p>
        </p:txBody>
      </p:sp>
      <p:sp>
        <p:nvSpPr>
          <p:cNvPr id="13" name="outline 3"/>
          <p:cNvSpPr/>
          <p:nvPr/>
        </p:nvSpPr>
        <p:spPr>
          <a:xfrm>
            <a:off x="548640" y="3447288"/>
            <a:ext cx="5364328" cy="676656"/>
          </a:xfrm>
          <a:prstGeom prst="rect">
            <a:avLst/>
          </a:prstGeom>
          <a:solidFill>
            <a:schemeClr val="bg1"/>
          </a:solidFill>
          <a:ln w="9525">
            <a:solidFill>
              <a:srgbClr val="E7E0C9"/>
            </a:solidFill>
            <a:prstDash val="solid"/>
          </a:ln>
        </p:spPr>
      </p:sp>
      <p:sp>
        <p:nvSpPr>
          <p:cNvPr id="14" name="Text 12"/>
          <p:cNvSpPr txBox="1"/>
          <p:nvPr/>
        </p:nvSpPr>
        <p:spPr>
          <a:xfrm>
            <a:off x="731520"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3</a:t>
            </a:r>
            <a:endParaRPr lang="en-US" sz="2200" dirty="0"/>
          </a:p>
        </p:txBody>
      </p:sp>
      <p:sp>
        <p:nvSpPr>
          <p:cNvPr id="15" name="Text 13"/>
          <p:cNvSpPr txBox="1"/>
          <p:nvPr/>
        </p:nvSpPr>
        <p:spPr>
          <a:xfrm>
            <a:off x="1280160"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Year review</a:t>
            </a:r>
            <a:endParaRPr lang="en-US" sz="1500" dirty="0"/>
          </a:p>
        </p:txBody>
      </p:sp>
      <p:sp>
        <p:nvSpPr>
          <p:cNvPr id="16" name="Text 14"/>
          <p:cNvSpPr txBox="1"/>
          <p:nvPr/>
        </p:nvSpPr>
        <p:spPr>
          <a:xfrm>
            <a:off x="1280160"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Section divider</a:t>
            </a:r>
            <a:endParaRPr lang="en-US" sz="1200" dirty="0"/>
          </a:p>
        </p:txBody>
      </p:sp>
      <p:sp>
        <p:nvSpPr>
          <p:cNvPr id="17" name="outline 4"/>
          <p:cNvSpPr/>
          <p:nvPr/>
        </p:nvSpPr>
        <p:spPr>
          <a:xfrm>
            <a:off x="548640" y="4233672"/>
            <a:ext cx="5364328" cy="676656"/>
          </a:xfrm>
          <a:prstGeom prst="rect">
            <a:avLst/>
          </a:prstGeom>
          <a:solidFill>
            <a:schemeClr val="bg2"/>
          </a:solidFill>
          <a:ln w="9525">
            <a:solidFill>
              <a:srgbClr val="E7E0C9"/>
            </a:solidFill>
            <a:prstDash val="solid"/>
          </a:ln>
        </p:spPr>
      </p:sp>
      <p:sp>
        <p:nvSpPr>
          <p:cNvPr id="18" name="Text 16"/>
          <p:cNvSpPr txBox="1"/>
          <p:nvPr/>
        </p:nvSpPr>
        <p:spPr>
          <a:xfrm>
            <a:off x="731520"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4</a:t>
            </a:r>
            <a:endParaRPr lang="en-US" sz="2200" dirty="0"/>
          </a:p>
        </p:txBody>
      </p:sp>
      <p:sp>
        <p:nvSpPr>
          <p:cNvPr id="19" name="Text 17"/>
          <p:cNvSpPr txBox="1"/>
          <p:nvPr/>
        </p:nvSpPr>
        <p:spPr>
          <a:xfrm>
            <a:off x="1280160"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GA4 vs DV pre-bid</a:t>
            </a:r>
            <a:endParaRPr lang="en-US" sz="1500" dirty="0"/>
          </a:p>
        </p:txBody>
      </p:sp>
      <p:sp>
        <p:nvSpPr>
          <p:cNvPr id="20" name="Text 18"/>
          <p:cNvSpPr txBox="1"/>
          <p:nvPr/>
        </p:nvSpPr>
        <p:spPr>
          <a:xfrm>
            <a:off x="1280160"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coverage, by month and quarter</a:t>
            </a:r>
            <a:endParaRPr lang="en-US" sz="1200" dirty="0"/>
          </a:p>
        </p:txBody>
      </p:sp>
      <p:sp>
        <p:nvSpPr>
          <p:cNvPr id="21" name="Text 19"/>
          <p:cNvSpPr txBox="1"/>
          <p:nvPr/>
        </p:nvSpPr>
        <p:spPr>
          <a:xfrm>
            <a:off x="4084168"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22" name="outline 5"/>
          <p:cNvSpPr/>
          <p:nvPr/>
        </p:nvSpPr>
        <p:spPr>
          <a:xfrm>
            <a:off x="548640" y="5020056"/>
            <a:ext cx="5364328" cy="676656"/>
          </a:xfrm>
          <a:prstGeom prst="rect">
            <a:avLst/>
          </a:prstGeom>
          <a:solidFill>
            <a:schemeClr val="bg1"/>
          </a:solidFill>
          <a:ln w="9525">
            <a:solidFill>
              <a:srgbClr val="E7E0C9"/>
            </a:solidFill>
            <a:prstDash val="solid"/>
          </a:ln>
        </p:spPr>
      </p:sp>
      <p:sp>
        <p:nvSpPr>
          <p:cNvPr id="23" name="Text 21"/>
          <p:cNvSpPr txBox="1"/>
          <p:nvPr/>
        </p:nvSpPr>
        <p:spPr>
          <a:xfrm>
            <a:off x="731520"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5</a:t>
            </a:r>
            <a:endParaRPr lang="en-US" sz="2200" dirty="0"/>
          </a:p>
        </p:txBody>
      </p:sp>
      <p:sp>
        <p:nvSpPr>
          <p:cNvPr id="24" name="Text 22"/>
          <p:cNvSpPr txBox="1"/>
          <p:nvPr/>
        </p:nvSpPr>
        <p:spPr>
          <a:xfrm>
            <a:off x="1280160"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DV coverage</a:t>
            </a:r>
            <a:endParaRPr lang="en-US" sz="1500" dirty="0"/>
          </a:p>
        </p:txBody>
      </p:sp>
      <p:sp>
        <p:nvSpPr>
          <p:cNvPr id="25" name="Text 23"/>
          <p:cNvSpPr txBox="1"/>
          <p:nvPr/>
        </p:nvSpPr>
        <p:spPr>
          <a:xfrm>
            <a:off x="1280160"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and post-bid, 100% of the site</a:t>
            </a:r>
            <a:endParaRPr lang="en-US" sz="1200" dirty="0"/>
          </a:p>
        </p:txBody>
      </p:sp>
      <p:sp>
        <p:nvSpPr>
          <p:cNvPr id="26" name="outline 6"/>
          <p:cNvSpPr/>
          <p:nvPr/>
        </p:nvSpPr>
        <p:spPr>
          <a:xfrm>
            <a:off x="6278728" y="1874520"/>
            <a:ext cx="5364328" cy="676656"/>
          </a:xfrm>
          <a:prstGeom prst="rect">
            <a:avLst/>
          </a:prstGeom>
          <a:solidFill>
            <a:schemeClr val="bg1"/>
          </a:solidFill>
          <a:ln w="9525">
            <a:solidFill>
              <a:srgbClr val="E7E0C9"/>
            </a:solidFill>
            <a:prstDash val="solid"/>
          </a:ln>
        </p:spPr>
      </p:sp>
      <p:sp>
        <p:nvSpPr>
          <p:cNvPr id="27" name="Text 25"/>
          <p:cNvSpPr txBox="1"/>
          <p:nvPr/>
        </p:nvSpPr>
        <p:spPr>
          <a:xfrm>
            <a:off x="6461608"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6</a:t>
            </a:r>
            <a:endParaRPr lang="en-US" sz="2200" dirty="0"/>
          </a:p>
        </p:txBody>
      </p:sp>
      <p:sp>
        <p:nvSpPr>
          <p:cNvPr id="28" name="Text 26"/>
          <p:cNvSpPr txBox="1"/>
          <p:nvPr/>
        </p:nvSpPr>
        <p:spPr>
          <a:xfrm>
            <a:off x="7010248"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GAM filtering</a:t>
            </a:r>
            <a:endParaRPr lang="en-US" sz="1500" dirty="0"/>
          </a:p>
        </p:txBody>
      </p:sp>
      <p:sp>
        <p:nvSpPr>
          <p:cNvPr id="29" name="Text 27"/>
          <p:cNvSpPr txBox="1"/>
          <p:nvPr/>
        </p:nvSpPr>
        <p:spPr>
          <a:xfrm>
            <a:off x="7010248"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The second layer of protection, after DV</a:t>
            </a:r>
            <a:endParaRPr lang="en-US" sz="1200" dirty="0"/>
          </a:p>
        </p:txBody>
      </p:sp>
      <p:sp>
        <p:nvSpPr>
          <p:cNvPr id="30" name="outline 7"/>
          <p:cNvSpPr/>
          <p:nvPr/>
        </p:nvSpPr>
        <p:spPr>
          <a:xfrm>
            <a:off x="6278728" y="2660904"/>
            <a:ext cx="5364328" cy="676656"/>
          </a:xfrm>
          <a:prstGeom prst="rect">
            <a:avLst/>
          </a:prstGeom>
          <a:solidFill>
            <a:schemeClr val="bg1"/>
          </a:solidFill>
          <a:ln w="9525">
            <a:solidFill>
              <a:srgbClr val="E7E0C9"/>
            </a:solidFill>
            <a:prstDash val="solid"/>
          </a:ln>
        </p:spPr>
      </p:sp>
      <p:sp>
        <p:nvSpPr>
          <p:cNvPr id="31" name="Text 29"/>
          <p:cNvSpPr txBox="1"/>
          <p:nvPr/>
        </p:nvSpPr>
        <p:spPr>
          <a:xfrm>
            <a:off x="6461608"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7</a:t>
            </a:r>
            <a:endParaRPr lang="en-US" sz="2200" dirty="0"/>
          </a:p>
        </p:txBody>
      </p:sp>
      <p:sp>
        <p:nvSpPr>
          <p:cNvPr id="32" name="Text 30"/>
          <p:cNvSpPr txBox="1"/>
          <p:nvPr/>
        </p:nvSpPr>
        <p:spPr>
          <a:xfrm>
            <a:off x="7010248"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Two pathways to ad quality</a:t>
            </a:r>
            <a:endParaRPr lang="en-US" sz="1500" dirty="0"/>
          </a:p>
        </p:txBody>
      </p:sp>
      <p:sp>
        <p:nvSpPr>
          <p:cNvPr id="33" name="Text 31"/>
          <p:cNvSpPr txBox="1"/>
          <p:nvPr/>
        </p:nvSpPr>
        <p:spPr>
          <a:xfrm>
            <a:off x="7010248"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DV and GAM together</a:t>
            </a:r>
            <a:endParaRPr lang="en-US" sz="1200" dirty="0"/>
          </a:p>
        </p:txBody>
      </p:sp>
      <p:sp>
        <p:nvSpPr>
          <p:cNvPr id="34" name="outline 8"/>
          <p:cNvSpPr/>
          <p:nvPr/>
        </p:nvSpPr>
        <p:spPr>
          <a:xfrm>
            <a:off x="6278728" y="3447288"/>
            <a:ext cx="5364328" cy="676656"/>
          </a:xfrm>
          <a:prstGeom prst="rect">
            <a:avLst/>
          </a:prstGeom>
          <a:solidFill>
            <a:schemeClr val="bg2"/>
          </a:solidFill>
          <a:ln w="9525">
            <a:solidFill>
              <a:srgbClr val="E7E0C9"/>
            </a:solidFill>
            <a:prstDash val="solid"/>
          </a:ln>
        </p:spPr>
      </p:sp>
      <p:sp>
        <p:nvSpPr>
          <p:cNvPr id="35" name="Text 33"/>
          <p:cNvSpPr txBox="1"/>
          <p:nvPr/>
        </p:nvSpPr>
        <p:spPr>
          <a:xfrm>
            <a:off x="6461608"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8</a:t>
            </a:r>
            <a:endParaRPr lang="en-US" sz="2200" dirty="0"/>
          </a:p>
        </p:txBody>
      </p:sp>
      <p:sp>
        <p:nvSpPr>
          <p:cNvPr id="36" name="Text 34"/>
          <p:cNvSpPr txBox="1"/>
          <p:nvPr/>
        </p:nvSpPr>
        <p:spPr>
          <a:xfrm>
            <a:off x="7010248"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Key changes</a:t>
            </a:r>
            <a:endParaRPr lang="en-US" sz="1500" dirty="0"/>
          </a:p>
        </p:txBody>
      </p:sp>
      <p:sp>
        <p:nvSpPr>
          <p:cNvPr id="37" name="Text 35"/>
          <p:cNvSpPr txBox="1"/>
          <p:nvPr/>
        </p:nvSpPr>
        <p:spPr>
          <a:xfrm>
            <a:off x="7010248"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Anything that moved traffic or measurement</a:t>
            </a:r>
            <a:endParaRPr lang="en-US" sz="1200" dirty="0"/>
          </a:p>
        </p:txBody>
      </p:sp>
      <p:sp>
        <p:nvSpPr>
          <p:cNvPr id="38" name="Text 36"/>
          <p:cNvSpPr txBox="1"/>
          <p:nvPr/>
        </p:nvSpPr>
        <p:spPr>
          <a:xfrm>
            <a:off x="9814255" y="3666744"/>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39" name="outline 9"/>
          <p:cNvSpPr/>
          <p:nvPr/>
        </p:nvSpPr>
        <p:spPr>
          <a:xfrm>
            <a:off x="6278728" y="4233672"/>
            <a:ext cx="5364328" cy="676656"/>
          </a:xfrm>
          <a:prstGeom prst="rect">
            <a:avLst/>
          </a:prstGeom>
          <a:solidFill>
            <a:schemeClr val="bg2"/>
          </a:solidFill>
          <a:ln w="9525">
            <a:solidFill>
              <a:srgbClr val="E7E0C9"/>
            </a:solidFill>
            <a:prstDash val="solid"/>
          </a:ln>
        </p:spPr>
      </p:sp>
      <p:sp>
        <p:nvSpPr>
          <p:cNvPr id="40" name="Text 38"/>
          <p:cNvSpPr txBox="1"/>
          <p:nvPr/>
        </p:nvSpPr>
        <p:spPr>
          <a:xfrm>
            <a:off x="6461608"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9</a:t>
            </a:r>
            <a:endParaRPr lang="en-US" sz="2200" dirty="0"/>
          </a:p>
        </p:txBody>
      </p:sp>
      <p:sp>
        <p:nvSpPr>
          <p:cNvPr id="41" name="Text 39"/>
          <p:cNvSpPr txBox="1"/>
          <p:nvPr/>
        </p:nvSpPr>
        <p:spPr>
          <a:xfrm>
            <a:off x="7010248"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SIVT by quarter</a:t>
            </a:r>
            <a:endParaRPr lang="en-US" sz="1500" dirty="0"/>
          </a:p>
        </p:txBody>
      </p:sp>
      <p:sp>
        <p:nvSpPr>
          <p:cNvPr id="42" name="Text 40"/>
          <p:cNvSpPr txBox="1"/>
          <p:nvPr/>
        </p:nvSpPr>
        <p:spPr>
          <a:xfrm>
            <a:off x="7010248"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Overall, display and video</a:t>
            </a:r>
            <a:endParaRPr lang="en-US" sz="1200" dirty="0"/>
          </a:p>
        </p:txBody>
      </p:sp>
      <p:sp>
        <p:nvSpPr>
          <p:cNvPr id="43" name="Text 41"/>
          <p:cNvSpPr txBox="1"/>
          <p:nvPr/>
        </p:nvSpPr>
        <p:spPr>
          <a:xfrm>
            <a:off x="9814255"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44" name="outline 10"/>
          <p:cNvSpPr/>
          <p:nvPr/>
        </p:nvSpPr>
        <p:spPr>
          <a:xfrm>
            <a:off x="6278728" y="5020056"/>
            <a:ext cx="5364328" cy="676656"/>
          </a:xfrm>
          <a:prstGeom prst="rect">
            <a:avLst/>
          </a:prstGeom>
          <a:solidFill>
            <a:schemeClr val="bg1"/>
          </a:solidFill>
          <a:ln w="9525">
            <a:solidFill>
              <a:srgbClr val="E7E0C9"/>
            </a:solidFill>
            <a:prstDash val="solid"/>
          </a:ln>
        </p:spPr>
      </p:sp>
      <p:sp>
        <p:nvSpPr>
          <p:cNvPr id="45" name="Text 43"/>
          <p:cNvSpPr txBox="1"/>
          <p:nvPr/>
        </p:nvSpPr>
        <p:spPr>
          <a:xfrm>
            <a:off x="6461608"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10</a:t>
            </a:r>
            <a:endParaRPr lang="en-US" sz="2200" dirty="0"/>
          </a:p>
        </p:txBody>
      </p:sp>
      <p:sp>
        <p:nvSpPr>
          <p:cNvPr id="46" name="Text 44"/>
          <p:cNvSpPr txBox="1"/>
          <p:nvPr/>
        </p:nvSpPr>
        <p:spPr>
          <a:xfrm>
            <a:off x="7010248"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Thank you</a:t>
            </a:r>
            <a:endParaRPr lang="en-US" sz="1500" dirty="0"/>
          </a:p>
        </p:txBody>
      </p:sp>
      <p:sp>
        <p:nvSpPr>
          <p:cNvPr id="47" name="Text 45"/>
          <p:cNvSpPr txBox="1"/>
          <p:nvPr/>
        </p:nvSpPr>
        <p:spPr>
          <a:xfrm>
            <a:off x="7010248"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Closing slide</a:t>
            </a:r>
            <a:endParaRPr lang="en-US" sz="1200" dirty="0"/>
          </a:p>
        </p:txBody>
      </p:sp>
      <p:sp>
        <p:nvSpPr>
          <p:cNvPr id="48" name="Text 46"/>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tx2"/>
                </a:solidFill>
              </a:rPr>
              <a:t>Shaded slides change every month (Step 5). The rest stay as they are unless the setup changes. The next two slides show the finished data slides.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PRE-BID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GA4 pageviews vs DV pre-bid</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DV monitors every pageview.</a:t>
            </a:r>
            <a:endParaRPr lang="en-US" sz="1500" dirty="0"/>
          </a:p>
        </p:txBody>
      </p:sp>
      <p:sp>
        <p:nvSpPr>
          <p:cNvPr id="5" name="What we hand to TAG · pre-bid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7" name="What we hand to TAG · pre-bid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88,799,843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86,029,638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76,449,175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73,990,594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78,906,939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76,544,383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2.99%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44,598,903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43,771,981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1.85%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40,298,053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36,840,158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39,401,025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38,439,204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41,820,559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39,544,135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42,787,009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40,292,568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52,642,347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50,519,576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pre-bid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3" name="What we hand to TAG · pre-bid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244,155,957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236,564,615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124,297,981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119,051,343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137,249,915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130,356,279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505,703,853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485,972,237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3.90%</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 workbook · discrepancy = (pageviews − DV pre-bid) ÷ pageviews.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SIVT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Newsweek has consistently low SIVT</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SIVT stays under 1%, month after month.</a:t>
            </a:r>
            <a:endParaRPr lang="en-US" sz="1500" dirty="0"/>
          </a:p>
        </p:txBody>
      </p:sp>
      <p:sp>
        <p:nvSpPr>
          <p:cNvPr id="5" name="What we hand to TAG · SIVT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8" name="What we hand to TAG · SIVT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SIVT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5" name="What we hand to TAG · SIVT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DV-GAM workbook · overall and quarters weighted by DV post-bid impressions.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UPDATE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files, refreshed every month</a:t>
            </a:r>
            <a:endParaRPr lang="en-US" sz="3400" dirty="0"/>
          </a:p>
        </p:txBody>
      </p:sp>
      <p:sp>
        <p:nvSpPr>
          <p:cNvPr id="4" name="file card 1"/>
          <p:cNvSpPr/>
          <p:nvPr/>
        </p:nvSpPr>
        <p:spPr>
          <a:xfrm>
            <a:off x="548640" y="2148840"/>
            <a:ext cx="3454298" cy="4023360"/>
          </a:xfrm>
          <a:prstGeom prst="rect">
            <a:avLst/>
          </a:prstGeom>
          <a:solidFill>
            <a:schemeClr val="bg2"/>
          </a:solidFill>
          <a:ln w="9525">
            <a:solidFill>
              <a:srgbClr val="E7E0C9"/>
            </a:solidFill>
            <a:prstDash val="solid"/>
          </a:ln>
        </p:spPr>
      </p:sp>
      <p:sp>
        <p:nvSpPr>
          <p:cNvPr id="5" name="file dot 1"/>
          <p:cNvSpPr/>
          <p:nvPr/>
        </p:nvSpPr>
        <p:spPr>
          <a:xfrm>
            <a:off x="868680" y="2514600"/>
            <a:ext cx="548640" cy="548640"/>
          </a:xfrm>
          <a:prstGeom prst="ellipse">
            <a:avLst/>
          </a:prstGeom>
          <a:solidFill>
            <a:schemeClr val="accent3"/>
          </a:solidFill>
          <a:ln/>
        </p:spPr>
      </p:sp>
      <p:sp>
        <p:nvSpPr>
          <p:cNvPr id="6" name="Text 4"/>
          <p:cNvSpPr txBox="1"/>
          <p:nvPr/>
        </p:nvSpPr>
        <p:spPr>
          <a:xfrm>
            <a:off x="868680"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868680"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 discrepancy workbook</a:t>
            </a:r>
            <a:endParaRPr lang="en-US" sz="2000" dirty="0"/>
          </a:p>
        </p:txBody>
      </p:sp>
      <p:sp>
        <p:nvSpPr>
          <p:cNvPr id="8" name="Text 6"/>
          <p:cNvSpPr txBox="1"/>
          <p:nvPr/>
        </p:nvSpPr>
        <p:spPr>
          <a:xfrm>
            <a:off x="868680"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Pre-bid monitoring. Comparing GA4 web pageviews with DV pre-bid requests, month by month, shows TAG and its auditors that DV monitors every pageview.</a:t>
            </a:r>
            <a:endParaRPr lang="en-US" sz="1400" dirty="0"/>
          </a:p>
        </p:txBody>
      </p:sp>
      <p:sp>
        <p:nvSpPr>
          <p:cNvPr id="9" name="Text 7"/>
          <p:cNvSpPr txBox="1"/>
          <p:nvPr/>
        </p:nvSpPr>
        <p:spPr>
          <a:xfrm>
            <a:off x="868680"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PRE-BID SLIDE</a:t>
            </a:r>
            <a:endParaRPr lang="en-US" sz="1100" dirty="0"/>
          </a:p>
        </p:txBody>
      </p:sp>
      <p:sp>
        <p:nvSpPr>
          <p:cNvPr id="10" name="file card 2"/>
          <p:cNvSpPr/>
          <p:nvPr/>
        </p:nvSpPr>
        <p:spPr>
          <a:xfrm>
            <a:off x="4368698" y="2148840"/>
            <a:ext cx="3454298" cy="4023360"/>
          </a:xfrm>
          <a:prstGeom prst="rect">
            <a:avLst/>
          </a:prstGeom>
          <a:solidFill>
            <a:schemeClr val="bg2"/>
          </a:solidFill>
          <a:ln w="9525">
            <a:solidFill>
              <a:srgbClr val="E7E0C9"/>
            </a:solidFill>
            <a:prstDash val="solid"/>
          </a:ln>
        </p:spPr>
      </p:sp>
      <p:sp>
        <p:nvSpPr>
          <p:cNvPr id="11" name="file dot 2"/>
          <p:cNvSpPr/>
          <p:nvPr/>
        </p:nvSpPr>
        <p:spPr>
          <a:xfrm>
            <a:off x="4688738" y="2514600"/>
            <a:ext cx="548640" cy="548640"/>
          </a:xfrm>
          <a:prstGeom prst="ellipse">
            <a:avLst/>
          </a:prstGeom>
          <a:solidFill>
            <a:schemeClr val="accent4"/>
          </a:solidFill>
          <a:ln/>
        </p:spPr>
      </p:sp>
      <p:sp>
        <p:nvSpPr>
          <p:cNvPr id="12" name="Text 10"/>
          <p:cNvSpPr txBox="1"/>
          <p:nvPr/>
        </p:nvSpPr>
        <p:spPr>
          <a:xfrm>
            <a:off x="4688738"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4688738"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DV-GAM discrepancy workbook</a:t>
            </a:r>
            <a:endParaRPr lang="en-US" sz="2000" dirty="0"/>
          </a:p>
        </p:txBody>
      </p:sp>
      <p:sp>
        <p:nvSpPr>
          <p:cNvPr id="14" name="Text 12"/>
          <p:cNvSpPr txBox="1"/>
          <p:nvPr/>
        </p:nvSpPr>
        <p:spPr>
          <a:xfrm>
            <a:off x="4688738"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Post-bid monitoring. Comparing every impression GAM records with what DV records shows we also measure all post-bid impressions. Plus SIVT rate.</a:t>
            </a:r>
            <a:endParaRPr lang="en-US" sz="1400" dirty="0"/>
          </a:p>
        </p:txBody>
      </p:sp>
      <p:sp>
        <p:nvSpPr>
          <p:cNvPr id="15" name="Text 13"/>
          <p:cNvSpPr txBox="1"/>
          <p:nvPr/>
        </p:nvSpPr>
        <p:spPr>
          <a:xfrm>
            <a:off x="4688738"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SIVT SLIDE</a:t>
            </a:r>
            <a:endParaRPr lang="en-US" sz="1100" dirty="0"/>
          </a:p>
        </p:txBody>
      </p:sp>
      <p:sp>
        <p:nvSpPr>
          <p:cNvPr id="16" name="file card 3"/>
          <p:cNvSpPr/>
          <p:nvPr/>
        </p:nvSpPr>
        <p:spPr>
          <a:xfrm>
            <a:off x="8188757" y="2148840"/>
            <a:ext cx="3454298" cy="4023360"/>
          </a:xfrm>
          <a:prstGeom prst="rect">
            <a:avLst/>
          </a:prstGeom>
          <a:solidFill>
            <a:schemeClr val="bg2"/>
          </a:solidFill>
          <a:ln w="9525">
            <a:solidFill>
              <a:srgbClr val="E7E0C9"/>
            </a:solidFill>
            <a:prstDash val="solid"/>
          </a:ln>
        </p:spPr>
      </p:sp>
      <p:sp>
        <p:nvSpPr>
          <p:cNvPr id="17" name="file dot 3"/>
          <p:cNvSpPr/>
          <p:nvPr/>
        </p:nvSpPr>
        <p:spPr>
          <a:xfrm>
            <a:off x="8508797" y="2514600"/>
            <a:ext cx="548640" cy="548640"/>
          </a:xfrm>
          <a:prstGeom prst="ellipse">
            <a:avLst/>
          </a:prstGeom>
          <a:solidFill>
            <a:schemeClr val="accent5"/>
          </a:solidFill>
          <a:ln/>
        </p:spPr>
      </p:sp>
      <p:sp>
        <p:nvSpPr>
          <p:cNvPr id="18" name="Text 16"/>
          <p:cNvSpPr txBox="1"/>
          <p:nvPr/>
        </p:nvSpPr>
        <p:spPr>
          <a:xfrm>
            <a:off x="8508797"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7"/>
          <p:cNvSpPr txBox="1"/>
          <p:nvPr/>
        </p:nvSpPr>
        <p:spPr>
          <a:xfrm>
            <a:off x="8508797"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IVT Monitoring Report deck</a:t>
            </a:r>
            <a:endParaRPr lang="en-US" sz="2000" dirty="0"/>
          </a:p>
        </p:txBody>
      </p:sp>
      <p:sp>
        <p:nvSpPr>
          <p:cNvPr id="20" name="Text 18"/>
          <p:cNvSpPr txBox="1"/>
          <p:nvPr/>
        </p:nvSpPr>
        <p:spPr>
          <a:xfrm>
            <a:off x="8508797"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The TAG evidence pack sent to the auditor and buyers</a:t>
            </a:r>
            <a:endParaRPr lang="en-US" sz="1400" dirty="0"/>
          </a:p>
        </p:txBody>
      </p:sp>
      <p:sp>
        <p:nvSpPr>
          <p:cNvPr id="21" name="Text 19"/>
          <p:cNvSpPr txBox="1"/>
          <p:nvPr/>
        </p:nvSpPr>
        <p:spPr>
          <a:xfrm>
            <a:off x="8508797"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BUILT FROM BOTH WORKBOOKS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ORDER MATTERS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Five steps, always in this order</a:t>
            </a:r>
            <a:endParaRPr lang="en-US" sz="3400" dirty="0"/>
          </a:p>
        </p:txBody>
      </p:sp>
      <p:sp>
        <p:nvSpPr>
          <p:cNvPr id="4" name="step card 1"/>
          <p:cNvSpPr/>
          <p:nvPr/>
        </p:nvSpPr>
        <p:spPr>
          <a:xfrm>
            <a:off x="548640" y="2423160"/>
            <a:ext cx="1999427" cy="3108960"/>
          </a:xfrm>
          <a:prstGeom prst="rect">
            <a:avLst/>
          </a:prstGeom>
          <a:solidFill>
            <a:schemeClr val="tx1"/>
          </a:solidFill>
          <a:ln w="9525">
            <a:solidFill>
              <a:srgbClr val="E7E0C9"/>
            </a:solidFill>
            <a:prstDash val="solid"/>
          </a:ln>
        </p:spPr>
      </p:sp>
      <p:sp>
        <p:nvSpPr>
          <p:cNvPr id="5" name="Text 3"/>
          <p:cNvSpPr txBox="1"/>
          <p:nvPr/>
        </p:nvSpPr>
        <p:spPr>
          <a:xfrm>
            <a:off x="822960" y="2697480"/>
            <a:ext cx="731520" cy="685800"/>
          </a:xfrm>
          <a:prstGeom prst="rect">
            <a:avLst/>
          </a:prstGeom>
          <a:noFill/>
          <a:ln/>
        </p:spPr>
        <p:txBody>
          <a:bodyPr wrap="square" lIns="0" tIns="0" rIns="0" bIns="0" rtlCol="0" anchor="t"/>
          <a:lstStyle/>
          <a:p>
            <a:pPr indent="0" marL="0">
              <a:buNone/>
            </a:pPr>
            <a:r>
              <a:rPr lang="en-US" sz="4000" dirty="0">
                <a:solidFill>
                  <a:schemeClr val="accent1"/>
                </a:solidFill>
                <a:latin typeface="Georgia" pitchFamily="34" charset="0"/>
                <a:ea typeface="Georgia" pitchFamily="34" charset="-122"/>
                <a:cs typeface="Georgia" pitchFamily="34" charset="-120"/>
              </a:rPr>
              <a:t>1</a:t>
            </a:r>
            <a:endParaRPr lang="en-US" sz="4000" dirty="0"/>
          </a:p>
        </p:txBody>
      </p:sp>
      <p:sp>
        <p:nvSpPr>
          <p:cNvPr id="6" name="Text 4"/>
          <p:cNvSpPr txBox="1"/>
          <p:nvPr/>
        </p:nvSpPr>
        <p:spPr>
          <a:xfrm>
            <a:off x="822960" y="3520440"/>
            <a:ext cx="1542227" cy="685800"/>
          </a:xfrm>
          <a:prstGeom prst="rect">
            <a:avLst/>
          </a:prstGeom>
          <a:noFill/>
          <a:ln/>
        </p:spPr>
        <p:txBody>
          <a:bodyPr wrap="square" lIns="0" tIns="0" rIns="0" bIns="0" rtlCol="0" anchor="t"/>
          <a:lstStyle/>
          <a:p>
            <a:pPr indent="0" marL="0">
              <a:buNone/>
            </a:pPr>
            <a:r>
              <a:rPr lang="en-US" sz="1700" dirty="0">
                <a:solidFill>
                  <a:schemeClr val="bg1"/>
                </a:solidFill>
                <a:latin typeface="Georgia" pitchFamily="34" charset="0"/>
                <a:ea typeface="Georgia" pitchFamily="34" charset="-122"/>
                <a:cs typeface="Georgia" pitchFamily="34" charset="-120"/>
              </a:rPr>
              <a:t>GAM</a:t>
            </a:r>
            <a:endParaRPr lang="en-US" sz="1700" dirty="0"/>
          </a:p>
        </p:txBody>
      </p:sp>
      <p:sp>
        <p:nvSpPr>
          <p:cNvPr id="7" name="Text 5"/>
          <p:cNvSpPr txBox="1"/>
          <p:nvPr/>
        </p:nvSpPr>
        <p:spPr>
          <a:xfrm>
            <a:off x="822960" y="4206240"/>
            <a:ext cx="1542227" cy="731520"/>
          </a:xfrm>
          <a:prstGeom prst="rect">
            <a:avLst/>
          </a:prstGeom>
          <a:noFill/>
          <a:ln/>
        </p:spPr>
        <p:txBody>
          <a:bodyPr wrap="square" lIns="0" tIns="0" rIns="0" bIns="0" rtlCol="0" anchor="t"/>
          <a:lstStyle/>
          <a:p>
            <a:pPr indent="0" marL="0">
              <a:buNone/>
            </a:pPr>
            <a:r>
              <a:rPr lang="en-US" sz="1400" dirty="0">
                <a:solidFill>
                  <a:schemeClr val="bg2"/>
                </a:solidFill>
              </a:rPr>
              <a:t>Six columns from Ad Manager reports</a:t>
            </a:r>
            <a:endParaRPr lang="en-US" sz="1400" dirty="0"/>
          </a:p>
        </p:txBody>
      </p:sp>
      <p:sp>
        <p:nvSpPr>
          <p:cNvPr id="8" name="Text 6"/>
          <p:cNvSpPr txBox="1"/>
          <p:nvPr/>
        </p:nvSpPr>
        <p:spPr>
          <a:xfrm>
            <a:off x="822960" y="4983480"/>
            <a:ext cx="1542227" cy="365760"/>
          </a:xfrm>
          <a:prstGeom prst="rect">
            <a:avLst/>
          </a:prstGeom>
          <a:noFill/>
          <a:ln/>
        </p:spPr>
        <p:txBody>
          <a:bodyPr wrap="square" lIns="0" tIns="0" rIns="0" bIns="0" rtlCol="0" anchor="t"/>
          <a:lstStyle/>
          <a:p>
            <a:pPr indent="0" marL="0">
              <a:buNone/>
            </a:pPr>
            <a:r>
              <a:rPr lang="en-US" sz="1200" b="1" dirty="0">
                <a:solidFill>
                  <a:schemeClr val="bg1"/>
                </a:solidFill>
              </a:rPr>
              <a:t>DV-GAM workbook</a:t>
            </a:r>
            <a:endParaRPr lang="en-US" sz="1200" dirty="0"/>
          </a:p>
        </p:txBody>
      </p:sp>
      <p:sp>
        <p:nvSpPr>
          <p:cNvPr id="9" name="step card 2"/>
          <p:cNvSpPr/>
          <p:nvPr/>
        </p:nvSpPr>
        <p:spPr>
          <a:xfrm>
            <a:off x="2822387" y="2423160"/>
            <a:ext cx="1999427" cy="3108960"/>
          </a:xfrm>
          <a:prstGeom prst="rect">
            <a:avLst/>
          </a:prstGeom>
          <a:solidFill>
            <a:schemeClr val="bg2"/>
          </a:solidFill>
          <a:ln w="9525">
            <a:solidFill>
              <a:srgbClr val="E7E0C9"/>
            </a:solidFill>
            <a:prstDash val="solid"/>
          </a:ln>
        </p:spPr>
      </p:sp>
      <p:sp>
        <p:nvSpPr>
          <p:cNvPr id="10" name="Text 8"/>
          <p:cNvSpPr txBox="1"/>
          <p:nvPr/>
        </p:nvSpPr>
        <p:spPr>
          <a:xfrm>
            <a:off x="3096707"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11" name="Text 9"/>
          <p:cNvSpPr txBox="1"/>
          <p:nvPr/>
        </p:nvSpPr>
        <p:spPr>
          <a:xfrm>
            <a:off x="3096707"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DoubleVerify</a:t>
            </a:r>
            <a:endParaRPr lang="en-US" sz="1700" dirty="0"/>
          </a:p>
        </p:txBody>
      </p:sp>
      <p:sp>
        <p:nvSpPr>
          <p:cNvPr id="12" name="Text 10"/>
          <p:cNvSpPr txBox="1"/>
          <p:nvPr/>
        </p:nvSpPr>
        <p:spPr>
          <a:xfrm>
            <a:off x="3096707"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Inventory Quality report (DV UI)</a:t>
            </a:r>
            <a:endParaRPr lang="en-US" sz="1400" dirty="0"/>
          </a:p>
        </p:txBody>
      </p:sp>
      <p:sp>
        <p:nvSpPr>
          <p:cNvPr id="13" name="Text 11"/>
          <p:cNvSpPr txBox="1"/>
          <p:nvPr/>
        </p:nvSpPr>
        <p:spPr>
          <a:xfrm>
            <a:off x="3096707"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DV-GAM workbook</a:t>
            </a:r>
            <a:endParaRPr lang="en-US" sz="1200" dirty="0"/>
          </a:p>
        </p:txBody>
      </p:sp>
      <p:sp>
        <p:nvSpPr>
          <p:cNvPr id="14" name="step card 3"/>
          <p:cNvSpPr/>
          <p:nvPr/>
        </p:nvSpPr>
        <p:spPr>
          <a:xfrm>
            <a:off x="5096134" y="2423160"/>
            <a:ext cx="1999427" cy="3108960"/>
          </a:xfrm>
          <a:prstGeom prst="rect">
            <a:avLst/>
          </a:prstGeom>
          <a:solidFill>
            <a:schemeClr val="bg2"/>
          </a:solidFill>
          <a:ln w="9525">
            <a:solidFill>
              <a:srgbClr val="E7E0C9"/>
            </a:solidFill>
            <a:prstDash val="solid"/>
          </a:ln>
        </p:spPr>
      </p:sp>
      <p:sp>
        <p:nvSpPr>
          <p:cNvPr id="15" name="Text 13"/>
          <p:cNvSpPr txBox="1"/>
          <p:nvPr/>
        </p:nvSpPr>
        <p:spPr>
          <a:xfrm>
            <a:off x="5370454"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6" name="Text 14"/>
          <p:cNvSpPr txBox="1"/>
          <p:nvPr/>
        </p:nvSpPr>
        <p:spPr>
          <a:xfrm>
            <a:off x="5370454"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GA4 + DV pre-bid</a:t>
            </a:r>
            <a:endParaRPr lang="en-US" sz="1700" dirty="0"/>
          </a:p>
        </p:txBody>
      </p:sp>
      <p:sp>
        <p:nvSpPr>
          <p:cNvPr id="17" name="Text 15"/>
          <p:cNvSpPr txBox="1"/>
          <p:nvPr/>
        </p:nvSpPr>
        <p:spPr>
          <a:xfrm>
            <a:off x="5370454"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Web pageviews vs pre-bid requests</a:t>
            </a:r>
            <a:endParaRPr lang="en-US" sz="1400" dirty="0"/>
          </a:p>
        </p:txBody>
      </p:sp>
      <p:sp>
        <p:nvSpPr>
          <p:cNvPr id="18" name="Text 16"/>
          <p:cNvSpPr txBox="1"/>
          <p:nvPr/>
        </p:nvSpPr>
        <p:spPr>
          <a:xfrm>
            <a:off x="5370454"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 workbook</a:t>
            </a:r>
            <a:endParaRPr lang="en-US" sz="1200" dirty="0"/>
          </a:p>
        </p:txBody>
      </p:sp>
      <p:sp>
        <p:nvSpPr>
          <p:cNvPr id="19" name="step card 4"/>
          <p:cNvSpPr/>
          <p:nvPr/>
        </p:nvSpPr>
        <p:spPr>
          <a:xfrm>
            <a:off x="7369881" y="2423160"/>
            <a:ext cx="1999427" cy="3108960"/>
          </a:xfrm>
          <a:prstGeom prst="rect">
            <a:avLst/>
          </a:prstGeom>
          <a:solidFill>
            <a:schemeClr val="bg2"/>
          </a:solidFill>
          <a:ln w="9525">
            <a:solidFill>
              <a:srgbClr val="E7E0C9"/>
            </a:solidFill>
            <a:prstDash val="solid"/>
          </a:ln>
        </p:spPr>
      </p:sp>
      <p:sp>
        <p:nvSpPr>
          <p:cNvPr id="20" name="Text 18"/>
          <p:cNvSpPr txBox="1"/>
          <p:nvPr/>
        </p:nvSpPr>
        <p:spPr>
          <a:xfrm>
            <a:off x="7644201"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4</a:t>
            </a:r>
            <a:endParaRPr lang="en-US" sz="4000" dirty="0"/>
          </a:p>
        </p:txBody>
      </p:sp>
      <p:sp>
        <p:nvSpPr>
          <p:cNvPr id="21" name="Text 19"/>
          <p:cNvSpPr txBox="1"/>
          <p:nvPr/>
        </p:nvSpPr>
        <p:spPr>
          <a:xfrm>
            <a:off x="7644201"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Quarter math</a:t>
            </a:r>
            <a:endParaRPr lang="en-US" sz="1700" dirty="0"/>
          </a:p>
        </p:txBody>
      </p:sp>
      <p:sp>
        <p:nvSpPr>
          <p:cNvPr id="22" name="Text 20"/>
          <p:cNvSpPr txBox="1"/>
          <p:nvPr/>
        </p:nvSpPr>
        <p:spPr>
          <a:xfrm>
            <a:off x="7644201"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Roll months into quarters</a:t>
            </a:r>
            <a:endParaRPr lang="en-US" sz="1400" dirty="0"/>
          </a:p>
        </p:txBody>
      </p:sp>
      <p:sp>
        <p:nvSpPr>
          <p:cNvPr id="23" name="Text 21"/>
          <p:cNvSpPr txBox="1"/>
          <p:nvPr/>
        </p:nvSpPr>
        <p:spPr>
          <a:xfrm>
            <a:off x="7644201"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Weighted SIVT, discrepancy</a:t>
            </a:r>
            <a:endParaRPr lang="en-US" sz="1200" dirty="0"/>
          </a:p>
        </p:txBody>
      </p:sp>
      <p:sp>
        <p:nvSpPr>
          <p:cNvPr id="24" name="step card 5"/>
          <p:cNvSpPr/>
          <p:nvPr/>
        </p:nvSpPr>
        <p:spPr>
          <a:xfrm>
            <a:off x="9643628" y="2423160"/>
            <a:ext cx="1999427" cy="3108960"/>
          </a:xfrm>
          <a:prstGeom prst="rect">
            <a:avLst/>
          </a:prstGeom>
          <a:solidFill>
            <a:schemeClr val="bg2"/>
          </a:solidFill>
          <a:ln w="9525">
            <a:solidFill>
              <a:srgbClr val="E7E0C9"/>
            </a:solidFill>
            <a:prstDash val="solid"/>
          </a:ln>
        </p:spPr>
      </p:sp>
      <p:sp>
        <p:nvSpPr>
          <p:cNvPr id="25" name="Text 23"/>
          <p:cNvSpPr txBox="1"/>
          <p:nvPr/>
        </p:nvSpPr>
        <p:spPr>
          <a:xfrm>
            <a:off x="9917948"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5</a:t>
            </a:r>
            <a:endParaRPr lang="en-US" sz="4000" dirty="0"/>
          </a:p>
        </p:txBody>
      </p:sp>
      <p:sp>
        <p:nvSpPr>
          <p:cNvPr id="26" name="Text 24"/>
          <p:cNvSpPr txBox="1"/>
          <p:nvPr/>
        </p:nvSpPr>
        <p:spPr>
          <a:xfrm>
            <a:off x="9917948"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Deck</a:t>
            </a:r>
            <a:endParaRPr lang="en-US" sz="1700" dirty="0"/>
          </a:p>
        </p:txBody>
      </p:sp>
      <p:sp>
        <p:nvSpPr>
          <p:cNvPr id="27" name="Text 25"/>
          <p:cNvSpPr txBox="1"/>
          <p:nvPr/>
        </p:nvSpPr>
        <p:spPr>
          <a:xfrm>
            <a:off x="9917948"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Refresh the report, run the final checks</a:t>
            </a:r>
            <a:endParaRPr lang="en-US" sz="1400" dirty="0"/>
          </a:p>
        </p:txBody>
      </p:sp>
      <p:sp>
        <p:nvSpPr>
          <p:cNvPr id="28" name="Text 26"/>
          <p:cNvSpPr txBox="1"/>
          <p:nvPr/>
        </p:nvSpPr>
        <p:spPr>
          <a:xfrm>
            <a:off x="9917948"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Check every %</a:t>
            </a:r>
            <a:endParaRPr lang="en-US" sz="1200" dirty="0"/>
          </a:p>
        </p:txBody>
      </p:sp>
      <p:sp>
        <p:nvSpPr>
          <p:cNvPr id="29" name="Text 27"/>
          <p:cNvSpPr txBox="1"/>
          <p:nvPr/>
        </p:nvSpPr>
        <p:spPr>
          <a:xfrm>
            <a:off x="548640" y="5806440"/>
            <a:ext cx="10058400" cy="365760"/>
          </a:xfrm>
          <a:prstGeom prst="rect">
            <a:avLst/>
          </a:prstGeom>
          <a:noFill/>
          <a:ln/>
        </p:spPr>
        <p:txBody>
          <a:bodyPr wrap="square" lIns="0" tIns="0" rIns="0" bIns="0" rtlCol="0" anchor="t"/>
          <a:lstStyle/>
          <a:p>
            <a:pPr indent="0" marL="0">
              <a:buNone/>
            </a:pPr>
            <a:r>
              <a:rPr lang="en-US" sz="1400" i="1" dirty="0">
                <a:solidFill>
                  <a:schemeClr val="tx2"/>
                </a:solidFill>
              </a:rPr>
              <a:t>Steps 1–3 copy numbers by hand from Ad Manager, DoubleVerify and GA4 into the two workbooks. Steps 4–5 turn them into the report.</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WORKBOOK IS THE REFERENCE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definitions every new month must follow</a:t>
            </a:r>
            <a:endParaRPr lang="en-US" sz="3400" dirty="0"/>
          </a:p>
        </p:txBody>
      </p:sp>
      <p:sp>
        <p:nvSpPr>
          <p:cNvPr id="4" name="rule card 1"/>
          <p:cNvSpPr/>
          <p:nvPr/>
        </p:nvSpPr>
        <p:spPr>
          <a:xfrm>
            <a:off x="548640" y="2148840"/>
            <a:ext cx="3454298" cy="3657600"/>
          </a:xfrm>
          <a:prstGeom prst="rect">
            <a:avLst/>
          </a:prstGeom>
          <a:solidFill>
            <a:schemeClr val="bg1"/>
          </a:solidFill>
          <a:ln w="9525">
            <a:solidFill>
              <a:srgbClr val="E7E0C9"/>
            </a:solidFill>
            <a:prstDash val="solid"/>
          </a:ln>
        </p:spPr>
      </p:sp>
      <p:sp>
        <p:nvSpPr>
          <p:cNvPr id="5" name="Text 3"/>
          <p:cNvSpPr txBox="1"/>
          <p:nvPr/>
        </p:nvSpPr>
        <p:spPr>
          <a:xfrm>
            <a:off x="868680"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DISCREPANCY</a:t>
            </a:r>
            <a:endParaRPr lang="en-US" sz="1200" dirty="0"/>
          </a:p>
        </p:txBody>
      </p:sp>
      <p:sp>
        <p:nvSpPr>
          <p:cNvPr id="6" name="formula box 1"/>
          <p:cNvSpPr/>
          <p:nvPr/>
        </p:nvSpPr>
        <p:spPr>
          <a:xfrm>
            <a:off x="868680" y="2926080"/>
            <a:ext cx="2814218" cy="1417320"/>
          </a:xfrm>
          <a:prstGeom prst="rect">
            <a:avLst/>
          </a:prstGeom>
          <a:solidFill>
            <a:schemeClr val="bg2"/>
          </a:solidFill>
          <a:ln w="9525">
            <a:solidFill>
              <a:srgbClr val="E7E0C9"/>
            </a:solidFill>
            <a:prstDash val="solid"/>
          </a:ln>
        </p:spPr>
      </p:sp>
      <p:sp>
        <p:nvSpPr>
          <p:cNvPr id="7" name="Text 5"/>
          <p:cNvSpPr txBox="1"/>
          <p:nvPr/>
        </p:nvSpPr>
        <p:spPr>
          <a:xfrm>
            <a:off x="1051560"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(GA4 pageviews − DV pre-bid) ÷ GA4 pageviews</a:t>
            </a:r>
            <a:endParaRPr lang="en-US" sz="1500" dirty="0"/>
          </a:p>
        </p:txBody>
      </p:sp>
      <p:sp>
        <p:nvSpPr>
          <p:cNvPr id="8" name="Text 6"/>
          <p:cNvSpPr txBox="1"/>
          <p:nvPr/>
        </p:nvSpPr>
        <p:spPr>
          <a:xfrm>
            <a:off x="868680"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The DV-GA workbook's own formula. The report uses it too.</a:t>
            </a:r>
            <a:endParaRPr lang="en-US" sz="1400" dirty="0"/>
          </a:p>
        </p:txBody>
      </p:sp>
      <p:sp>
        <p:nvSpPr>
          <p:cNvPr id="9" name="rule card 2"/>
          <p:cNvSpPr/>
          <p:nvPr/>
        </p:nvSpPr>
        <p:spPr>
          <a:xfrm>
            <a:off x="4368698" y="2148840"/>
            <a:ext cx="3454298" cy="3657600"/>
          </a:xfrm>
          <a:prstGeom prst="rect">
            <a:avLst/>
          </a:prstGeom>
          <a:solidFill>
            <a:schemeClr val="bg1"/>
          </a:solidFill>
          <a:ln w="9525">
            <a:solidFill>
              <a:srgbClr val="E7E0C9"/>
            </a:solidFill>
            <a:prstDash val="solid"/>
          </a:ln>
        </p:spPr>
      </p:sp>
      <p:sp>
        <p:nvSpPr>
          <p:cNvPr id="10" name="Text 8"/>
          <p:cNvSpPr txBox="1"/>
          <p:nvPr/>
        </p:nvSpPr>
        <p:spPr>
          <a:xfrm>
            <a:off x="4688738"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GAM TOTAL</a:t>
            </a:r>
            <a:endParaRPr lang="en-US" sz="1200" dirty="0"/>
          </a:p>
        </p:txBody>
      </p:sp>
      <p:sp>
        <p:nvSpPr>
          <p:cNvPr id="11" name="formula box 2"/>
          <p:cNvSpPr/>
          <p:nvPr/>
        </p:nvSpPr>
        <p:spPr>
          <a:xfrm>
            <a:off x="4688738" y="2926080"/>
            <a:ext cx="2814218" cy="1417320"/>
          </a:xfrm>
          <a:prstGeom prst="rect">
            <a:avLst/>
          </a:prstGeom>
          <a:solidFill>
            <a:schemeClr val="bg2"/>
          </a:solidFill>
          <a:ln w="9525">
            <a:solidFill>
              <a:srgbClr val="E7E0C9"/>
            </a:solidFill>
            <a:prstDash val="solid"/>
          </a:ln>
        </p:spPr>
      </p:sp>
      <p:sp>
        <p:nvSpPr>
          <p:cNvPr id="12" name="Text 10"/>
          <p:cNvSpPr txBox="1"/>
          <p:nvPr/>
        </p:nvSpPr>
        <p:spPr>
          <a:xfrm>
            <a:off x="4871618"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Total code served count</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Ad Exchange + PMP – PA + Ad server</a:t>
            </a:r>
            <a:endParaRPr lang="en-US" sz="1500" dirty="0"/>
          </a:p>
        </p:txBody>
      </p:sp>
      <p:sp>
        <p:nvSpPr>
          <p:cNvPr id="13" name="Text 11"/>
          <p:cNvSpPr txBox="1"/>
          <p:nvPr/>
        </p:nvSpPr>
        <p:spPr>
          <a:xfrm>
            <a:off x="4688738"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Keeps each month comparable with the months already in the sheet.</a:t>
            </a:r>
            <a:endParaRPr lang="en-US" sz="1400" dirty="0"/>
          </a:p>
        </p:txBody>
      </p:sp>
      <p:sp>
        <p:nvSpPr>
          <p:cNvPr id="14" name="rule card 3"/>
          <p:cNvSpPr/>
          <p:nvPr/>
        </p:nvSpPr>
        <p:spPr>
          <a:xfrm>
            <a:off x="8188757" y="2148840"/>
            <a:ext cx="3454298" cy="3657600"/>
          </a:xfrm>
          <a:prstGeom prst="rect">
            <a:avLst/>
          </a:prstGeom>
          <a:solidFill>
            <a:schemeClr val="bg1"/>
          </a:solidFill>
          <a:ln w="9525">
            <a:solidFill>
              <a:srgbClr val="E7E0C9"/>
            </a:solidFill>
            <a:prstDash val="solid"/>
          </a:ln>
        </p:spPr>
      </p:sp>
      <p:sp>
        <p:nvSpPr>
          <p:cNvPr id="15" name="Text 13"/>
          <p:cNvSpPr txBox="1"/>
          <p:nvPr/>
        </p:nvSpPr>
        <p:spPr>
          <a:xfrm>
            <a:off x="8508797"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AD EXCHANGE</a:t>
            </a:r>
            <a:endParaRPr lang="en-US" sz="1200" dirty="0"/>
          </a:p>
        </p:txBody>
      </p:sp>
      <p:sp>
        <p:nvSpPr>
          <p:cNvPr id="16" name="formula box 3"/>
          <p:cNvSpPr/>
          <p:nvPr/>
        </p:nvSpPr>
        <p:spPr>
          <a:xfrm>
            <a:off x="8508797" y="2926080"/>
            <a:ext cx="2814218" cy="1417320"/>
          </a:xfrm>
          <a:prstGeom prst="rect">
            <a:avLst/>
          </a:prstGeom>
          <a:solidFill>
            <a:schemeClr val="bg2"/>
          </a:solidFill>
          <a:ln w="9525">
            <a:solidFill>
              <a:srgbClr val="E7E0C9"/>
            </a:solidFill>
            <a:prstDash val="solid"/>
          </a:ln>
        </p:spPr>
      </p:sp>
      <p:sp>
        <p:nvSpPr>
          <p:cNvPr id="17" name="Text 15"/>
          <p:cNvSpPr txBox="1"/>
          <p:nvPr/>
        </p:nvSpPr>
        <p:spPr>
          <a:xfrm>
            <a:off x="8691677"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Banner</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In-stream video + In-stream video or audio</a:t>
            </a:r>
            <a:endParaRPr lang="en-US" sz="1500" dirty="0"/>
          </a:p>
        </p:txBody>
      </p:sp>
      <p:sp>
        <p:nvSpPr>
          <p:cNvPr id="18" name="Text 16"/>
          <p:cNvSpPr txBox="1"/>
          <p:nvPr/>
        </p:nvSpPr>
        <p:spPr>
          <a:xfrm>
            <a:off x="8508797"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Ad Exchange impressions split by the Inventory format dimension. Video always takes both formats.</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1 · DV-GA DISCREPANCY · PRE-BID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Does DV's pre-bid check see every page?</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GA4 pageviews with DV pre-bid requests, show TAG and TAG auditors that every pageview is monitored by DoubleVerify.</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One sheet (Y&lt;year&gt;), one row per month grouped Q1–Q4, Totals row at the bottom. Feeds the report's pre-bid slide.</a:t>
            </a:r>
            <a:endParaRPr lang="en-US" sz="1400" dirty="0"/>
          </a:p>
        </p:txBody>
      </p:sp>
      <p:graphicFrame>
        <p:nvGraphicFramePr>
          <p:cNvPr id="12" name="Workbook 1 · DV-GA discrepancy · pre-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of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 as YYYYMM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Platform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Always web</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GA4 web views for 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 Reqs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Pages DoubleVerify's pre-bid check evaluated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(Pageviews − Prebid Reqs) ÷ 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2 · DV-GAM DISCREPANCY · POST-BID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What Ad Manager counted vs what DV measured</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all impressions GAM records with what DV records, show TAG and TAG auditors that every post-bid impression is measured.</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Two sheets, same columns: inpage display (ad unit newsweek) and instream video (vid.newsweek). Feeds the report's SIVT slide.</a:t>
            </a:r>
            <a:endParaRPr lang="en-US" sz="1400" dirty="0"/>
          </a:p>
        </p:txBody>
      </p:sp>
      <p:graphicFrame>
        <p:nvGraphicFramePr>
          <p:cNvPr id="13" name="Workbook 2 · DV-GAM discrepancy · post-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and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Exchange impressions (includes Private Auction)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Open Bidding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PA</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server unfiltered downloaded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PD+PG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Preferred Deal + Programmatic Guaranteed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Display: Total code served count. Video: Ad Exchange + PMP – PA + 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 post-bid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Impressions DV measured post-bid (header: total DV gross impressions – post-bid)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DV-GAM 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1 − DV post-bid impressions ÷ 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 Rate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DV's sophisticated invalid traffic rate, as a decimal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01</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1 · Google Ad Manager</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Fill the six GAM columns of the DV-GAM workbook, display and video sheets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IN AD MANAGER</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Every GAM column starts from the same report</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reports</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Reporting → Interactive reports → Create my own report → Historical</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the dates</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range: the months you need, e.g. Oct 1 – Dec 31</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two dimensions</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Month and year, and Ad unit (top level)</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filter</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Ad unit (top level) is any of newsweek, vid.newsweek</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metric and run</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One metric per column (next slide). newsweek rows → display sheet, vid.newsweek rows → video sheet</a:t>
            </a:r>
            <a:endParaRPr lang="en-US" sz="1300" dirty="0"/>
          </a:p>
        </p:txBody>
      </p:sp>
      <p:sp>
        <p:nvSpPr>
          <p:cNvPr id="19" name="save tip card"/>
          <p:cNvSpPr/>
          <p:nvPr/>
        </p:nvSpPr>
        <p:spPr>
          <a:xfrm>
            <a:off x="7680960" y="2057400"/>
            <a:ext cx="3962095" cy="3566160"/>
          </a:xfrm>
          <a:prstGeom prst="rect">
            <a:avLst/>
          </a:prstGeom>
          <a:solidFill>
            <a:schemeClr val="tx1"/>
          </a:solidFill>
          <a:ln w="9525">
            <a:solidFill>
              <a:srgbClr val="E7E0C9"/>
            </a:solidFill>
            <a:prstDash val="solid"/>
          </a:ln>
        </p:spPr>
      </p:sp>
      <p:sp>
        <p:nvSpPr>
          <p:cNvPr id="20" name="Text 18"/>
          <p:cNvSpPr txBox="1"/>
          <p:nvPr/>
        </p:nvSpPr>
        <p:spPr>
          <a:xfrm>
            <a:off x="8001000" y="2377440"/>
            <a:ext cx="3291840" cy="320040"/>
          </a:xfrm>
          <a:prstGeom prst="rect">
            <a:avLst/>
          </a:prstGeom>
          <a:noFill/>
          <a:ln/>
        </p:spPr>
        <p:txBody>
          <a:bodyPr wrap="square" lIns="0" tIns="0" rIns="0" bIns="0" rtlCol="0" anchor="t"/>
          <a:lstStyle/>
          <a:p>
            <a:pPr indent="0" marL="0">
              <a:buNone/>
            </a:pPr>
            <a:r>
              <a:rPr lang="en-US" sz="1200" b="1" spc="200" kern="0" dirty="0">
                <a:solidFill>
                  <a:schemeClr val="bg2"/>
                </a:solidFill>
              </a:rPr>
              <a:t>SAVE IT ONCE</a:t>
            </a:r>
            <a:endParaRPr lang="en-US" sz="1200" dirty="0"/>
          </a:p>
        </p:txBody>
      </p:sp>
      <p:sp>
        <p:nvSpPr>
          <p:cNvPr id="21" name="Text 19"/>
          <p:cNvSpPr txBox="1"/>
          <p:nvPr/>
        </p:nvSpPr>
        <p:spPr>
          <a:xfrm>
            <a:off x="8001000" y="2788920"/>
            <a:ext cx="3291840" cy="914400"/>
          </a:xfrm>
          <a:prstGeom prst="rect">
            <a:avLst/>
          </a:prstGeom>
          <a:noFill/>
          <a:ln/>
        </p:spPr>
        <p:txBody>
          <a:bodyPr wrap="square" lIns="0" tIns="0" rIns="0" bIns="0" rtlCol="0" anchor="t"/>
          <a:lstStyle/>
          <a:p>
            <a:pPr indent="0" marL="0">
              <a:buNone/>
            </a:pPr>
            <a:r>
              <a:rPr lang="en-US" sz="2400" dirty="0">
                <a:solidFill>
                  <a:schemeClr val="bg1"/>
                </a:solidFill>
                <a:latin typeface="Georgia" pitchFamily="34" charset="0"/>
                <a:ea typeface="Georgia" pitchFamily="34" charset="-122"/>
                <a:cs typeface="Georgia" pitchFamily="34" charset="-120"/>
              </a:rPr>
              <a:t>One saved report per column</a:t>
            </a:r>
            <a:endParaRPr lang="en-US" sz="2400" dirty="0"/>
          </a:p>
        </p:txBody>
      </p:sp>
      <p:sp>
        <p:nvSpPr>
          <p:cNvPr id="22" name="Text 20"/>
          <p:cNvSpPr txBox="1"/>
          <p:nvPr/>
        </p:nvSpPr>
        <p:spPr>
          <a:xfrm>
            <a:off x="8001000" y="3886200"/>
            <a:ext cx="3291840" cy="1371600"/>
          </a:xfrm>
          <a:prstGeom prst="rect">
            <a:avLst/>
          </a:prstGeom>
          <a:noFill/>
          <a:ln/>
        </p:spPr>
        <p:txBody>
          <a:bodyPr wrap="square" lIns="0" tIns="0" rIns="0" bIns="0" rtlCol="0" anchor="t"/>
          <a:lstStyle/>
          <a:p>
            <a:pPr indent="0" marL="0">
              <a:buNone/>
            </a:pPr>
            <a:r>
              <a:rPr lang="en-US" sz="1400" dirty="0">
                <a:solidFill>
                  <a:schemeClr val="bg2"/>
                </a:solidFill>
              </a:rPr>
              <a:t>Save each with date range This year. Next month: open it, run it, and copy only the new month.</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COLUMN BY COLUMN</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Each column is a dimension, a metric and a filter</a:t>
            </a:r>
            <a:endParaRPr lang="en-US" sz="3400" dirty="0"/>
          </a:p>
        </p:txBody>
      </p:sp>
      <p:sp>
        <p:nvSpPr>
          <p:cNvPr id="4" name="base query"/>
          <p:cNvSpPr/>
          <p:nvPr/>
        </p:nvSpPr>
        <p:spPr>
          <a:xfrm>
            <a:off x="548640" y="1920240"/>
            <a:ext cx="11094415" cy="685800"/>
          </a:xfrm>
          <a:prstGeom prst="rect">
            <a:avLst/>
          </a:prstGeom>
          <a:solidFill>
            <a:schemeClr val="tx1"/>
          </a:solidFill>
          <a:ln w="9525">
            <a:solidFill>
              <a:srgbClr val="E7E0C9"/>
            </a:solidFill>
            <a:prstDash val="solid"/>
          </a:ln>
        </p:spPr>
      </p:sp>
      <p:sp>
        <p:nvSpPr>
          <p:cNvPr id="5" name="Text 3"/>
          <p:cNvSpPr txBox="1"/>
          <p:nvPr/>
        </p:nvSpPr>
        <p:spPr>
          <a:xfrm>
            <a:off x="822960" y="2057400"/>
            <a:ext cx="10545775" cy="411480"/>
          </a:xfrm>
          <a:prstGeom prst="rect">
            <a:avLst/>
          </a:prstGeom>
          <a:noFill/>
          <a:ln/>
        </p:spPr>
        <p:txBody>
          <a:bodyPr wrap="square" lIns="0" tIns="0" rIns="0" bIns="0" rtlCol="0" anchor="ctr"/>
          <a:lstStyle/>
          <a:p>
            <a:pPr indent="0" marL="0">
              <a:buNone/>
            </a:pPr>
            <a:r>
              <a:rPr lang="en-US" sz="1100" b="1" spc="200" kern="0" dirty="0">
                <a:solidFill>
                  <a:schemeClr val="bg2"/>
                </a:solidFill>
              </a:rPr>
              <a:t>EVERY COLUMN   </a:t>
            </a:r>
            <a:pPr indent="0" marL="0">
              <a:buNone/>
            </a:pPr>
            <a:r>
              <a:rPr lang="en-US" sz="1400" dirty="0">
                <a:solidFill>
                  <a:schemeClr val="bg1"/>
                </a:solidFill>
              </a:rPr>
              <a:t>Dimensions: Month and year × Ad unit (top level)   ·   Filter: Ad unit (top level) is newsweek or vid.newsweek</a:t>
            </a:r>
            <a:endParaRPr lang="en-US" sz="1100" dirty="0"/>
          </a:p>
        </p:txBody>
      </p:sp>
      <p:graphicFrame>
        <p:nvGraphicFramePr>
          <p:cNvPr id="16" name="column map"/>
          <p:cNvGraphicFramePr>
            <a:graphicFrameLocks noGrp="1"/>
          </p:cNvGraphicFramePr>
          <p:nvPr>
            <p:extLst>
              <p:ext uri="{D42A27DB-BD31-4B8C-83A1-F6EECF244321}">
                <p14:modId xmlns:p14="http://schemas.microsoft.com/office/powerpoint/2010/main" val="1579011935"/>
              </p:ext>
            </p:extLst>
          </p:nvPr>
        </p:nvGraphicFramePr>
        <p:xfrm>
          <a:off x="548640" y="2834640"/>
          <a:ext cx="11094415" cy="914400"/>
        </p:xfrm>
        <a:graphic>
          <a:graphicData uri="http://schemas.openxmlformats.org/drawingml/2006/table">
            <a:tbl>
              <a:tblPr/>
              <a:tblGrid>
                <a:gridCol w="1737360"/>
                <a:gridCol w="3749040"/>
                <a:gridCol w="5605272"/>
              </a:tblGrid>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Column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Metric</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Extra filter or split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Exchange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Exchange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Split by Inventory format instead of ad unit: Banner → display; In-stream video + In-stream video or audio → video</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channel = 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PA</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Private Auction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server unfiltered downloaded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PD+PG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Programmatic Guaranteed or Preferred Deals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GAM total</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code served count (display sheet)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 · video GAM total = Ad Exchange + PMP – PA + 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TRAPS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dimension traps</a:t>
            </a:r>
            <a:endParaRPr lang="en-US" sz="3400" dirty="0"/>
          </a:p>
        </p:txBody>
      </p:sp>
      <p:sp>
        <p:nvSpPr>
          <p:cNvPr id="4" name="trap 1"/>
          <p:cNvSpPr/>
          <p:nvPr/>
        </p:nvSpPr>
        <p:spPr>
          <a:xfrm>
            <a:off x="548640" y="2057400"/>
            <a:ext cx="11094415" cy="1005840"/>
          </a:xfrm>
          <a:prstGeom prst="rect">
            <a:avLst/>
          </a:prstGeom>
          <a:solidFill>
            <a:schemeClr val="bg1"/>
          </a:solidFill>
          <a:ln w="9525">
            <a:solidFill>
              <a:srgbClr val="E7E0C9"/>
            </a:solidFill>
            <a:prstDash val="solid"/>
          </a:ln>
        </p:spPr>
      </p:sp>
      <p:sp>
        <p:nvSpPr>
          <p:cNvPr id="5" name="trap icon 1"/>
          <p:cNvSpPr/>
          <p:nvPr/>
        </p:nvSpPr>
        <p:spPr>
          <a:xfrm>
            <a:off x="777240" y="2331720"/>
            <a:ext cx="457200" cy="457200"/>
          </a:xfrm>
          <a:prstGeom prst="ellipse">
            <a:avLst/>
          </a:prstGeom>
          <a:solidFill>
            <a:schemeClr val="bg2"/>
          </a:solidFill>
          <a:ln w="12700">
            <a:solidFill>
              <a:srgbClr val="8C887B"/>
            </a:solidFill>
            <a:prstDash val="solid"/>
          </a:ln>
        </p:spPr>
      </p:sp>
      <p:sp>
        <p:nvSpPr>
          <p:cNvPr id="6" name="Text 4"/>
          <p:cNvSpPr txBox="1"/>
          <p:nvPr/>
        </p:nvSpPr>
        <p:spPr>
          <a:xfrm>
            <a:off x="777240" y="233172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7" name="Text 5"/>
          <p:cNvSpPr txBox="1"/>
          <p:nvPr/>
        </p:nvSpPr>
        <p:spPr>
          <a:xfrm>
            <a:off x="1463040" y="219456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Use Ad unit (top level), not Ad unit</a:t>
            </a:r>
            <a:endParaRPr lang="en-US" sz="1800" dirty="0"/>
          </a:p>
        </p:txBody>
      </p:sp>
      <p:sp>
        <p:nvSpPr>
          <p:cNvPr id="8" name="trap 2"/>
          <p:cNvSpPr/>
          <p:nvPr/>
        </p:nvSpPr>
        <p:spPr>
          <a:xfrm>
            <a:off x="548640" y="3246120"/>
            <a:ext cx="11094415" cy="1005840"/>
          </a:xfrm>
          <a:prstGeom prst="rect">
            <a:avLst/>
          </a:prstGeom>
          <a:solidFill>
            <a:schemeClr val="bg1"/>
          </a:solidFill>
          <a:ln w="9525">
            <a:solidFill>
              <a:srgbClr val="E7E0C9"/>
            </a:solidFill>
            <a:prstDash val="solid"/>
          </a:ln>
        </p:spPr>
      </p:sp>
      <p:sp>
        <p:nvSpPr>
          <p:cNvPr id="9" name="trap icon 2"/>
          <p:cNvSpPr/>
          <p:nvPr/>
        </p:nvSpPr>
        <p:spPr>
          <a:xfrm>
            <a:off x="777240" y="3520440"/>
            <a:ext cx="457200" cy="457200"/>
          </a:xfrm>
          <a:prstGeom prst="ellipse">
            <a:avLst/>
          </a:prstGeom>
          <a:solidFill>
            <a:schemeClr val="bg2"/>
          </a:solidFill>
          <a:ln w="12700">
            <a:solidFill>
              <a:srgbClr val="8C887B"/>
            </a:solidFill>
            <a:prstDash val="solid"/>
          </a:ln>
        </p:spPr>
      </p:sp>
      <p:sp>
        <p:nvSpPr>
          <p:cNvPr id="10" name="Text 8"/>
          <p:cNvSpPr txBox="1"/>
          <p:nvPr/>
        </p:nvSpPr>
        <p:spPr>
          <a:xfrm>
            <a:off x="777240" y="352044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1" name="Text 9"/>
          <p:cNvSpPr txBox="1"/>
          <p:nvPr/>
        </p:nvSpPr>
        <p:spPr>
          <a:xfrm>
            <a:off x="1463040" y="338328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Video Ad Exchange: In-stream video + In-stream video or audio</a:t>
            </a:r>
            <a:endParaRPr lang="en-US" sz="1800" dirty="0"/>
          </a:p>
        </p:txBody>
      </p:sp>
      <p:sp>
        <p:nvSpPr>
          <p:cNvPr id="12" name="trap 3"/>
          <p:cNvSpPr/>
          <p:nvPr/>
        </p:nvSpPr>
        <p:spPr>
          <a:xfrm>
            <a:off x="548640" y="4434840"/>
            <a:ext cx="11094415" cy="1005840"/>
          </a:xfrm>
          <a:prstGeom prst="rect">
            <a:avLst/>
          </a:prstGeom>
          <a:solidFill>
            <a:schemeClr val="bg1"/>
          </a:solidFill>
          <a:ln w="9525">
            <a:solidFill>
              <a:srgbClr val="E7E0C9"/>
            </a:solidFill>
            <a:prstDash val="solid"/>
          </a:ln>
        </p:spPr>
      </p:sp>
      <p:sp>
        <p:nvSpPr>
          <p:cNvPr id="13" name="trap icon 3"/>
          <p:cNvSpPr/>
          <p:nvPr/>
        </p:nvSpPr>
        <p:spPr>
          <a:xfrm>
            <a:off x="777240" y="4709160"/>
            <a:ext cx="457200" cy="457200"/>
          </a:xfrm>
          <a:prstGeom prst="ellipse">
            <a:avLst/>
          </a:prstGeom>
          <a:solidFill>
            <a:schemeClr val="bg2"/>
          </a:solidFill>
          <a:ln w="12700">
            <a:solidFill>
              <a:srgbClr val="8C887B"/>
            </a:solidFill>
            <a:prstDash val="solid"/>
          </a:ln>
        </p:spPr>
      </p:sp>
      <p:sp>
        <p:nvSpPr>
          <p:cNvPr id="14" name="Text 12"/>
          <p:cNvSpPr txBox="1"/>
          <p:nvPr/>
        </p:nvSpPr>
        <p:spPr>
          <a:xfrm>
            <a:off x="777240" y="470916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5" name="Text 13"/>
          <p:cNvSpPr txBox="1"/>
          <p:nvPr/>
        </p:nvSpPr>
        <p:spPr>
          <a:xfrm>
            <a:off x="1463040" y="457200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Never filter Programmatic channel = Open Auction</a:t>
            </a:r>
            <a:endParaRPr lang="en-US" sz="18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DISPLAY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Display: 8.4% DV-GAM discrepancy YTD</a:t>
            </a:r>
            <a:endParaRPr lang="en-US" sz="3400" dirty="0"/>
          </a:p>
        </p:txBody>
      </p:sp>
      <p:graphicFrame>
        <p:nvGraphicFramePr>
          <p:cNvPr id="18" name="gam display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59,956,722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16,702,295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394,000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305,167,447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41,970,488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401,193,896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370,000,000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49,414,587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12,696,782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681,691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256,190,688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57,789,178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343,881,118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316,400,000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41,371,929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3,331,694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1,115,109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266,197,908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61,479,470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356,687,943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319,200,000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30,069,684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150,156,640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32,154,242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201,928,491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180,600,000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25,385,109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174,602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480,923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131,495,333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27,733,589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173,744,632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158,800,000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24,065,724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752,608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366,829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156,355,580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23,000,403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198,169,506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183,200,000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25,705,283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420,408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294,269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167,812,818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22,867,169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209,708,050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193,400,000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26,632,518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97,845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173,863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168,385,218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21,506,886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209,971,987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194,600,000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39,127,849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118,486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200,945,867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24,828,773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260,491,698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241,900,000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321,729,405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34,521,035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3,906,330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1,802,707,499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313,330,198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2,355,777,321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2,158,100,000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Inpage display sheet (ad unit newsweek), 2026 YTD Jan–Sep. GAM total = Total code served count. Discrepancy = 1 − DV post-bid ÷ GAM total. Ad Exchange already includes PMP – PA.</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VIDEO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Video: 13.3% DV-GAM discrepancy YTD</a:t>
            </a:r>
            <a:endParaRPr lang="en-US" sz="3400" dirty="0"/>
          </a:p>
        </p:txBody>
      </p:sp>
      <p:graphicFrame>
        <p:nvGraphicFramePr>
          <p:cNvPr id="19" name="gam video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3,236,963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2,346,735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14,311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43,474,485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6,988,343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46,725,759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12.5%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5,031,537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2,588,176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38,907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38,269,978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4,669,650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43,340,422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4,145,610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236,819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42,688,984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2,918,966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47,071,413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2,521,160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143,552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52,844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23,148,536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2,011,760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25,722,540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16.4%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1,912,813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33,207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21,961,267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2,298,196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23,907,287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1,609,250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52,749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25,583,982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2,704,830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27,245,981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1,332,567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42,061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73,726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27,484,692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1,863,298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28,890,985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1,716,850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7,438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109,379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24,746,154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2,508,417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26,572,383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2,370,358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55,851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30,477,197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32,903,406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23,877,108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5,521,945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667,793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277,835,275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29,327,694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302,380,176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262,100,000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Instream video sheet (ad unit vid.newsweek), 2026 YTD Jan–Sep. GAM total = Ad Exchange + PMP – PA + Ad server (the sheet's formula). Discrepancy = 1 − DV post-bid ÷ GAM total. Ad Exchange includes In-stream video or audio every month.</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02</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2 · DoubleVerify</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DV post-bid impressions and SIVT rate, from the Inventory Quality report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DV INVENTORY QUALITY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Two numbers per sheet, per month</a:t>
            </a:r>
            <a:endParaRPr lang="en-US" sz="3400" dirty="0"/>
          </a:p>
        </p:txBody>
      </p:sp>
      <p:sp>
        <p:nvSpPr>
          <p:cNvPr id="4" name="dv card 1"/>
          <p:cNvSpPr/>
          <p:nvPr/>
        </p:nvSpPr>
        <p:spPr>
          <a:xfrm>
            <a:off x="548640" y="2057400"/>
            <a:ext cx="6035040" cy="1371600"/>
          </a:xfrm>
          <a:prstGeom prst="rect">
            <a:avLst/>
          </a:prstGeom>
          <a:solidFill>
            <a:schemeClr val="bg1"/>
          </a:solidFill>
          <a:ln w="9525">
            <a:solidFill>
              <a:srgbClr val="E7E0C9"/>
            </a:solidFill>
            <a:prstDash val="solid"/>
          </a:ln>
        </p:spPr>
      </p:sp>
      <p:sp>
        <p:nvSpPr>
          <p:cNvPr id="5" name="Text 3"/>
          <p:cNvSpPr txBox="1"/>
          <p:nvPr/>
        </p:nvSpPr>
        <p:spPr>
          <a:xfrm>
            <a:off x="822960" y="22860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1</a:t>
            </a:r>
            <a:endParaRPr lang="en-US" sz="4800" dirty="0"/>
          </a:p>
        </p:txBody>
      </p:sp>
      <p:sp>
        <p:nvSpPr>
          <p:cNvPr id="6" name="Text 4"/>
          <p:cNvSpPr txBox="1"/>
          <p:nvPr/>
        </p:nvSpPr>
        <p:spPr>
          <a:xfrm>
            <a:off x="1828800" y="22860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DV post-bid impressions</a:t>
            </a:r>
            <a:endParaRPr lang="en-US" sz="1900" dirty="0"/>
          </a:p>
        </p:txBody>
      </p:sp>
      <p:sp>
        <p:nvSpPr>
          <p:cNvPr id="7" name="Text 5"/>
          <p:cNvSpPr txBox="1"/>
          <p:nvPr/>
        </p:nvSpPr>
        <p:spPr>
          <a:xfrm>
            <a:off x="1828800" y="2743200"/>
            <a:ext cx="4572000" cy="594360"/>
          </a:xfrm>
          <a:prstGeom prst="rect">
            <a:avLst/>
          </a:prstGeom>
          <a:noFill/>
          <a:ln/>
        </p:spPr>
        <p:txBody>
          <a:bodyPr wrap="square" lIns="0" tIns="0" rIns="0" bIns="0" rtlCol="0" anchor="t"/>
          <a:lstStyle/>
          <a:p>
            <a:pPr indent="0" marL="0">
              <a:buNone/>
            </a:pPr>
            <a:r>
              <a:rPr lang="en-US" sz="1400" dirty="0">
                <a:solidFill>
                  <a:schemeClr val="tx2"/>
                </a:solidFill>
              </a:rPr>
              <a:t>Workbook column: total DV gross impressions – post-bid. Monitored impressions, Newsweek O&amp;O</a:t>
            </a:r>
            <a:endParaRPr lang="en-US" sz="1400" dirty="0"/>
          </a:p>
        </p:txBody>
      </p:sp>
      <p:sp>
        <p:nvSpPr>
          <p:cNvPr id="8" name="dv card 2"/>
          <p:cNvSpPr/>
          <p:nvPr/>
        </p:nvSpPr>
        <p:spPr>
          <a:xfrm>
            <a:off x="548640" y="3657600"/>
            <a:ext cx="6035040" cy="1371600"/>
          </a:xfrm>
          <a:prstGeom prst="rect">
            <a:avLst/>
          </a:prstGeom>
          <a:solidFill>
            <a:schemeClr val="bg1"/>
          </a:solidFill>
          <a:ln w="9525">
            <a:solidFill>
              <a:srgbClr val="E7E0C9"/>
            </a:solidFill>
            <a:prstDash val="solid"/>
          </a:ln>
        </p:spPr>
      </p:sp>
      <p:sp>
        <p:nvSpPr>
          <p:cNvPr id="9" name="Text 7"/>
          <p:cNvSpPr txBox="1"/>
          <p:nvPr/>
        </p:nvSpPr>
        <p:spPr>
          <a:xfrm>
            <a:off x="822960" y="38862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2</a:t>
            </a:r>
            <a:endParaRPr lang="en-US" sz="4800" dirty="0"/>
          </a:p>
        </p:txBody>
      </p:sp>
      <p:sp>
        <p:nvSpPr>
          <p:cNvPr id="10" name="Text 8"/>
          <p:cNvSpPr txBox="1"/>
          <p:nvPr/>
        </p:nvSpPr>
        <p:spPr>
          <a:xfrm>
            <a:off x="1828800" y="38862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SIVT Rate</a:t>
            </a:r>
            <a:endParaRPr lang="en-US" sz="1900" dirty="0"/>
          </a:p>
        </p:txBody>
      </p:sp>
      <p:sp>
        <p:nvSpPr>
          <p:cNvPr id="11" name="Text 9"/>
          <p:cNvSpPr txBox="1"/>
          <p:nvPr/>
        </p:nvSpPr>
        <p:spPr>
          <a:xfrm>
            <a:off x="1828800" y="4343400"/>
            <a:ext cx="4572000" cy="594360"/>
          </a:xfrm>
          <a:prstGeom prst="rect">
            <a:avLst/>
          </a:prstGeom>
          <a:noFill/>
          <a:ln/>
        </p:spPr>
        <p:txBody>
          <a:bodyPr wrap="square" lIns="0" tIns="0" rIns="0" bIns="0" rtlCol="0" anchor="t"/>
          <a:lstStyle/>
          <a:p>
            <a:pPr indent="0" marL="0">
              <a:buNone/>
            </a:pPr>
            <a:r>
              <a:rPr lang="en-US" sz="1400" dirty="0">
                <a:solidFill>
                  <a:schemeClr val="tx2"/>
                </a:solidFill>
              </a:rPr>
              <a:t>Fraud/SIVT ÷ Monitored, entered as a decimal (0.0004 = 0.04%). Goal: under 1%.</a:t>
            </a:r>
            <a:endParaRPr lang="en-US" sz="1400" dirty="0"/>
          </a:p>
        </p:txBody>
      </p:sp>
      <p:sp>
        <p:nvSpPr>
          <p:cNvPr id="12" name="export card"/>
          <p:cNvSpPr/>
          <p:nvPr/>
        </p:nvSpPr>
        <p:spPr>
          <a:xfrm>
            <a:off x="7040880" y="2057400"/>
            <a:ext cx="4602175" cy="2971800"/>
          </a:xfrm>
          <a:prstGeom prst="rect">
            <a:avLst/>
          </a:prstGeom>
          <a:solidFill>
            <a:schemeClr val="bg2"/>
          </a:solidFill>
          <a:ln w="9525">
            <a:solidFill>
              <a:srgbClr val="E7E0C9"/>
            </a:solidFill>
            <a:prstDash val="solid"/>
          </a:ln>
        </p:spPr>
      </p:sp>
      <p:sp>
        <p:nvSpPr>
          <p:cNvPr id="13" name="Text 11"/>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TILES ROUND TO 0.1M</a:t>
            </a:r>
            <a:endParaRPr lang="en-US" sz="1200" dirty="0"/>
          </a:p>
        </p:txBody>
      </p:sp>
      <p:sp>
        <p:nvSpPr>
          <p:cNvPr id="14" name="Text 12"/>
          <p:cNvSpPr txBox="1"/>
          <p:nvPr/>
        </p:nvSpPr>
        <p:spPr>
          <a:xfrm>
            <a:off x="7360920" y="2788920"/>
            <a:ext cx="4114800" cy="731520"/>
          </a:xfrm>
          <a:prstGeom prst="rect">
            <a:avLst/>
          </a:prstGeom>
          <a:noFill/>
          <a:ln/>
        </p:spPr>
        <p:txBody>
          <a:bodyPr wrap="square" lIns="0" tIns="0" rIns="0" bIns="0" rtlCol="0" anchor="t"/>
          <a:lstStyle/>
          <a:p>
            <a:pPr indent="0" marL="0">
              <a:buNone/>
            </a:pPr>
            <a:r>
              <a:rPr lang="en-US" sz="3600" dirty="0">
                <a:solidFill>
                  <a:schemeClr val="tx1"/>
                </a:solidFill>
                <a:latin typeface="Georgia" pitchFamily="34" charset="0"/>
                <a:ea typeface="Georgia" pitchFamily="34" charset="-122"/>
                <a:cs typeface="Georgia" pitchFamily="34" charset="-120"/>
              </a:rPr>
              <a:t>370,000,000</a:t>
            </a:r>
            <a:endParaRPr lang="en-US" sz="3600" dirty="0"/>
          </a:p>
        </p:txBody>
      </p:sp>
      <p:sp>
        <p:nvSpPr>
          <p:cNvPr id="15" name="Text 13"/>
          <p:cNvSpPr txBox="1"/>
          <p:nvPr/>
        </p:nvSpPr>
        <p:spPr>
          <a:xfrm>
            <a:off x="7360920" y="3611880"/>
            <a:ext cx="4023360" cy="1188720"/>
          </a:xfrm>
          <a:prstGeom prst="rect">
            <a:avLst/>
          </a:prstGeom>
          <a:noFill/>
          <a:ln/>
        </p:spPr>
        <p:txBody>
          <a:bodyPr wrap="square" lIns="0" tIns="0" rIns="0" bIns="0" rtlCol="0" anchor="t"/>
          <a:lstStyle/>
          <a:p>
            <a:pPr indent="0" marL="0">
              <a:buNone/>
            </a:pPr>
            <a:r>
              <a:rPr lang="en-US" sz="1400" dirty="0">
                <a:solidFill>
                  <a:schemeClr val="tx2"/>
                </a:solidFill>
              </a:rPr>
              <a:t>A tile reading 370.0M goes into the workbook as 370,000,000, which is how the 2026 sheet was filled. No export needed: read the tiles in the UI.</a:t>
            </a:r>
            <a:endParaRPr lang="en-US" sz="1400" dirty="0"/>
          </a:p>
        </p:txBody>
      </p:sp>
      <p:sp>
        <p:nvSpPr>
          <p:cNvPr id="16" name="Text 14"/>
          <p:cNvSpPr txBox="1"/>
          <p:nvPr/>
        </p:nvSpPr>
        <p:spPr>
          <a:xfrm>
            <a:off x="548640" y="5394960"/>
            <a:ext cx="10972800" cy="457200"/>
          </a:xfrm>
          <a:prstGeom prst="rect">
            <a:avLst/>
          </a:prstGeom>
          <a:noFill/>
          <a:ln/>
        </p:spPr>
        <p:txBody>
          <a:bodyPr wrap="square" lIns="0" tIns="0" rIns="0" bIns="0" rtlCol="0" anchor="t"/>
          <a:lstStyle/>
          <a:p>
            <a:pPr indent="0" marL="0">
              <a:buNone/>
            </a:pPr>
            <a:r>
              <a:rPr lang="en-US" sz="1300" i="1" dirty="0">
                <a:solidFill>
                  <a:schemeClr val="tx2"/>
                </a:solidFill>
              </a:rPr>
              <a:t>Source: the Inventory Quality report in the DV UI (Pinnacle), for both numbers. Pull display and video as separate rows: they go to separate sheets.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IN THE DV UI</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Filter the Inventory Quality report by media type</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the report</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DV Pinnacle → Publisher Suite → Inventory Quality → Inventory</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one month</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picker: the first to the last day of the month, e.g. 7/1/2026 – 7/31/2026</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Filters → Media Type</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Tick Display (or Video) only; leave null unticked. Click Apply</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Read the tiles</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Monitored Impressions → DV post-bid impressions; Fraud/SIVT ÷ Monitored → SIVT Rate</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Repeat</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Switch the filter to Video, then move to the next month</a:t>
            </a:r>
            <a:endParaRPr lang="en-US" sz="1300" dirty="0"/>
          </a:p>
        </p:txBody>
      </p:sp>
      <p:sp>
        <p:nvSpPr>
          <p:cNvPr id="19" name="dv filter example"/>
          <p:cNvSpPr/>
          <p:nvPr/>
        </p:nvSpPr>
        <p:spPr>
          <a:xfrm>
            <a:off x="7680960" y="2057400"/>
            <a:ext cx="3962095" cy="3657600"/>
          </a:xfrm>
          <a:prstGeom prst="rect">
            <a:avLst/>
          </a:prstGeom>
          <a:solidFill>
            <a:schemeClr val="bg2"/>
          </a:solidFill>
          <a:ln w="9525">
            <a:solidFill>
              <a:srgbClr val="E7E0C9"/>
            </a:solidFill>
            <a:prstDash val="solid"/>
          </a:ln>
        </p:spPr>
      </p:sp>
      <p:sp>
        <p:nvSpPr>
          <p:cNvPr id="20" name="Text 18"/>
          <p:cNvSpPr txBox="1"/>
          <p:nvPr/>
        </p:nvSpPr>
        <p:spPr>
          <a:xfrm>
            <a:off x="8001000" y="2331720"/>
            <a:ext cx="3291840" cy="274320"/>
          </a:xfrm>
          <a:prstGeom prst="rect">
            <a:avLst/>
          </a:prstGeom>
          <a:noFill/>
          <a:ln/>
        </p:spPr>
        <p:txBody>
          <a:bodyPr wrap="square" lIns="0" tIns="0" rIns="0" bIns="0" rtlCol="0" anchor="t"/>
          <a:lstStyle/>
          <a:p>
            <a:pPr indent="0" marL="0">
              <a:buNone/>
            </a:pPr>
            <a:r>
              <a:rPr lang="en-US" sz="1100" b="1" spc="200" kern="0" dirty="0">
                <a:solidFill>
                  <a:schemeClr val="tx2"/>
                </a:solidFill>
              </a:rPr>
              <a:t>EXAMPLE · JULY 2026</a:t>
            </a:r>
            <a:endParaRPr lang="en-US" sz="1100" dirty="0"/>
          </a:p>
        </p:txBody>
      </p:sp>
      <p:sp>
        <p:nvSpPr>
          <p:cNvPr id="21" name="Text 19"/>
          <p:cNvSpPr txBox="1"/>
          <p:nvPr/>
        </p:nvSpPr>
        <p:spPr>
          <a:xfrm>
            <a:off x="8001000" y="2743200"/>
            <a:ext cx="3291840" cy="1280160"/>
          </a:xfrm>
          <a:prstGeom prst="rect">
            <a:avLst/>
          </a:prstGeom>
          <a:noFill/>
          <a:ln/>
        </p:spPr>
        <p:txBody>
          <a:bodyPr wrap="square" lIns="0" tIns="0" rIns="0" bIns="0" rtlCol="0" anchor="t"/>
          <a:lstStyle/>
          <a:p>
            <a:pPr indent="0" marL="0">
              <a:buNone/>
            </a:pPr>
            <a:r>
              <a:rPr lang="en-US" sz="1500" b="1" dirty="0">
                <a:solidFill>
                  <a:schemeClr val="tx1"/>
                </a:solidFill>
              </a:rPr>
              <a:t>Media Type</a:t>
            </a:r>
            <a:endParaRPr lang="en-US" sz="1500" dirty="0"/>
          </a:p>
          <a:p>
            <a:pPr indent="0" marL="0">
              <a:buNone/>
            </a:pPr>
            <a:r>
              <a:rPr lang="en-US" sz="1500" dirty="0">
                <a:solidFill>
                  <a:schemeClr val="tx1"/>
                </a:solidFill>
              </a:rPr>
              <a:t>■ Display   193.4M</a:t>
            </a:r>
            <a:endParaRPr lang="en-US" sz="1500" dirty="0"/>
          </a:p>
          <a:p>
            <a:pPr indent="0" marL="0">
              <a:buNone/>
            </a:pPr>
            <a:r>
              <a:rPr lang="en-US" sz="1500" dirty="0">
                <a:solidFill>
                  <a:schemeClr val="tx1"/>
                </a:solidFill>
              </a:rPr>
              <a:t>□ Video        25.5M</a:t>
            </a:r>
            <a:endParaRPr lang="en-US" sz="1500" dirty="0"/>
          </a:p>
          <a:p>
            <a:pPr indent="0" marL="0">
              <a:buNone/>
            </a:pPr>
            <a:r>
              <a:rPr lang="en-US" sz="1500" dirty="0">
                <a:solidFill>
                  <a:schemeClr val="tx1"/>
                </a:solidFill>
              </a:rPr>
              <a:t>□ null              131</a:t>
            </a:r>
            <a:endParaRPr lang="en-US" sz="1500" dirty="0"/>
          </a:p>
        </p:txBody>
      </p:sp>
      <p:sp>
        <p:nvSpPr>
          <p:cNvPr id="22" name="Text 20"/>
          <p:cNvSpPr txBox="1"/>
          <p:nvPr/>
        </p:nvSpPr>
        <p:spPr>
          <a:xfrm>
            <a:off x="8001000" y="4206240"/>
            <a:ext cx="3291840" cy="1280160"/>
          </a:xfrm>
          <a:prstGeom prst="rect">
            <a:avLst/>
          </a:prstGeom>
          <a:noFill/>
          <a:ln/>
        </p:spPr>
        <p:txBody>
          <a:bodyPr wrap="square" lIns="0" tIns="0" rIns="0" bIns="0" rtlCol="0" anchor="t"/>
          <a:lstStyle/>
          <a:p>
            <a:pPr indent="0" marL="0">
              <a:buNone/>
            </a:pPr>
            <a:r>
              <a:rPr lang="en-US" sz="1300" dirty="0">
                <a:solidFill>
                  <a:schemeClr val="tx2"/>
                </a:solidFill>
              </a:rPr>
              <a:t>193.4M is the display figure in the workbook for July. The tile rounds to 0.1M; export the report for exact counts.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03</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3 · GA4 and DV pre-bid</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Pageviews against pre-bid requests, in the DV-GA workbook</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3 · GA4 AND DV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Pageviews against pre-bid requests</a:t>
            </a:r>
            <a:endParaRPr lang="en-US" sz="3400" dirty="0"/>
          </a:p>
        </p:txBody>
      </p:sp>
      <p:sp>
        <p:nvSpPr>
          <p:cNvPr id="4" name="Text 2"/>
          <p:cNvSpPr txBox="1"/>
          <p:nvPr/>
        </p:nvSpPr>
        <p:spPr>
          <a:xfrm>
            <a:off x="548640" y="205740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1</a:t>
            </a:r>
            <a:endParaRPr lang="en-US" sz="4000" dirty="0"/>
          </a:p>
        </p:txBody>
      </p:sp>
      <p:sp>
        <p:nvSpPr>
          <p:cNvPr id="5" name="Text 3"/>
          <p:cNvSpPr txBox="1"/>
          <p:nvPr/>
        </p:nvSpPr>
        <p:spPr>
          <a:xfrm>
            <a:off x="1463040" y="210312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Pageviews</a:t>
            </a:r>
            <a:endParaRPr lang="en-US" sz="1900" dirty="0"/>
          </a:p>
        </p:txBody>
      </p:sp>
      <p:sp>
        <p:nvSpPr>
          <p:cNvPr id="6" name="Text 4"/>
          <p:cNvSpPr txBox="1"/>
          <p:nvPr/>
        </p:nvSpPr>
        <p:spPr>
          <a:xfrm>
            <a:off x="1463040" y="2496312"/>
            <a:ext cx="5486400" cy="548640"/>
          </a:xfrm>
          <a:prstGeom prst="rect">
            <a:avLst/>
          </a:prstGeom>
          <a:noFill/>
          <a:ln/>
        </p:spPr>
        <p:txBody>
          <a:bodyPr wrap="square" lIns="0" tIns="0" rIns="0" bIns="0" rtlCol="0" anchor="t"/>
          <a:lstStyle/>
          <a:p>
            <a:pPr indent="0" marL="0">
              <a:buNone/>
            </a:pPr>
            <a:r>
              <a:rPr lang="en-US" sz="1400" dirty="0">
                <a:solidFill>
                  <a:schemeClr val="tx2"/>
                </a:solidFill>
              </a:rPr>
              <a:t>GA4 saved exploration: Year month × Platform, metric Views, Platform = web</a:t>
            </a:r>
            <a:endParaRPr lang="en-US" sz="1400" dirty="0"/>
          </a:p>
        </p:txBody>
      </p:sp>
      <p:sp>
        <p:nvSpPr>
          <p:cNvPr id="7" name="Text 5"/>
          <p:cNvSpPr txBox="1"/>
          <p:nvPr/>
        </p:nvSpPr>
        <p:spPr>
          <a:xfrm>
            <a:off x="548640" y="315468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8" name="Text 6"/>
          <p:cNvSpPr txBox="1"/>
          <p:nvPr/>
        </p:nvSpPr>
        <p:spPr>
          <a:xfrm>
            <a:off x="1463040" y="320040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Prebid Reqs</a:t>
            </a:r>
            <a:endParaRPr lang="en-US" sz="1900" dirty="0"/>
          </a:p>
        </p:txBody>
      </p:sp>
      <p:sp>
        <p:nvSpPr>
          <p:cNvPr id="9" name="Text 7"/>
          <p:cNvSpPr txBox="1"/>
          <p:nvPr/>
        </p:nvSpPr>
        <p:spPr>
          <a:xfrm>
            <a:off x="1463040" y="3593592"/>
            <a:ext cx="5486400" cy="548640"/>
          </a:xfrm>
          <a:prstGeom prst="rect">
            <a:avLst/>
          </a:prstGeom>
          <a:noFill/>
          <a:ln/>
        </p:spPr>
        <p:txBody>
          <a:bodyPr wrap="square" lIns="0" tIns="0" rIns="0" bIns="0" rtlCol="0" anchor="t"/>
          <a:lstStyle/>
          <a:p>
            <a:pPr indent="0" marL="0">
              <a:buNone/>
            </a:pPr>
            <a:r>
              <a:rPr lang="en-US" sz="1400" dirty="0">
                <a:solidFill>
                  <a:schemeClr val="tx2"/>
                </a:solidFill>
              </a:rPr>
              <a:t>Open report_YYYY-MM.csv in DV's shared Drive folder (right): one row per day. Sum the Total column for the month.</a:t>
            </a:r>
            <a:endParaRPr lang="en-US" sz="1400" dirty="0"/>
          </a:p>
        </p:txBody>
      </p:sp>
      <p:sp>
        <p:nvSpPr>
          <p:cNvPr id="10" name="Text 8"/>
          <p:cNvSpPr txBox="1"/>
          <p:nvPr/>
        </p:nvSpPr>
        <p:spPr>
          <a:xfrm>
            <a:off x="548640" y="425196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1" name="Text 9"/>
          <p:cNvSpPr txBox="1"/>
          <p:nvPr/>
        </p:nvSpPr>
        <p:spPr>
          <a:xfrm>
            <a:off x="1463040" y="429768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Discrepancy</a:t>
            </a:r>
            <a:endParaRPr lang="en-US" sz="1900" dirty="0"/>
          </a:p>
        </p:txBody>
      </p:sp>
      <p:sp>
        <p:nvSpPr>
          <p:cNvPr id="12" name="Text 10"/>
          <p:cNvSpPr txBox="1"/>
          <p:nvPr/>
        </p:nvSpPr>
        <p:spPr>
          <a:xfrm>
            <a:off x="1463040" y="4690872"/>
            <a:ext cx="5486400" cy="548640"/>
          </a:xfrm>
          <a:prstGeom prst="rect">
            <a:avLst/>
          </a:prstGeom>
          <a:noFill/>
          <a:ln/>
        </p:spPr>
        <p:txBody>
          <a:bodyPr wrap="square" lIns="0" tIns="0" rIns="0" bIns="0" rtlCol="0" anchor="t"/>
          <a:lstStyle/>
          <a:p>
            <a:pPr indent="0" marL="0">
              <a:buNone/>
            </a:pPr>
            <a:r>
              <a:rPr lang="en-US" sz="1400" dirty="0">
                <a:solidFill>
                  <a:schemeClr val="tx2"/>
                </a:solidFill>
              </a:rPr>
              <a:t>Formula already in the sheet. Don't overwrite it</a:t>
            </a:r>
            <a:endParaRPr lang="en-US" sz="1400" dirty="0"/>
          </a:p>
        </p:txBody>
      </p:sp>
      <p:sp>
        <p:nvSpPr>
          <p:cNvPr id="13" name="ga4 card"/>
          <p:cNvSpPr/>
          <p:nvPr/>
        </p:nvSpPr>
        <p:spPr>
          <a:xfrm>
            <a:off x="7040880" y="2057400"/>
            <a:ext cx="4602175" cy="3246120"/>
          </a:xfrm>
          <a:prstGeom prst="rect">
            <a:avLst/>
          </a:prstGeom>
          <a:solidFill>
            <a:schemeClr val="bg2"/>
          </a:solidFill>
          <a:ln w="9525">
            <a:solidFill>
              <a:srgbClr val="E7E0C9"/>
            </a:solidFill>
            <a:prstDash val="solid"/>
          </a:ln>
        </p:spPr>
      </p:sp>
      <p:sp>
        <p:nvSpPr>
          <p:cNvPr id="14" name="Text 12"/>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GA4 SOURCE OF RECORD</a:t>
            </a:r>
            <a:endParaRPr lang="en-US" sz="1200" dirty="0"/>
          </a:p>
        </p:txBody>
      </p:sp>
      <p:sp>
        <p:nvSpPr>
          <p:cNvPr id="15" name="Text 13"/>
          <p:cNvSpPr txBox="1"/>
          <p:nvPr/>
        </p:nvSpPr>
        <p:spPr>
          <a:xfrm>
            <a:off x="7360920" y="2788920"/>
            <a:ext cx="4023360" cy="731520"/>
          </a:xfrm>
          <a:prstGeom prst="rect">
            <a:avLst/>
          </a:prstGeom>
          <a:noFill/>
          <a:ln/>
        </p:spPr>
        <p:txBody>
          <a:bodyPr wrap="square" lIns="0" tIns="0" rIns="0" bIns="0" rtlCol="0" anchor="t"/>
          <a:lstStyle/>
          <a:p>
            <a:pPr indent="0" marL="0">
              <a:buNone/>
            </a:pPr>
            <a:r>
              <a:rPr lang="en-US" sz="1500" dirty="0">
                <a:solidFill>
                  <a:schemeClr val="tx1"/>
                </a:solidFill>
              </a:rPr>
              <a:t>Account 131632414 · property 359317277</a:t>
            </a:r>
            <a:endParaRPr lang="en-US" sz="1500" dirty="0"/>
          </a:p>
          <a:p>
            <a:pPr indent="0" marL="0">
              <a:buNone/>
            </a:pPr>
            <a:r>
              <a:rPr lang="en-US" sz="1500"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saved exploration</a:t>
            </a:r>
            <a:endParaRPr lang="en-US" sz="1500" dirty="0"/>
          </a:p>
        </p:txBody>
      </p:sp>
      <p:sp>
        <p:nvSpPr>
          <p:cNvPr id="16" name="Text 14"/>
          <p:cNvSpPr txBox="1"/>
          <p:nvPr/>
        </p:nvSpPr>
        <p:spPr>
          <a:xfrm>
            <a:off x="7360920" y="3474720"/>
            <a:ext cx="4023360" cy="457200"/>
          </a:xfrm>
          <a:prstGeom prst="rect">
            <a:avLst/>
          </a:prstGeom>
          <a:noFill/>
          <a:ln/>
        </p:spPr>
        <p:txBody>
          <a:bodyPr wrap="square" lIns="0" tIns="0" rIns="0" bIns="0" rtlCol="0" anchor="t"/>
          <a:lstStyle/>
          <a:p>
            <a:pPr indent="0" marL="0">
              <a:buNone/>
            </a:pPr>
            <a:r>
              <a:rPr lang="en-US" sz="1300" dirty="0">
                <a:solidFill>
                  <a:schemeClr val="tx2"/>
                </a:solidFill>
              </a:rPr>
              <a:t>Set the date range to the new month and copy its web Views.</a:t>
            </a:r>
            <a:endParaRPr lang="en-US" sz="1300" dirty="0"/>
          </a:p>
        </p:txBody>
      </p:sp>
      <p:sp>
        <p:nvSpPr>
          <p:cNvPr id="17" name="Text 15"/>
          <p:cNvSpPr txBox="1"/>
          <p:nvPr/>
        </p:nvSpPr>
        <p:spPr>
          <a:xfrm>
            <a:off x="7360920" y="4023360"/>
            <a:ext cx="4114800" cy="274320"/>
          </a:xfrm>
          <a:prstGeom prst="rect">
            <a:avLst/>
          </a:prstGeom>
          <a:noFill/>
          <a:ln/>
        </p:spPr>
        <p:txBody>
          <a:bodyPr wrap="square" lIns="0" tIns="0" rIns="0" bIns="0" rtlCol="0" anchor="t"/>
          <a:lstStyle/>
          <a:p>
            <a:pPr indent="0" marL="0">
              <a:buNone/>
            </a:pPr>
            <a:r>
              <a:rPr lang="en-US" sz="1200" b="1" spc="200" kern="0" dirty="0">
                <a:solidFill>
                  <a:schemeClr val="tx2"/>
                </a:solidFill>
              </a:rPr>
              <a:t>DV PRE-BID SOURCE</a:t>
            </a:r>
            <a:endParaRPr lang="en-US" sz="1200" dirty="0"/>
          </a:p>
        </p:txBody>
      </p:sp>
      <p:sp>
        <p:nvSpPr>
          <p:cNvPr id="18" name="Text 16"/>
          <p:cNvSpPr txBox="1"/>
          <p:nvPr/>
        </p:nvSpPr>
        <p:spPr>
          <a:xfrm>
            <a:off x="7360920" y="4343400"/>
            <a:ext cx="4023360" cy="320040"/>
          </a:xfrm>
          <a:prstGeom prst="rect">
            <a:avLst/>
          </a:prstGeom>
          <a:noFill/>
          <a:ln/>
        </p:spPr>
        <p:txBody>
          <a:bodyPr wrap="square" lIns="0" tIns="0" rIns="0" bIns="0" rtlCol="0" anchor="t"/>
          <a:lstStyle/>
          <a:p>
            <a:pPr indent="0" marL="0">
              <a:buNone/>
            </a:pPr>
            <a:r>
              <a:rPr lang="en-US" sz="1500" u="sng" dirty="0">
                <a:solidFill>
                  <a:schemeClr val="tx1"/>
                </a:solidFill>
                <a:hlinkClick r:id="rId2" invalidUrl="" action="" tgtFrame="" tooltip="" history="1" highlightClick="0" endSnd="0">
                  <a:extLst>
                    <a:ext uri="{A12FA001-AC4F-418D-AE19-62706E023703}">
                      <ahyp:hlinkClr xmlns:ahyp="http://schemas.microsoft.com/office/drawing/2018/hyperlinkcolor" val="tx"/>
                    </a:ext>
                  </a:extLst>
                </a:hlinkClick>
              </a:rPr>
              <a:t>Open the shared DV folder</a:t>
            </a:r>
            <a:endParaRPr lang="en-US" sz="1500" dirty="0"/>
          </a:p>
        </p:txBody>
      </p:sp>
      <p:sp>
        <p:nvSpPr>
          <p:cNvPr id="19" name="Text 17"/>
          <p:cNvSpPr txBox="1"/>
          <p:nvPr/>
        </p:nvSpPr>
        <p:spPr>
          <a:xfrm>
            <a:off x="7360920" y="4709160"/>
            <a:ext cx="4023360" cy="457200"/>
          </a:xfrm>
          <a:prstGeom prst="rect">
            <a:avLst/>
          </a:prstGeom>
          <a:noFill/>
          <a:ln/>
        </p:spPr>
        <p:txBody>
          <a:bodyPr wrap="square" lIns="0" tIns="0" rIns="0" bIns="0" rtlCol="0" anchor="t"/>
          <a:lstStyle/>
          <a:p>
            <a:pPr indent="0" marL="0">
              <a:buNone/>
            </a:pPr>
            <a:r>
              <a:rPr lang="en-US" sz="1200" dirty="0">
                <a:solidFill>
                  <a:schemeClr val="tx2"/>
                </a:solidFill>
              </a:rPr>
              <a:t>Folder: TAG Certification [Client Shared Folder]. Checked: the Total sums match the workbook exactly, Apr–Sep 2026.</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04</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4 · Quarter math</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Roll months into quarters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4 · ROLL MONTHS INTO QUARTERS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Weight SIVT by impressions, never average</a:t>
            </a:r>
            <a:endParaRPr lang="en-US" sz="3400" dirty="0"/>
          </a:p>
        </p:txBody>
      </p:sp>
      <p:sp>
        <p:nvSpPr>
          <p:cNvPr id="4" name="formula 1"/>
          <p:cNvSpPr/>
          <p:nvPr/>
        </p:nvSpPr>
        <p:spPr>
          <a:xfrm>
            <a:off x="548640" y="2057400"/>
            <a:ext cx="5669280" cy="960120"/>
          </a:xfrm>
          <a:prstGeom prst="rect">
            <a:avLst/>
          </a:prstGeom>
          <a:solidFill>
            <a:schemeClr val="bg1"/>
          </a:solidFill>
          <a:ln w="9525">
            <a:solidFill>
              <a:srgbClr val="E7E0C9"/>
            </a:solidFill>
            <a:prstDash val="solid"/>
          </a:ln>
        </p:spPr>
      </p:sp>
      <p:sp>
        <p:nvSpPr>
          <p:cNvPr id="5" name="Text 3"/>
          <p:cNvSpPr txBox="1"/>
          <p:nvPr/>
        </p:nvSpPr>
        <p:spPr>
          <a:xfrm>
            <a:off x="822960" y="2194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QUARTER SIVT</a:t>
            </a:r>
            <a:endParaRPr lang="en-US" sz="1100" dirty="0"/>
          </a:p>
        </p:txBody>
      </p:sp>
      <p:sp>
        <p:nvSpPr>
          <p:cNvPr id="6" name="Text 4"/>
          <p:cNvSpPr txBox="1"/>
          <p:nvPr/>
        </p:nvSpPr>
        <p:spPr>
          <a:xfrm>
            <a:off x="822960" y="2441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Σ(DV post-bid impressions × SIVT Rate) ÷ Σ DV post-bid impressions</a:t>
            </a:r>
            <a:endParaRPr lang="en-US" sz="1400" dirty="0"/>
          </a:p>
        </p:txBody>
      </p:sp>
      <p:sp>
        <p:nvSpPr>
          <p:cNvPr id="7" name="formula 2"/>
          <p:cNvSpPr/>
          <p:nvPr/>
        </p:nvSpPr>
        <p:spPr>
          <a:xfrm>
            <a:off x="548640" y="3200400"/>
            <a:ext cx="5669280" cy="960120"/>
          </a:xfrm>
          <a:prstGeom prst="rect">
            <a:avLst/>
          </a:prstGeom>
          <a:solidFill>
            <a:schemeClr val="bg1"/>
          </a:solidFill>
          <a:ln w="9525">
            <a:solidFill>
              <a:srgbClr val="E7E0C9"/>
            </a:solidFill>
            <a:prstDash val="solid"/>
          </a:ln>
        </p:spPr>
      </p:sp>
      <p:sp>
        <p:nvSpPr>
          <p:cNvPr id="8" name="Text 6"/>
          <p:cNvSpPr txBox="1"/>
          <p:nvPr/>
        </p:nvSpPr>
        <p:spPr>
          <a:xfrm>
            <a:off x="822960" y="3337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OVERALL SIVT</a:t>
            </a:r>
            <a:endParaRPr lang="en-US" sz="1100" dirty="0"/>
          </a:p>
        </p:txBody>
      </p:sp>
      <p:sp>
        <p:nvSpPr>
          <p:cNvPr id="9" name="Text 7"/>
          <p:cNvSpPr txBox="1"/>
          <p:nvPr/>
        </p:nvSpPr>
        <p:spPr>
          <a:xfrm>
            <a:off x="822960" y="3584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The same, with display and video summed together</a:t>
            </a:r>
            <a:endParaRPr lang="en-US" sz="1400" dirty="0"/>
          </a:p>
        </p:txBody>
      </p:sp>
      <p:sp>
        <p:nvSpPr>
          <p:cNvPr id="10" name="formula 3"/>
          <p:cNvSpPr/>
          <p:nvPr/>
        </p:nvSpPr>
        <p:spPr>
          <a:xfrm>
            <a:off x="548640" y="4343400"/>
            <a:ext cx="5669280" cy="960120"/>
          </a:xfrm>
          <a:prstGeom prst="rect">
            <a:avLst/>
          </a:prstGeom>
          <a:solidFill>
            <a:schemeClr val="bg1"/>
          </a:solidFill>
          <a:ln w="9525">
            <a:solidFill>
              <a:srgbClr val="E7E0C9"/>
            </a:solidFill>
            <a:prstDash val="solid"/>
          </a:ln>
        </p:spPr>
      </p:sp>
      <p:sp>
        <p:nvSpPr>
          <p:cNvPr id="11" name="Text 9"/>
          <p:cNvSpPr txBox="1"/>
          <p:nvPr/>
        </p:nvSpPr>
        <p:spPr>
          <a:xfrm>
            <a:off x="822960" y="4480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DISCREPANCY</a:t>
            </a:r>
            <a:endParaRPr lang="en-US" sz="1100" dirty="0"/>
          </a:p>
        </p:txBody>
      </p:sp>
      <p:sp>
        <p:nvSpPr>
          <p:cNvPr id="12" name="Text 10"/>
          <p:cNvSpPr txBox="1"/>
          <p:nvPr/>
        </p:nvSpPr>
        <p:spPr>
          <a:xfrm>
            <a:off x="822960" y="4727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 pageviews − Σ pre-bid) ÷ Σ pageviews</a:t>
            </a:r>
            <a:endParaRPr lang="en-US" sz="1400" dirty="0"/>
          </a:p>
        </p:txBody>
      </p:sp>
      <p:sp>
        <p:nvSpPr>
          <p:cNvPr id="13" name="worked example"/>
          <p:cNvSpPr/>
          <p:nvPr/>
        </p:nvSpPr>
        <p:spPr>
          <a:xfrm>
            <a:off x="6675120" y="2057400"/>
            <a:ext cx="4967935" cy="3429000"/>
          </a:xfrm>
          <a:prstGeom prst="rect">
            <a:avLst/>
          </a:prstGeom>
          <a:solidFill>
            <a:schemeClr val="tx1"/>
          </a:solidFill>
          <a:ln w="9525">
            <a:solidFill>
              <a:srgbClr val="E7E0C9"/>
            </a:solidFill>
            <a:prstDash val="solid"/>
          </a:ln>
        </p:spPr>
      </p:sp>
      <p:sp>
        <p:nvSpPr>
          <p:cNvPr id="14" name="Text 12"/>
          <p:cNvSpPr txBox="1"/>
          <p:nvPr/>
        </p:nvSpPr>
        <p:spPr>
          <a:xfrm>
            <a:off x="6995160" y="2331720"/>
            <a:ext cx="4572000" cy="274320"/>
          </a:xfrm>
          <a:prstGeom prst="rect">
            <a:avLst/>
          </a:prstGeom>
          <a:noFill/>
          <a:ln/>
        </p:spPr>
        <p:txBody>
          <a:bodyPr wrap="square" lIns="0" tIns="0" rIns="0" bIns="0" rtlCol="0" anchor="t"/>
          <a:lstStyle/>
          <a:p>
            <a:pPr indent="0" marL="0">
              <a:buNone/>
            </a:pPr>
            <a:r>
              <a:rPr lang="en-US" sz="1100" b="1" spc="200" kern="0" dirty="0">
                <a:solidFill>
                  <a:schemeClr val="bg2"/>
                </a:solidFill>
              </a:rPr>
              <a:t>WORKED EXAMPLE · Q3 2026 DISPLAY SIVT</a:t>
            </a:r>
            <a:endParaRPr lang="en-US" sz="1100" dirty="0"/>
          </a:p>
        </p:txBody>
      </p:sp>
      <p:sp>
        <p:nvSpPr>
          <p:cNvPr id="15" name="Text 13"/>
          <p:cNvSpPr txBox="1"/>
          <p:nvPr/>
        </p:nvSpPr>
        <p:spPr>
          <a:xfrm>
            <a:off x="6995160" y="2743200"/>
            <a:ext cx="4572000" cy="1463040"/>
          </a:xfrm>
          <a:prstGeom prst="rect">
            <a:avLst/>
          </a:prstGeom>
          <a:noFill/>
          <a:ln/>
        </p:spPr>
        <p:txBody>
          <a:bodyPr wrap="square" lIns="0" tIns="0" rIns="0" bIns="0" rtlCol="0" anchor="t"/>
          <a:lstStyle/>
          <a:p>
            <a:pPr indent="0" marL="0">
              <a:buNone/>
            </a:pPr>
            <a:r>
              <a:rPr lang="en-US" sz="1500" dirty="0">
                <a:solidFill>
                  <a:schemeClr val="bg1"/>
                </a:solidFill>
                <a:latin typeface="Arial" pitchFamily="34" charset="0"/>
                <a:ea typeface="Arial" pitchFamily="34" charset="-122"/>
                <a:cs typeface="Arial" pitchFamily="34" charset="-120"/>
              </a:rPr>
              <a:t>Jul  193.4M × 0.04% = 77.4K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Aug  194.6M × 0.04% = 77.8K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Sep  241.9M × 0.06% = 145.1K</a:t>
            </a:r>
            <a:endParaRPr lang="en-US" sz="1500" dirty="0"/>
          </a:p>
          <a:p>
            <a:pPr indent="0" marL="0">
              <a:buNone/>
            </a:pPr>
            <a:r>
              <a:rPr lang="en-US" sz="1500" b="1" dirty="0">
                <a:solidFill>
                  <a:schemeClr val="bg1"/>
                </a:solidFill>
                <a:latin typeface="Arial" pitchFamily="34" charset="0"/>
                <a:ea typeface="Arial" pitchFamily="34" charset="-122"/>
                <a:cs typeface="Arial" pitchFamily="34" charset="-120"/>
              </a:rPr>
              <a:t>300.3K ÷ 629.9M = 0.048% → 0.05%</a:t>
            </a:r>
            <a:endParaRPr lang="en-US" sz="1500" dirty="0"/>
          </a:p>
        </p:txBody>
      </p:sp>
      <p:sp>
        <p:nvSpPr>
          <p:cNvPr id="16" name="Text 14"/>
          <p:cNvSpPr txBox="1"/>
          <p:nvPr/>
        </p:nvSpPr>
        <p:spPr>
          <a:xfrm>
            <a:off x="6995160" y="4297680"/>
            <a:ext cx="4572000" cy="1005840"/>
          </a:xfrm>
          <a:prstGeom prst="rect">
            <a:avLst/>
          </a:prstGeom>
          <a:noFill/>
          <a:ln/>
        </p:spPr>
        <p:txBody>
          <a:bodyPr wrap="square" lIns="0" tIns="0" rIns="0" bIns="0" rtlCol="0" anchor="t"/>
          <a:lstStyle/>
          <a:p>
            <a:pPr indent="0" marL="0">
              <a:buNone/>
            </a:pPr>
            <a:r>
              <a:rPr lang="en-US" sz="1300" dirty="0">
                <a:solidFill>
                  <a:schemeClr val="bg2"/>
                </a:solidFill>
              </a:rPr>
              <a:t>The busiest month counts most. A plain average of the three rates (0.047%) treats a small month the same as a big one, which is why it's never used.</a:t>
            </a:r>
            <a:endParaRPr lang="en-US" sz="1300" dirty="0"/>
          </a:p>
        </p:txBody>
      </p:sp>
      <p:sp>
        <p:nvSpPr>
          <p:cNvPr id="17" name="Text 15"/>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300" i="1" dirty="0">
                <a:solidFill>
                  <a:schemeClr val="tx2"/>
                </a:solidFill>
              </a:rPr>
              <a:t>Every month, recompute the current quarter (quarter-to-date until its third month is in) and the YTD row.</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05</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5 · Build the deck</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Refresh the report and check it before it goes to TAG</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REFRESH THE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Four slides change every month</a:t>
            </a:r>
            <a:endParaRPr lang="en-US" sz="3400" dirty="0"/>
          </a:p>
        </p:txBody>
      </p:sp>
      <p:sp>
        <p:nvSpPr>
          <p:cNvPr id="4" name="check 1"/>
          <p:cNvSpPr/>
          <p:nvPr/>
        </p:nvSpPr>
        <p:spPr>
          <a:xfrm>
            <a:off x="548640" y="2057400"/>
            <a:ext cx="5364328" cy="1645920"/>
          </a:xfrm>
          <a:prstGeom prst="rect">
            <a:avLst/>
          </a:prstGeom>
          <a:solidFill>
            <a:schemeClr val="bg1"/>
          </a:solidFill>
          <a:ln w="9525">
            <a:solidFill>
              <a:srgbClr val="E7E0C9"/>
            </a:solidFill>
            <a:prstDash val="solid"/>
          </a:ln>
        </p:spPr>
      </p:sp>
      <p:sp>
        <p:nvSpPr>
          <p:cNvPr id="5" name="Text 3"/>
          <p:cNvSpPr txBox="1"/>
          <p:nvPr/>
        </p:nvSpPr>
        <p:spPr>
          <a:xfrm>
            <a:off x="822960"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COVER</a:t>
            </a:r>
            <a:endParaRPr lang="en-US" sz="1100" dirty="0"/>
          </a:p>
        </p:txBody>
      </p:sp>
      <p:sp>
        <p:nvSpPr>
          <p:cNvPr id="6" name="Text 4"/>
          <p:cNvSpPr txBox="1"/>
          <p:nvPr/>
        </p:nvSpPr>
        <p:spPr>
          <a:xfrm>
            <a:off x="2011680"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Title year</a:t>
            </a:r>
            <a:endParaRPr lang="en-US" sz="1800" dirty="0"/>
          </a:p>
        </p:txBody>
      </p:sp>
      <p:sp>
        <p:nvSpPr>
          <p:cNvPr id="7" name="Text 5"/>
          <p:cNvSpPr txBox="1"/>
          <p:nvPr/>
        </p:nvSpPr>
        <p:spPr>
          <a:xfrm>
            <a:off x="2011680"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Confirm the year on the cover.</a:t>
            </a:r>
            <a:endParaRPr lang="en-US" sz="1300" dirty="0"/>
          </a:p>
        </p:txBody>
      </p:sp>
      <p:sp>
        <p:nvSpPr>
          <p:cNvPr id="8" name="check 2"/>
          <p:cNvSpPr/>
          <p:nvPr/>
        </p:nvSpPr>
        <p:spPr>
          <a:xfrm>
            <a:off x="6278728" y="2057400"/>
            <a:ext cx="5364328" cy="1645920"/>
          </a:xfrm>
          <a:prstGeom prst="rect">
            <a:avLst/>
          </a:prstGeom>
          <a:solidFill>
            <a:schemeClr val="bg1"/>
          </a:solidFill>
          <a:ln w="9525">
            <a:solidFill>
              <a:srgbClr val="E7E0C9"/>
            </a:solidFill>
            <a:prstDash val="solid"/>
          </a:ln>
        </p:spPr>
      </p:sp>
      <p:sp>
        <p:nvSpPr>
          <p:cNvPr id="9" name="Text 7"/>
          <p:cNvSpPr txBox="1"/>
          <p:nvPr/>
        </p:nvSpPr>
        <p:spPr>
          <a:xfrm>
            <a:off x="6553048"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PRE-BID</a:t>
            </a:r>
            <a:endParaRPr lang="en-US" sz="1100" dirty="0"/>
          </a:p>
        </p:txBody>
      </p:sp>
      <p:sp>
        <p:nvSpPr>
          <p:cNvPr id="10" name="Text 8"/>
          <p:cNvSpPr txBox="1"/>
          <p:nvPr/>
        </p:nvSpPr>
        <p:spPr>
          <a:xfrm>
            <a:off x="7741768"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GA4 vs DV pre-bid</a:t>
            </a:r>
            <a:endParaRPr lang="en-US" sz="1800" dirty="0"/>
          </a:p>
        </p:txBody>
      </p:sp>
      <p:sp>
        <p:nvSpPr>
          <p:cNvPr id="11" name="Text 9"/>
          <p:cNvSpPr txBox="1"/>
          <p:nvPr/>
        </p:nvSpPr>
        <p:spPr>
          <a:xfrm>
            <a:off x="7741768"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Rebuild as the by-month and by-quarter tables shown earlier. Discrepancy = (pageviews − DV pre-bid) ÷ pageviews; the 2026 Q1–Q2 report divided by DV, so restate those.</a:t>
            </a:r>
            <a:endParaRPr lang="en-US" sz="1300" dirty="0"/>
          </a:p>
        </p:txBody>
      </p:sp>
      <p:sp>
        <p:nvSpPr>
          <p:cNvPr id="12" name="check 3"/>
          <p:cNvSpPr/>
          <p:nvPr/>
        </p:nvSpPr>
        <p:spPr>
          <a:xfrm>
            <a:off x="548640" y="3931920"/>
            <a:ext cx="5364328" cy="1645920"/>
          </a:xfrm>
          <a:prstGeom prst="rect">
            <a:avLst/>
          </a:prstGeom>
          <a:solidFill>
            <a:schemeClr val="bg1"/>
          </a:solidFill>
          <a:ln w="9525">
            <a:solidFill>
              <a:srgbClr val="E7E0C9"/>
            </a:solidFill>
            <a:prstDash val="solid"/>
          </a:ln>
        </p:spPr>
      </p:sp>
      <p:sp>
        <p:nvSpPr>
          <p:cNvPr id="13" name="Text 11"/>
          <p:cNvSpPr txBox="1"/>
          <p:nvPr/>
        </p:nvSpPr>
        <p:spPr>
          <a:xfrm>
            <a:off x="822960"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CHANGES</a:t>
            </a:r>
            <a:endParaRPr lang="en-US" sz="1100" dirty="0"/>
          </a:p>
        </p:txBody>
      </p:sp>
      <p:sp>
        <p:nvSpPr>
          <p:cNvPr id="14" name="Text 12"/>
          <p:cNvSpPr txBox="1"/>
          <p:nvPr/>
        </p:nvSpPr>
        <p:spPr>
          <a:xfrm>
            <a:off x="2011680"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Key changes</a:t>
            </a:r>
            <a:endParaRPr lang="en-US" sz="1800" dirty="0"/>
          </a:p>
        </p:txBody>
      </p:sp>
      <p:sp>
        <p:nvSpPr>
          <p:cNvPr id="15" name="Text 13"/>
          <p:cNvSpPr txBox="1"/>
          <p:nvPr/>
        </p:nvSpPr>
        <p:spPr>
          <a:xfrm>
            <a:off x="2011680"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Anything that moved traffic or measurement this month: replatforming, a new video player, a vendor or threshold change.</a:t>
            </a:r>
            <a:endParaRPr lang="en-US" sz="1300" dirty="0"/>
          </a:p>
        </p:txBody>
      </p:sp>
      <p:sp>
        <p:nvSpPr>
          <p:cNvPr id="16" name="check 4"/>
          <p:cNvSpPr/>
          <p:nvPr/>
        </p:nvSpPr>
        <p:spPr>
          <a:xfrm>
            <a:off x="6278728" y="3931920"/>
            <a:ext cx="5364328" cy="1645920"/>
          </a:xfrm>
          <a:prstGeom prst="rect">
            <a:avLst/>
          </a:prstGeom>
          <a:solidFill>
            <a:schemeClr val="bg1"/>
          </a:solidFill>
          <a:ln w="9525">
            <a:solidFill>
              <a:srgbClr val="E7E0C9"/>
            </a:solidFill>
            <a:prstDash val="solid"/>
          </a:ln>
        </p:spPr>
      </p:sp>
      <p:sp>
        <p:nvSpPr>
          <p:cNvPr id="17" name="Text 15"/>
          <p:cNvSpPr txBox="1"/>
          <p:nvPr/>
        </p:nvSpPr>
        <p:spPr>
          <a:xfrm>
            <a:off x="6553048"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SIVT</a:t>
            </a:r>
            <a:endParaRPr lang="en-US" sz="1100" dirty="0"/>
          </a:p>
        </p:txBody>
      </p:sp>
      <p:sp>
        <p:nvSpPr>
          <p:cNvPr id="18" name="Text 16"/>
          <p:cNvSpPr txBox="1"/>
          <p:nvPr/>
        </p:nvSpPr>
        <p:spPr>
          <a:xfrm>
            <a:off x="7741768"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SIVT by month and quarter</a:t>
            </a:r>
            <a:endParaRPr lang="en-US" sz="1800" dirty="0"/>
          </a:p>
        </p:txBody>
      </p:sp>
      <p:sp>
        <p:nvSpPr>
          <p:cNvPr id="19" name="Text 17"/>
          <p:cNvSpPr txBox="1"/>
          <p:nvPr/>
        </p:nvSpPr>
        <p:spPr>
          <a:xfrm>
            <a:off x="7741768"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Overall, display and video, weighted by DV post-bid impressions (Step 4). Q4 stays blank until December closes.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BEFORE YOU SEND IT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Final checklist</a:t>
            </a:r>
            <a:endParaRPr lang="en-US" sz="3400" dirty="0"/>
          </a:p>
        </p:txBody>
      </p:sp>
      <p:sp>
        <p:nvSpPr>
          <p:cNvPr id="4" name="final 1"/>
          <p:cNvSpPr/>
          <p:nvPr/>
        </p:nvSpPr>
        <p:spPr>
          <a:xfrm>
            <a:off x="548640" y="1874520"/>
            <a:ext cx="11094415" cy="530352"/>
          </a:xfrm>
          <a:prstGeom prst="rect">
            <a:avLst/>
          </a:prstGeom>
          <a:solidFill>
            <a:schemeClr val="bg1"/>
          </a:solidFill>
          <a:ln w="9525">
            <a:solidFill>
              <a:srgbClr val="E7E0C9"/>
            </a:solidFill>
            <a:prstDash val="solid"/>
          </a:ln>
        </p:spPr>
      </p:sp>
      <p:sp>
        <p:nvSpPr>
          <p:cNvPr id="5" name="box 1"/>
          <p:cNvSpPr/>
          <p:nvPr/>
        </p:nvSpPr>
        <p:spPr>
          <a:xfrm>
            <a:off x="777240" y="2029968"/>
            <a:ext cx="219456" cy="219456"/>
          </a:xfrm>
          <a:prstGeom prst="rect">
            <a:avLst/>
          </a:prstGeom>
          <a:solidFill>
            <a:schemeClr val="bg1"/>
          </a:solidFill>
          <a:ln w="15875">
            <a:solidFill>
              <a:srgbClr val="1F1E19"/>
            </a:solidFill>
            <a:prstDash val="solid"/>
          </a:ln>
        </p:spPr>
      </p:sp>
      <p:sp>
        <p:nvSpPr>
          <p:cNvPr id="6" name="Text 4"/>
          <p:cNvSpPr txBox="1"/>
          <p:nvPr/>
        </p:nvSpPr>
        <p:spPr>
          <a:xfrm>
            <a:off x="1234440" y="1929384"/>
            <a:ext cx="10058400" cy="420624"/>
          </a:xfrm>
          <a:prstGeom prst="rect">
            <a:avLst/>
          </a:prstGeom>
          <a:noFill/>
          <a:ln/>
        </p:spPr>
        <p:txBody>
          <a:bodyPr wrap="square" lIns="0" tIns="0" rIns="0" bIns="0" rtlCol="0" anchor="ctr"/>
          <a:lstStyle/>
          <a:p>
            <a:pPr indent="0" marL="0">
              <a:buNone/>
            </a:pPr>
            <a:r>
              <a:rPr lang="en-US" sz="1400" dirty="0">
                <a:solidFill>
                  <a:schemeClr val="tx1"/>
                </a:solidFill>
              </a:rPr>
              <a:t>Both workbooks have the new month, display and video, and the Totals rows recalculate</a:t>
            </a:r>
            <a:endParaRPr lang="en-US" sz="1400" dirty="0"/>
          </a:p>
        </p:txBody>
      </p:sp>
      <p:sp>
        <p:nvSpPr>
          <p:cNvPr id="7" name="final 2"/>
          <p:cNvSpPr/>
          <p:nvPr/>
        </p:nvSpPr>
        <p:spPr>
          <a:xfrm>
            <a:off x="548640" y="2496312"/>
            <a:ext cx="11094415" cy="530352"/>
          </a:xfrm>
          <a:prstGeom prst="rect">
            <a:avLst/>
          </a:prstGeom>
          <a:solidFill>
            <a:schemeClr val="bg1"/>
          </a:solidFill>
          <a:ln w="9525">
            <a:solidFill>
              <a:srgbClr val="E7E0C9"/>
            </a:solidFill>
            <a:prstDash val="solid"/>
          </a:ln>
        </p:spPr>
      </p:sp>
      <p:sp>
        <p:nvSpPr>
          <p:cNvPr id="8" name="box 2"/>
          <p:cNvSpPr/>
          <p:nvPr/>
        </p:nvSpPr>
        <p:spPr>
          <a:xfrm>
            <a:off x="777240" y="2651760"/>
            <a:ext cx="219456" cy="219456"/>
          </a:xfrm>
          <a:prstGeom prst="rect">
            <a:avLst/>
          </a:prstGeom>
          <a:solidFill>
            <a:schemeClr val="bg1"/>
          </a:solidFill>
          <a:ln w="15875">
            <a:solidFill>
              <a:srgbClr val="1F1E19"/>
            </a:solidFill>
            <a:prstDash val="solid"/>
          </a:ln>
        </p:spPr>
      </p:sp>
      <p:sp>
        <p:nvSpPr>
          <p:cNvPr id="9" name="Text 7"/>
          <p:cNvSpPr txBox="1"/>
          <p:nvPr/>
        </p:nvSpPr>
        <p:spPr>
          <a:xfrm>
            <a:off x="1234440" y="2551176"/>
            <a:ext cx="10058400" cy="420624"/>
          </a:xfrm>
          <a:prstGeom prst="rect">
            <a:avLst/>
          </a:prstGeom>
          <a:noFill/>
          <a:ln/>
        </p:spPr>
        <p:txBody>
          <a:bodyPr wrap="square" lIns="0" tIns="0" rIns="0" bIns="0" rtlCol="0" anchor="ctr"/>
          <a:lstStyle/>
          <a:p>
            <a:pPr indent="0" marL="0">
              <a:buNone/>
            </a:pPr>
            <a:r>
              <a:rPr lang="en-US" sz="1400" dirty="0">
                <a:solidFill>
                  <a:schemeClr val="tx1"/>
                </a:solidFill>
              </a:rPr>
              <a:t>Ad Exchange is the full figure every month; video includes In-stream video or audio</a:t>
            </a:r>
            <a:endParaRPr lang="en-US" sz="1400" dirty="0"/>
          </a:p>
        </p:txBody>
      </p:sp>
      <p:sp>
        <p:nvSpPr>
          <p:cNvPr id="10" name="final 3"/>
          <p:cNvSpPr/>
          <p:nvPr/>
        </p:nvSpPr>
        <p:spPr>
          <a:xfrm>
            <a:off x="548640" y="3118104"/>
            <a:ext cx="11094415" cy="530352"/>
          </a:xfrm>
          <a:prstGeom prst="rect">
            <a:avLst/>
          </a:prstGeom>
          <a:solidFill>
            <a:schemeClr val="bg1"/>
          </a:solidFill>
          <a:ln w="9525">
            <a:solidFill>
              <a:srgbClr val="E7E0C9"/>
            </a:solidFill>
            <a:prstDash val="solid"/>
          </a:ln>
        </p:spPr>
      </p:sp>
      <p:sp>
        <p:nvSpPr>
          <p:cNvPr id="11" name="box 3"/>
          <p:cNvSpPr/>
          <p:nvPr/>
        </p:nvSpPr>
        <p:spPr>
          <a:xfrm>
            <a:off x="777240" y="3273552"/>
            <a:ext cx="219456" cy="219456"/>
          </a:xfrm>
          <a:prstGeom prst="rect">
            <a:avLst/>
          </a:prstGeom>
          <a:solidFill>
            <a:schemeClr val="bg1"/>
          </a:solidFill>
          <a:ln w="15875">
            <a:solidFill>
              <a:srgbClr val="1F1E19"/>
            </a:solidFill>
            <a:prstDash val="solid"/>
          </a:ln>
        </p:spPr>
      </p:sp>
      <p:sp>
        <p:nvSpPr>
          <p:cNvPr id="12" name="Text 10"/>
          <p:cNvSpPr txBox="1"/>
          <p:nvPr/>
        </p:nvSpPr>
        <p:spPr>
          <a:xfrm>
            <a:off x="1234440" y="3172968"/>
            <a:ext cx="10058400" cy="420624"/>
          </a:xfrm>
          <a:prstGeom prst="rect">
            <a:avLst/>
          </a:prstGeom>
          <a:noFill/>
          <a:ln/>
        </p:spPr>
        <p:txBody>
          <a:bodyPr wrap="square" lIns="0" tIns="0" rIns="0" bIns="0" rtlCol="0" anchor="ctr"/>
          <a:lstStyle/>
          <a:p>
            <a:pPr indent="0" marL="0">
              <a:buNone/>
            </a:pPr>
            <a:r>
              <a:rPr lang="en-US" sz="1400" dirty="0">
                <a:solidFill>
                  <a:schemeClr val="tx1"/>
                </a:solidFill>
              </a:rPr>
              <a:t>Discrepancies look like last month's. A jump of more than a few points gets an explanation on the Key changes slide</a:t>
            </a:r>
            <a:endParaRPr lang="en-US" sz="1400" dirty="0"/>
          </a:p>
        </p:txBody>
      </p:sp>
      <p:sp>
        <p:nvSpPr>
          <p:cNvPr id="13" name="final 4"/>
          <p:cNvSpPr/>
          <p:nvPr/>
        </p:nvSpPr>
        <p:spPr>
          <a:xfrm>
            <a:off x="548640" y="3739896"/>
            <a:ext cx="11094415" cy="530352"/>
          </a:xfrm>
          <a:prstGeom prst="rect">
            <a:avLst/>
          </a:prstGeom>
          <a:solidFill>
            <a:schemeClr val="bg1"/>
          </a:solidFill>
          <a:ln w="9525">
            <a:solidFill>
              <a:srgbClr val="E7E0C9"/>
            </a:solidFill>
            <a:prstDash val="solid"/>
          </a:ln>
        </p:spPr>
      </p:sp>
      <p:sp>
        <p:nvSpPr>
          <p:cNvPr id="14" name="box 4"/>
          <p:cNvSpPr/>
          <p:nvPr/>
        </p:nvSpPr>
        <p:spPr>
          <a:xfrm>
            <a:off x="777240" y="3895344"/>
            <a:ext cx="219456" cy="219456"/>
          </a:xfrm>
          <a:prstGeom prst="rect">
            <a:avLst/>
          </a:prstGeom>
          <a:solidFill>
            <a:schemeClr val="bg1"/>
          </a:solidFill>
          <a:ln w="15875">
            <a:solidFill>
              <a:srgbClr val="1F1E19"/>
            </a:solidFill>
            <a:prstDash val="solid"/>
          </a:ln>
        </p:spPr>
      </p:sp>
      <p:sp>
        <p:nvSpPr>
          <p:cNvPr id="15" name="Text 13"/>
          <p:cNvSpPr txBox="1"/>
          <p:nvPr/>
        </p:nvSpPr>
        <p:spPr>
          <a:xfrm>
            <a:off x="1234440" y="3794760"/>
            <a:ext cx="10058400" cy="420624"/>
          </a:xfrm>
          <a:prstGeom prst="rect">
            <a:avLst/>
          </a:prstGeom>
          <a:noFill/>
          <a:ln/>
        </p:spPr>
        <p:txBody>
          <a:bodyPr wrap="square" lIns="0" tIns="0" rIns="0" bIns="0" rtlCol="0" anchor="ctr"/>
          <a:lstStyle/>
          <a:p>
            <a:pPr indent="0" marL="0">
              <a:buNone/>
            </a:pPr>
            <a:r>
              <a:rPr lang="en-US" sz="1400" dirty="0">
                <a:solidFill>
                  <a:schemeClr val="tx1"/>
                </a:solidFill>
              </a:rPr>
              <a:t>SIVT is impression-weighted and under the 1% goal</a:t>
            </a:r>
            <a:endParaRPr lang="en-US" sz="1400" dirty="0"/>
          </a:p>
        </p:txBody>
      </p:sp>
      <p:sp>
        <p:nvSpPr>
          <p:cNvPr id="16" name="final 5"/>
          <p:cNvSpPr/>
          <p:nvPr/>
        </p:nvSpPr>
        <p:spPr>
          <a:xfrm>
            <a:off x="548640" y="4361688"/>
            <a:ext cx="11094415" cy="530352"/>
          </a:xfrm>
          <a:prstGeom prst="rect">
            <a:avLst/>
          </a:prstGeom>
          <a:solidFill>
            <a:schemeClr val="bg1"/>
          </a:solidFill>
          <a:ln w="9525">
            <a:solidFill>
              <a:srgbClr val="E7E0C9"/>
            </a:solidFill>
            <a:prstDash val="solid"/>
          </a:ln>
        </p:spPr>
      </p:sp>
      <p:sp>
        <p:nvSpPr>
          <p:cNvPr id="17" name="box 5"/>
          <p:cNvSpPr/>
          <p:nvPr/>
        </p:nvSpPr>
        <p:spPr>
          <a:xfrm>
            <a:off x="777240" y="4517136"/>
            <a:ext cx="219456" cy="219456"/>
          </a:xfrm>
          <a:prstGeom prst="rect">
            <a:avLst/>
          </a:prstGeom>
          <a:solidFill>
            <a:schemeClr val="bg1"/>
          </a:solidFill>
          <a:ln w="15875">
            <a:solidFill>
              <a:srgbClr val="1F1E19"/>
            </a:solidFill>
            <a:prstDash val="solid"/>
          </a:ln>
        </p:spPr>
      </p:sp>
      <p:sp>
        <p:nvSpPr>
          <p:cNvPr id="18" name="Text 16"/>
          <p:cNvSpPr txBox="1"/>
          <p:nvPr/>
        </p:nvSpPr>
        <p:spPr>
          <a:xfrm>
            <a:off x="1234440" y="4416552"/>
            <a:ext cx="10058400" cy="420624"/>
          </a:xfrm>
          <a:prstGeom prst="rect">
            <a:avLst/>
          </a:prstGeom>
          <a:noFill/>
          <a:ln/>
        </p:spPr>
        <p:txBody>
          <a:bodyPr wrap="square" lIns="0" tIns="0" rIns="0" bIns="0" rtlCol="0" anchor="ctr"/>
          <a:lstStyle/>
          <a:p>
            <a:pPr indent="0" marL="0">
              <a:buNone/>
            </a:pPr>
            <a:r>
              <a:rPr lang="en-US" sz="1400" dirty="0">
                <a:solidFill>
                  <a:schemeClr val="tx1"/>
                </a:solidFill>
              </a:rPr>
              <a:t>Every footnote names the year and the months covered (e.g. 2026 YTD Jan–Sep)</a:t>
            </a:r>
            <a:endParaRPr lang="en-US" sz="1400" dirty="0"/>
          </a:p>
        </p:txBody>
      </p:sp>
      <p:sp>
        <p:nvSpPr>
          <p:cNvPr id="19" name="final 6"/>
          <p:cNvSpPr/>
          <p:nvPr/>
        </p:nvSpPr>
        <p:spPr>
          <a:xfrm>
            <a:off x="548640" y="4983480"/>
            <a:ext cx="11094415" cy="530352"/>
          </a:xfrm>
          <a:prstGeom prst="rect">
            <a:avLst/>
          </a:prstGeom>
          <a:solidFill>
            <a:schemeClr val="bg1"/>
          </a:solidFill>
          <a:ln w="9525">
            <a:solidFill>
              <a:srgbClr val="E7E0C9"/>
            </a:solidFill>
            <a:prstDash val="solid"/>
          </a:ln>
        </p:spPr>
      </p:sp>
      <p:sp>
        <p:nvSpPr>
          <p:cNvPr id="20" name="box 6"/>
          <p:cNvSpPr/>
          <p:nvPr/>
        </p:nvSpPr>
        <p:spPr>
          <a:xfrm>
            <a:off x="777240" y="5138928"/>
            <a:ext cx="219456" cy="219456"/>
          </a:xfrm>
          <a:prstGeom prst="rect">
            <a:avLst/>
          </a:prstGeom>
          <a:solidFill>
            <a:schemeClr val="bg1"/>
          </a:solidFill>
          <a:ln w="15875">
            <a:solidFill>
              <a:srgbClr val="1F1E19"/>
            </a:solidFill>
            <a:prstDash val="solid"/>
          </a:ln>
        </p:spPr>
      </p:sp>
      <p:sp>
        <p:nvSpPr>
          <p:cNvPr id="21" name="Text 19"/>
          <p:cNvSpPr txBox="1"/>
          <p:nvPr/>
        </p:nvSpPr>
        <p:spPr>
          <a:xfrm>
            <a:off x="1234440" y="5038344"/>
            <a:ext cx="10058400" cy="420624"/>
          </a:xfrm>
          <a:prstGeom prst="rect">
            <a:avLst/>
          </a:prstGeom>
          <a:noFill/>
          <a:ln/>
        </p:spPr>
        <p:txBody>
          <a:bodyPr wrap="square" lIns="0" tIns="0" rIns="0" bIns="0" rtlCol="0" anchor="ctr"/>
          <a:lstStyle/>
          <a:p>
            <a:pPr indent="0" marL="0">
              <a:buNone/>
            </a:pPr>
            <a:r>
              <a:rPr lang="en-US" sz="1400" dirty="0">
                <a:solidFill>
                  <a:schemeClr val="tx1"/>
                </a:solidFill>
              </a:rPr>
              <a:t>IAS appears nowhere: we no longer use it, so the coverage slides name only DV and GAM</a:t>
            </a:r>
            <a:endParaRPr lang="en-US" sz="1400" dirty="0"/>
          </a:p>
        </p:txBody>
      </p:sp>
      <p:sp>
        <p:nvSpPr>
          <p:cNvPr id="22" name="final 7"/>
          <p:cNvSpPr/>
          <p:nvPr/>
        </p:nvSpPr>
        <p:spPr>
          <a:xfrm>
            <a:off x="548640" y="5605272"/>
            <a:ext cx="11094415" cy="530352"/>
          </a:xfrm>
          <a:prstGeom prst="rect">
            <a:avLst/>
          </a:prstGeom>
          <a:solidFill>
            <a:schemeClr val="bg1"/>
          </a:solidFill>
          <a:ln w="9525">
            <a:solidFill>
              <a:srgbClr val="E7E0C9"/>
            </a:solidFill>
            <a:prstDash val="solid"/>
          </a:ln>
        </p:spPr>
      </p:sp>
      <p:sp>
        <p:nvSpPr>
          <p:cNvPr id="23" name="box 7"/>
          <p:cNvSpPr/>
          <p:nvPr/>
        </p:nvSpPr>
        <p:spPr>
          <a:xfrm>
            <a:off x="777240" y="5760720"/>
            <a:ext cx="219456" cy="219456"/>
          </a:xfrm>
          <a:prstGeom prst="rect">
            <a:avLst/>
          </a:prstGeom>
          <a:solidFill>
            <a:schemeClr val="bg1"/>
          </a:solidFill>
          <a:ln w="15875">
            <a:solidFill>
              <a:srgbClr val="1F1E19"/>
            </a:solidFill>
            <a:prstDash val="solid"/>
          </a:ln>
        </p:spPr>
      </p:sp>
      <p:sp>
        <p:nvSpPr>
          <p:cNvPr id="24" name="Text 22"/>
          <p:cNvSpPr txBox="1"/>
          <p:nvPr/>
        </p:nvSpPr>
        <p:spPr>
          <a:xfrm>
            <a:off x="1234440" y="5660136"/>
            <a:ext cx="10058400" cy="420624"/>
          </a:xfrm>
          <a:prstGeom prst="rect">
            <a:avLst/>
          </a:prstGeom>
          <a:noFill/>
          <a:ln/>
        </p:spPr>
        <p:txBody>
          <a:bodyPr wrap="square" lIns="0" tIns="0" rIns="0" bIns="0" rtlCol="0" anchor="ctr"/>
          <a:lstStyle/>
          <a:p>
            <a:pPr indent="0" marL="0">
              <a:buNone/>
            </a:pPr>
            <a:r>
              <a:rPr lang="en-US" sz="1400" dirty="0">
                <a:solidFill>
                  <a:schemeClr val="tx1"/>
                </a:solidFill>
              </a:rPr>
              <a:t>Michael (CTO) and Kelly Liu (SVP Yield &amp; AdOps) review it, then send it to Katrina Eddy (katrina.eddy@auditedmedia.com)</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A</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Appendix</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Sanity-check charts and the yearly AAM review</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Pre-bid discrepancy: 3.9% YTD</a:t>
            </a:r>
            <a:endParaRPr lang="en-US" sz="3400" dirty="0"/>
          </a:p>
        </p:txBody>
      </p:sp>
      <p:graphicFrame>
        <p:nvGraphicFramePr>
          <p:cNvPr id="4" name="Appendix · sanity check · pre-bid discrepancy chart 1" descr=""/>
          <p:cNvGraphicFramePr/>
          <p:nvPr/>
        </p:nvGraphicFramePr>
        <p:xfrm>
          <a:off x="548640" y="1828800"/>
          <a:ext cx="740664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re-bid volume chart 1" descr=""/>
          <p:cNvGraphicFramePr/>
          <p:nvPr/>
        </p:nvGraphicFramePr>
        <p:xfrm>
          <a:off x="548640" y="3474720"/>
          <a:ext cx="7406640" cy="2606040"/>
        </p:xfrm>
        <a:graphic xmlns:a="http://schemas.openxmlformats.org/drawingml/2006/main">
          <a:graphicData uri="http://schemas.openxmlformats.org/drawingml/2006/chart">
            <c:chart xmlns:c="http://schemas.openxmlformats.org/drawingml/2006/chart" r:id="rId2"/>
          </a:graphicData>
        </a:graphic>
      </p:graphicFrame>
      <p:sp>
        <p:nvSpPr>
          <p:cNvPr id="6" name="stat 1"/>
          <p:cNvSpPr/>
          <p:nvPr/>
        </p:nvSpPr>
        <p:spPr>
          <a:xfrm>
            <a:off x="8321040" y="1965960"/>
            <a:ext cx="3322015" cy="3749040"/>
          </a:xfrm>
          <a:prstGeom prst="rect">
            <a:avLst/>
          </a:prstGeom>
          <a:solidFill>
            <a:schemeClr val="tx1"/>
          </a:solidFill>
          <a:ln w="9525">
            <a:solidFill>
              <a:srgbClr val="E7E0C9"/>
            </a:solidFill>
            <a:prstDash val="solid"/>
          </a:ln>
        </p:spPr>
      </p:sp>
      <p:sp>
        <p:nvSpPr>
          <p:cNvPr id="7"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DISCREPANCY, YTD JAN–SEP</a:t>
            </a:r>
            <a:endParaRPr lang="en-US" sz="1100" dirty="0"/>
          </a:p>
        </p:txBody>
      </p:sp>
      <p:sp>
        <p:nvSpPr>
          <p:cNvPr id="8"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3.9%</a:t>
            </a:r>
            <a:endParaRPr lang="en-US" sz="4400" dirty="0"/>
          </a:p>
        </p:txBody>
      </p:sp>
      <p:sp>
        <p:nvSpPr>
          <p:cNvPr id="9" name="Text 5"/>
          <p:cNvSpPr txBox="1"/>
          <p:nvPr/>
        </p:nvSpPr>
        <p:spPr>
          <a:xfrm>
            <a:off x="8595360" y="3246120"/>
            <a:ext cx="2773375" cy="2331720"/>
          </a:xfrm>
          <a:prstGeom prst="rect">
            <a:avLst/>
          </a:prstGeom>
          <a:noFill/>
          <a:ln/>
        </p:spPr>
        <p:txBody>
          <a:bodyPr wrap="square" lIns="0" tIns="0" rIns="0" bIns="0" rtlCol="0" anchor="t"/>
          <a:lstStyle/>
          <a:p>
            <a:pPr indent="0" marL="0">
              <a:buNone/>
            </a:pPr>
            <a:r>
              <a:rPr lang="en-US" sz="1300" dirty="0">
                <a:solidFill>
                  <a:schemeClr val="bg2"/>
                </a:solidFill>
              </a:rPr>
              <a:t>So 96.1% of pageviews were monitored by DV pre-bid: 485.97M requests against 505.70M GA4 pageviews. Highest month: May, 8.6%.</a:t>
            </a:r>
            <a:endParaRPr lang="en-US" sz="1300" dirty="0"/>
          </a:p>
        </p:txBody>
      </p:sp>
      <p:sp>
        <p:nvSpPr>
          <p:cNvPr id="10" name="Text 6"/>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 workbook 2026. Discrepancy = (Pageviews − Prebid Reqs) ÷ Pageviews.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POST-BID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Post-bid discrepancy: 8.4% display, 13.3% video</a:t>
            </a:r>
            <a:endParaRPr lang="en-US" sz="3400" dirty="0"/>
          </a:p>
        </p:txBody>
      </p:sp>
      <p:graphicFrame>
        <p:nvGraphicFramePr>
          <p:cNvPr id="4" name="Appendix · sanity check · post-bid discrepancy chart 1" descr=""/>
          <p:cNvGraphicFramePr/>
          <p:nvPr/>
        </p:nvGraphicFramePr>
        <p:xfrm>
          <a:off x="548640" y="1828800"/>
          <a:ext cx="354330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ost-bid volume chart 1" descr=""/>
          <p:cNvGraphicFramePr/>
          <p:nvPr/>
        </p:nvGraphicFramePr>
        <p:xfrm>
          <a:off x="548640" y="3474720"/>
          <a:ext cx="3543300" cy="26060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Appendix · sanity check · post-bid discrepancy chart 2" descr=""/>
          <p:cNvGraphicFramePr/>
          <p:nvPr/>
        </p:nvGraphicFramePr>
        <p:xfrm>
          <a:off x="4411980" y="1828800"/>
          <a:ext cx="3543300" cy="1600200"/>
        </p:xfrm>
        <a:graphic xmlns:a="http://schemas.openxmlformats.org/drawingml/2006/main">
          <a:graphicData uri="http://schemas.openxmlformats.org/drawingml/2006/chart">
            <c:chart xmlns:c="http://schemas.openxmlformats.org/drawingml/2006/chart" r:id="rId3"/>
          </a:graphicData>
        </a:graphic>
      </p:graphicFrame>
      <p:graphicFrame>
        <p:nvGraphicFramePr>
          <p:cNvPr id="7" name="Appendix · sanity check · post-bid volume chart 2" descr=""/>
          <p:cNvGraphicFramePr/>
          <p:nvPr/>
        </p:nvGraphicFramePr>
        <p:xfrm>
          <a:off x="4411980" y="3474720"/>
          <a:ext cx="3543300" cy="2606040"/>
        </p:xfrm>
        <a:graphic xmlns:a="http://schemas.openxmlformats.org/drawingml/2006/main">
          <a:graphicData uri="http://schemas.openxmlformats.org/drawingml/2006/chart">
            <c:chart xmlns:c="http://schemas.openxmlformats.org/drawingml/2006/chart" r:id="rId4"/>
          </a:graphicData>
        </a:graphic>
      </p:graphicFrame>
      <p:sp>
        <p:nvSpPr>
          <p:cNvPr id="8" name="stat 1"/>
          <p:cNvSpPr/>
          <p:nvPr/>
        </p:nvSpPr>
        <p:spPr>
          <a:xfrm>
            <a:off x="8321040" y="1965960"/>
            <a:ext cx="3322015" cy="1783080"/>
          </a:xfrm>
          <a:prstGeom prst="rect">
            <a:avLst/>
          </a:prstGeom>
          <a:solidFill>
            <a:schemeClr val="tx1"/>
          </a:solidFill>
          <a:ln w="9525">
            <a:solidFill>
              <a:srgbClr val="E7E0C9"/>
            </a:solidFill>
            <a:prstDash val="solid"/>
          </a:ln>
        </p:spPr>
      </p:sp>
      <p:sp>
        <p:nvSpPr>
          <p:cNvPr id="9"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DISPLAY DISCREPANCY, YTD</a:t>
            </a:r>
            <a:endParaRPr lang="en-US" sz="1100" dirty="0"/>
          </a:p>
        </p:txBody>
      </p:sp>
      <p:sp>
        <p:nvSpPr>
          <p:cNvPr id="10"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8.4%</a:t>
            </a:r>
            <a:endParaRPr lang="en-US" sz="4400" dirty="0"/>
          </a:p>
        </p:txBody>
      </p:sp>
      <p:sp>
        <p:nvSpPr>
          <p:cNvPr id="11" name="Text 5"/>
          <p:cNvSpPr txBox="1"/>
          <p:nvPr/>
        </p:nvSpPr>
        <p:spPr>
          <a:xfrm>
            <a:off x="8595360" y="3246120"/>
            <a:ext cx="2773375" cy="365760"/>
          </a:xfrm>
          <a:prstGeom prst="rect">
            <a:avLst/>
          </a:prstGeom>
          <a:noFill/>
          <a:ln/>
        </p:spPr>
        <p:txBody>
          <a:bodyPr wrap="square" lIns="0" tIns="0" rIns="0" bIns="0" rtlCol="0" anchor="t"/>
          <a:lstStyle/>
          <a:p>
            <a:pPr indent="0" marL="0">
              <a:buNone/>
            </a:pPr>
            <a:r>
              <a:rPr lang="en-US" sz="1300" dirty="0">
                <a:solidFill>
                  <a:schemeClr val="bg2"/>
                </a:solidFill>
              </a:rPr>
              <a:t>91.6% of display impressions measured by DV post-bid.</a:t>
            </a:r>
            <a:endParaRPr lang="en-US" sz="1300" dirty="0"/>
          </a:p>
        </p:txBody>
      </p:sp>
      <p:sp>
        <p:nvSpPr>
          <p:cNvPr id="12" name="stat 2"/>
          <p:cNvSpPr/>
          <p:nvPr/>
        </p:nvSpPr>
        <p:spPr>
          <a:xfrm>
            <a:off x="8321040" y="3931920"/>
            <a:ext cx="3322015" cy="1783080"/>
          </a:xfrm>
          <a:prstGeom prst="rect">
            <a:avLst/>
          </a:prstGeom>
          <a:solidFill>
            <a:schemeClr val="bg2"/>
          </a:solidFill>
          <a:ln w="9525">
            <a:solidFill>
              <a:srgbClr val="E7E0C9"/>
            </a:solidFill>
            <a:prstDash val="solid"/>
          </a:ln>
        </p:spPr>
      </p:sp>
      <p:sp>
        <p:nvSpPr>
          <p:cNvPr id="13"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VIDEO DISCREPANCY, YTD</a:t>
            </a:r>
            <a:endParaRPr lang="en-US" sz="1100" dirty="0"/>
          </a:p>
        </p:txBody>
      </p:sp>
      <p:sp>
        <p:nvSpPr>
          <p:cNvPr id="14" name="Text 8"/>
          <p:cNvSpPr txBox="1"/>
          <p:nvPr/>
        </p:nvSpPr>
        <p:spPr>
          <a:xfrm>
            <a:off x="8595360" y="4434840"/>
            <a:ext cx="2773375" cy="777240"/>
          </a:xfrm>
          <a:prstGeom prst="rect">
            <a:avLst/>
          </a:prstGeom>
          <a:noFill/>
          <a:ln/>
        </p:spPr>
        <p:txBody>
          <a:bodyPr wrap="square" lIns="0" tIns="0" rIns="0" bIns="0" rtlCol="0" anchor="t"/>
          <a:lstStyle/>
          <a:p>
            <a:pPr indent="0" marL="0">
              <a:buNone/>
            </a:pPr>
            <a:r>
              <a:rPr lang="en-US" sz="4400" dirty="0">
                <a:solidFill>
                  <a:schemeClr val="tx1"/>
                </a:solidFill>
                <a:latin typeface="Georgia" pitchFamily="34" charset="0"/>
                <a:ea typeface="Georgia" pitchFamily="34" charset="-122"/>
                <a:cs typeface="Georgia" pitchFamily="34" charset="-120"/>
              </a:rPr>
              <a:t>13.3%</a:t>
            </a:r>
            <a:endParaRPr lang="en-US" sz="4400" dirty="0"/>
          </a:p>
        </p:txBody>
      </p:sp>
      <p:sp>
        <p:nvSpPr>
          <p:cNvPr id="15" name="Text 9"/>
          <p:cNvSpPr txBox="1"/>
          <p:nvPr/>
        </p:nvSpPr>
        <p:spPr>
          <a:xfrm>
            <a:off x="8595360" y="5212080"/>
            <a:ext cx="2773375" cy="365760"/>
          </a:xfrm>
          <a:prstGeom prst="rect">
            <a:avLst/>
          </a:prstGeom>
          <a:noFill/>
          <a:ln/>
        </p:spPr>
        <p:txBody>
          <a:bodyPr wrap="square" lIns="0" tIns="0" rIns="0" bIns="0" rtlCol="0" anchor="t"/>
          <a:lstStyle/>
          <a:p>
            <a:pPr indent="0" marL="0">
              <a:buNone/>
            </a:pPr>
            <a:r>
              <a:rPr lang="en-US" sz="1300" dirty="0">
                <a:solidFill>
                  <a:schemeClr val="tx2"/>
                </a:solidFill>
              </a:rPr>
              <a:t>86.7% measured. Mostly Google AdX, which DV can't scan post-bid.</a:t>
            </a:r>
            <a:endParaRPr lang="en-US" sz="1300" dirty="0"/>
          </a:p>
        </p:txBody>
      </p:sp>
      <p:sp>
        <p:nvSpPr>
          <p:cNvPr id="16"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2026 YTD Jan–Sep (October excluded). Discrepancy = 1 − DV ÷ GAM total.</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SIVT stays well under the 1% goal</a:t>
            </a:r>
            <a:endParaRPr lang="en-US" sz="3400" dirty="0"/>
          </a:p>
        </p:txBody>
      </p:sp>
      <p:graphicFrame>
        <p:nvGraphicFramePr>
          <p:cNvPr id="4" name="sivt by quarter chart" descr=""/>
          <p:cNvGraphicFramePr/>
          <p:nvPr/>
        </p:nvGraphicFramePr>
        <p:xfrm>
          <a:off x="548640" y="187452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sivt stat 1"/>
          <p:cNvSpPr/>
          <p:nvPr/>
        </p:nvSpPr>
        <p:spPr>
          <a:xfrm>
            <a:off x="8321040" y="1965960"/>
            <a:ext cx="3322015" cy="1783080"/>
          </a:xfrm>
          <a:prstGeom prst="rect">
            <a:avLst/>
          </a:prstGeom>
          <a:solidFill>
            <a:schemeClr val="tx1"/>
          </a:solidFill>
          <a:ln w="9525">
            <a:solidFill>
              <a:srgbClr val="E7E0C9"/>
            </a:solidFill>
            <a:prstDash val="solid"/>
          </a:ln>
        </p:spPr>
      </p:sp>
      <p:sp>
        <p:nvSpPr>
          <p:cNvPr id="6"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SIVT, YTD JAN–SEP</a:t>
            </a:r>
            <a:endParaRPr lang="en-US" sz="1100" dirty="0"/>
          </a:p>
        </p:txBody>
      </p:sp>
      <p:sp>
        <p:nvSpPr>
          <p:cNvPr id="7" name="Text 4"/>
          <p:cNvSpPr txBox="1"/>
          <p:nvPr/>
        </p:nvSpPr>
        <p:spPr>
          <a:xfrm>
            <a:off x="8595360" y="2468880"/>
            <a:ext cx="2773375" cy="777240"/>
          </a:xfrm>
          <a:prstGeom prst="rect">
            <a:avLst/>
          </a:prstGeom>
          <a:noFill/>
          <a:ln/>
        </p:spPr>
        <p:txBody>
          <a:bodyPr wrap="square" lIns="0" tIns="0" rIns="0" bIns="0" rtlCol="0" anchor="ctr"/>
          <a:lstStyle/>
          <a:p>
            <a:pPr indent="0" marL="0">
              <a:buNone/>
            </a:pPr>
            <a:r>
              <a:rPr lang="en-US" sz="4400" dirty="0">
                <a:solidFill>
                  <a:schemeClr val="bg1"/>
                </a:solidFill>
                <a:latin typeface="Georgia" pitchFamily="34" charset="0"/>
                <a:ea typeface="Georgia" pitchFamily="34" charset="-122"/>
                <a:cs typeface="Georgia" pitchFamily="34" charset="-120"/>
              </a:rPr>
              <a:t>0.04%</a:t>
            </a:r>
            <a:endParaRPr lang="en-US" sz="4400" dirty="0"/>
          </a:p>
        </p:txBody>
      </p:sp>
      <p:sp>
        <p:nvSpPr>
          <p:cNvPr id="8" name="Text 5"/>
          <p:cNvSpPr txBox="1"/>
          <p:nvPr/>
        </p:nvSpPr>
        <p:spPr>
          <a:xfrm>
            <a:off x="8595360" y="3246120"/>
            <a:ext cx="2773375" cy="457200"/>
          </a:xfrm>
          <a:prstGeom prst="rect">
            <a:avLst/>
          </a:prstGeom>
          <a:noFill/>
          <a:ln/>
        </p:spPr>
        <p:txBody>
          <a:bodyPr wrap="square" lIns="0" tIns="0" rIns="0" bIns="0" rtlCol="0" anchor="t"/>
          <a:lstStyle/>
          <a:p>
            <a:pPr indent="0" marL="0">
              <a:buNone/>
            </a:pPr>
            <a:r>
              <a:rPr lang="en-US" sz="1300" dirty="0">
                <a:solidFill>
                  <a:schemeClr val="bg2"/>
                </a:solidFill>
              </a:rPr>
              <a:t>Impression-weighted across display and video.</a:t>
            </a:r>
            <a:endParaRPr lang="en-US" sz="1300" dirty="0"/>
          </a:p>
        </p:txBody>
      </p:sp>
      <p:sp>
        <p:nvSpPr>
          <p:cNvPr id="9" name="sivt stat 2"/>
          <p:cNvSpPr/>
          <p:nvPr/>
        </p:nvSpPr>
        <p:spPr>
          <a:xfrm>
            <a:off x="8321040" y="3931920"/>
            <a:ext cx="3322015" cy="1783080"/>
          </a:xfrm>
          <a:prstGeom prst="rect">
            <a:avLst/>
          </a:prstGeom>
          <a:solidFill>
            <a:schemeClr val="bg2"/>
          </a:solidFill>
          <a:ln w="9525">
            <a:solidFill>
              <a:srgbClr val="E7E0C9"/>
            </a:solidFill>
            <a:prstDash val="solid"/>
          </a:ln>
        </p:spPr>
      </p:sp>
      <p:sp>
        <p:nvSpPr>
          <p:cNvPr id="10"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DISPLAY · VIDEO, YTD</a:t>
            </a:r>
            <a:endParaRPr lang="en-US" sz="1100" dirty="0"/>
          </a:p>
        </p:txBody>
      </p:sp>
      <p:sp>
        <p:nvSpPr>
          <p:cNvPr id="11" name="Text 8"/>
          <p:cNvSpPr txBox="1"/>
          <p:nvPr/>
        </p:nvSpPr>
        <p:spPr>
          <a:xfrm>
            <a:off x="8595360" y="4434840"/>
            <a:ext cx="2773375" cy="777240"/>
          </a:xfrm>
          <a:prstGeom prst="rect">
            <a:avLst/>
          </a:prstGeom>
          <a:noFill/>
          <a:ln/>
        </p:spPr>
        <p:txBody>
          <a:bodyPr wrap="square" lIns="0" tIns="0" rIns="0" bIns="0" rtlCol="0" anchor="ctr"/>
          <a:lstStyle/>
          <a:p>
            <a:pPr indent="0" marL="0">
              <a:buNone/>
            </a:pPr>
            <a:r>
              <a:rPr lang="en-US" sz="2800" dirty="0">
                <a:solidFill>
                  <a:schemeClr val="tx1"/>
                </a:solidFill>
                <a:latin typeface="Georgia" pitchFamily="34" charset="0"/>
                <a:ea typeface="Georgia" pitchFamily="34" charset="-122"/>
                <a:cs typeface="Georgia" pitchFamily="34" charset="-120"/>
              </a:rPr>
              <a:t>0.04% · 0.02%</a:t>
            </a:r>
            <a:endParaRPr lang="en-US" sz="2800" dirty="0"/>
          </a:p>
        </p:txBody>
      </p:sp>
      <p:sp>
        <p:nvSpPr>
          <p:cNvPr id="12" name="Text 9"/>
          <p:cNvSpPr txBox="1"/>
          <p:nvPr/>
        </p:nvSpPr>
        <p:spPr>
          <a:xfrm>
            <a:off x="8595360" y="5212080"/>
            <a:ext cx="2773375" cy="457200"/>
          </a:xfrm>
          <a:prstGeom prst="rect">
            <a:avLst/>
          </a:prstGeom>
          <a:noFill/>
          <a:ln/>
        </p:spPr>
        <p:txBody>
          <a:bodyPr wrap="square" lIns="0" tIns="0" rIns="0" bIns="0" rtlCol="0" anchor="t"/>
          <a:lstStyle/>
          <a:p>
            <a:pPr indent="0" marL="0">
              <a:buNone/>
            </a:pPr>
            <a:r>
              <a:rPr lang="en-US" sz="1300" dirty="0">
                <a:solidFill>
                  <a:schemeClr val="tx2"/>
                </a:solidFill>
              </a:rPr>
              <a:t>Each sheet's SIVT Rate weighted by DV post-bid impressions.</a:t>
            </a:r>
            <a:endParaRPr lang="en-US" sz="1300" dirty="0"/>
          </a:p>
        </p:txBody>
      </p:sp>
      <p:sp>
        <p:nvSpPr>
          <p:cNvPr id="13"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SIVT Rate weighted by DV post-bid impressions. Never average the monthly rates.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YEARLY AAM REVIEW</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What AAM asks for in January</a:t>
            </a:r>
            <a:endParaRPr lang="en-US" sz="3400" dirty="0"/>
          </a:p>
        </p:txBody>
      </p:sp>
      <p:sp>
        <p:nvSpPr>
          <p:cNvPr id="4" name="Text 2"/>
          <p:cNvSpPr txBox="1"/>
          <p:nvPr/>
        </p:nvSpPr>
        <p:spPr>
          <a:xfrm>
            <a:off x="548640" y="1828800"/>
            <a:ext cx="11094415" cy="457200"/>
          </a:xfrm>
          <a:prstGeom prst="rect">
            <a:avLst/>
          </a:prstGeom>
          <a:noFill/>
          <a:ln/>
        </p:spPr>
        <p:txBody>
          <a:bodyPr wrap="square" lIns="0" tIns="0" rIns="0" bIns="0" rtlCol="0" anchor="t"/>
          <a:lstStyle/>
          <a:p>
            <a:pPr indent="0" marL="0">
              <a:buNone/>
            </a:pPr>
            <a:r>
              <a:rPr lang="en-US" sz="1300" dirty="0">
                <a:solidFill>
                  <a:schemeClr val="tx2"/>
                </a:solidFill>
              </a:rPr>
              <a:t>AAM (the Alliance for Audited Media) audits our TAG CAF seal once a year. After the review call, Jonathan Reid sends a list of evidence to drop in the shared folder. Last year's list:</a:t>
            </a:r>
            <a:endParaRPr lang="en-US" sz="1300" dirty="0"/>
          </a:p>
        </p:txBody>
      </p:sp>
      <p:sp>
        <p:nvSpPr>
          <p:cNvPr id="5" name="evidence 1"/>
          <p:cNvSpPr/>
          <p:nvPr/>
        </p:nvSpPr>
        <p:spPr>
          <a:xfrm>
            <a:off x="548640" y="2423160"/>
            <a:ext cx="5410048" cy="621792"/>
          </a:xfrm>
          <a:prstGeom prst="rect">
            <a:avLst/>
          </a:prstGeom>
          <a:solidFill>
            <a:schemeClr val="bg1"/>
          </a:solidFill>
          <a:ln w="9525">
            <a:solidFill>
              <a:srgbClr val="E7E0C9"/>
            </a:solidFill>
            <a:prstDash val="solid"/>
          </a:ln>
        </p:spPr>
      </p:sp>
      <p:sp>
        <p:nvSpPr>
          <p:cNvPr id="6" name="evbox 1"/>
          <p:cNvSpPr/>
          <p:nvPr/>
        </p:nvSpPr>
        <p:spPr>
          <a:xfrm>
            <a:off x="777240" y="2624328"/>
            <a:ext cx="219456" cy="219456"/>
          </a:xfrm>
          <a:prstGeom prst="rect">
            <a:avLst/>
          </a:prstGeom>
          <a:solidFill>
            <a:schemeClr val="bg1"/>
          </a:solidFill>
          <a:ln w="15875">
            <a:solidFill>
              <a:srgbClr val="1F1E19"/>
            </a:solidFill>
            <a:prstDash val="solid"/>
          </a:ln>
        </p:spPr>
      </p:sp>
      <p:sp>
        <p:nvSpPr>
          <p:cNvPr id="7" name="Text 5"/>
          <p:cNvSpPr txBox="1"/>
          <p:nvPr/>
        </p:nvSpPr>
        <p:spPr>
          <a:xfrm>
            <a:off x="1188720" y="2487168"/>
            <a:ext cx="4587088" cy="274320"/>
          </a:xfrm>
          <a:prstGeom prst="rect">
            <a:avLst/>
          </a:prstGeom>
          <a:noFill/>
          <a:ln/>
        </p:spPr>
        <p:txBody>
          <a:bodyPr wrap="square" lIns="0" tIns="0" rIns="0" bIns="0" rtlCol="0" anchor="t"/>
          <a:lstStyle/>
          <a:p>
            <a:pPr indent="0" marL="0">
              <a:buNone/>
            </a:pPr>
            <a:r>
              <a:rPr lang="en-US" sz="1400" b="1" dirty="0">
                <a:solidFill>
                  <a:schemeClr val="tx1"/>
                </a:solidFill>
              </a:rPr>
              <a:t>The report deck</a:t>
            </a:r>
            <a:endParaRPr lang="en-US" sz="1400" dirty="0"/>
          </a:p>
        </p:txBody>
      </p:sp>
      <p:sp>
        <p:nvSpPr>
          <p:cNvPr id="8" name="Text 6"/>
          <p:cNvSpPr txBox="1"/>
          <p:nvPr/>
        </p:nvSpPr>
        <p:spPr>
          <a:xfrm>
            <a:off x="1188720" y="2761488"/>
            <a:ext cx="4587088" cy="246888"/>
          </a:xfrm>
          <a:prstGeom prst="rect">
            <a:avLst/>
          </a:prstGeom>
          <a:noFill/>
          <a:ln/>
        </p:spPr>
        <p:txBody>
          <a:bodyPr wrap="square" lIns="0" tIns="0" rIns="0" bIns="0" rtlCol="0" anchor="t"/>
          <a:lstStyle/>
          <a:p>
            <a:pPr indent="0" marL="0">
              <a:buNone/>
            </a:pPr>
            <a:r>
              <a:rPr lang="en-US" sz="1200" dirty="0">
                <a:solidFill>
                  <a:schemeClr val="tx2"/>
                </a:solidFill>
              </a:rPr>
              <a:t>This deck, as presented on the call</a:t>
            </a:r>
            <a:endParaRPr lang="en-US" sz="1200" dirty="0"/>
          </a:p>
        </p:txBody>
      </p:sp>
      <p:sp>
        <p:nvSpPr>
          <p:cNvPr id="9" name="evidence 2"/>
          <p:cNvSpPr/>
          <p:nvPr/>
        </p:nvSpPr>
        <p:spPr>
          <a:xfrm>
            <a:off x="548640" y="3154680"/>
            <a:ext cx="5410048" cy="621792"/>
          </a:xfrm>
          <a:prstGeom prst="rect">
            <a:avLst/>
          </a:prstGeom>
          <a:solidFill>
            <a:schemeClr val="bg1"/>
          </a:solidFill>
          <a:ln w="9525">
            <a:solidFill>
              <a:srgbClr val="E7E0C9"/>
            </a:solidFill>
            <a:prstDash val="solid"/>
          </a:ln>
        </p:spPr>
      </p:sp>
      <p:sp>
        <p:nvSpPr>
          <p:cNvPr id="10" name="evbox 2"/>
          <p:cNvSpPr/>
          <p:nvPr/>
        </p:nvSpPr>
        <p:spPr>
          <a:xfrm>
            <a:off x="777240" y="3355848"/>
            <a:ext cx="219456" cy="219456"/>
          </a:xfrm>
          <a:prstGeom prst="rect">
            <a:avLst/>
          </a:prstGeom>
          <a:solidFill>
            <a:schemeClr val="bg1"/>
          </a:solidFill>
          <a:ln w="15875">
            <a:solidFill>
              <a:srgbClr val="1F1E19"/>
            </a:solidFill>
            <a:prstDash val="solid"/>
          </a:ln>
        </p:spPr>
      </p:sp>
      <p:sp>
        <p:nvSpPr>
          <p:cNvPr id="11" name="Text 9"/>
          <p:cNvSpPr txBox="1"/>
          <p:nvPr/>
        </p:nvSpPr>
        <p:spPr>
          <a:xfrm>
            <a:off x="1188720" y="3218688"/>
            <a:ext cx="4587088" cy="274320"/>
          </a:xfrm>
          <a:prstGeom prst="rect">
            <a:avLst/>
          </a:prstGeom>
          <a:noFill/>
          <a:ln/>
        </p:spPr>
        <p:txBody>
          <a:bodyPr wrap="square" lIns="0" tIns="0" rIns="0" bIns="0" rtlCol="0" anchor="t"/>
          <a:lstStyle/>
          <a:p>
            <a:pPr indent="0" marL="0">
              <a:buNone/>
            </a:pPr>
            <a:r>
              <a:rPr lang="en-US" sz="1400" b="1" dirty="0">
                <a:solidFill>
                  <a:schemeClr val="tx1"/>
                </a:solidFill>
              </a:rPr>
              <a:t>DV IVT screenshots</a:t>
            </a:r>
            <a:endParaRPr lang="en-US" sz="1400" dirty="0"/>
          </a:p>
        </p:txBody>
      </p:sp>
      <p:sp>
        <p:nvSpPr>
          <p:cNvPr id="12" name="Text 10"/>
          <p:cNvSpPr txBox="1"/>
          <p:nvPr/>
        </p:nvSpPr>
        <p:spPr>
          <a:xfrm>
            <a:off x="1188720" y="3493008"/>
            <a:ext cx="4587088" cy="246888"/>
          </a:xfrm>
          <a:prstGeom prst="rect">
            <a:avLst/>
          </a:prstGeom>
          <a:noFill/>
          <a:ln/>
        </p:spPr>
        <p:txBody>
          <a:bodyPr wrap="square" lIns="0" tIns="0" rIns="0" bIns="0" rtlCol="0" anchor="t"/>
          <a:lstStyle/>
          <a:p>
            <a:pPr indent="0" marL="0">
              <a:buNone/>
            </a:pPr>
            <a:r>
              <a:rPr lang="en-US" sz="1200" dirty="0">
                <a:solidFill>
                  <a:schemeClr val="tx2"/>
                </a:solidFill>
              </a:rPr>
              <a:t>IVT rates from the DV UI</a:t>
            </a:r>
            <a:endParaRPr lang="en-US" sz="1200" dirty="0"/>
          </a:p>
        </p:txBody>
      </p:sp>
      <p:sp>
        <p:nvSpPr>
          <p:cNvPr id="13" name="evidence 3"/>
          <p:cNvSpPr/>
          <p:nvPr/>
        </p:nvSpPr>
        <p:spPr>
          <a:xfrm>
            <a:off x="548640" y="3886200"/>
            <a:ext cx="5410048" cy="621792"/>
          </a:xfrm>
          <a:prstGeom prst="rect">
            <a:avLst/>
          </a:prstGeom>
          <a:solidFill>
            <a:schemeClr val="bg1"/>
          </a:solidFill>
          <a:ln w="9525">
            <a:solidFill>
              <a:srgbClr val="E7E0C9"/>
            </a:solidFill>
            <a:prstDash val="solid"/>
          </a:ln>
        </p:spPr>
      </p:sp>
      <p:sp>
        <p:nvSpPr>
          <p:cNvPr id="14" name="evbox 3"/>
          <p:cNvSpPr/>
          <p:nvPr/>
        </p:nvSpPr>
        <p:spPr>
          <a:xfrm>
            <a:off x="777240" y="4087368"/>
            <a:ext cx="219456" cy="219456"/>
          </a:xfrm>
          <a:prstGeom prst="rect">
            <a:avLst/>
          </a:prstGeom>
          <a:solidFill>
            <a:schemeClr val="bg1"/>
          </a:solidFill>
          <a:ln w="15875">
            <a:solidFill>
              <a:srgbClr val="1F1E19"/>
            </a:solidFill>
            <a:prstDash val="solid"/>
          </a:ln>
        </p:spPr>
      </p:sp>
      <p:sp>
        <p:nvSpPr>
          <p:cNvPr id="15" name="Text 13"/>
          <p:cNvSpPr txBox="1"/>
          <p:nvPr/>
        </p:nvSpPr>
        <p:spPr>
          <a:xfrm>
            <a:off x="1188720" y="3950208"/>
            <a:ext cx="4587088" cy="274320"/>
          </a:xfrm>
          <a:prstGeom prst="rect">
            <a:avLst/>
          </a:prstGeom>
          <a:noFill/>
          <a:ln/>
        </p:spPr>
        <p:txBody>
          <a:bodyPr wrap="square" lIns="0" tIns="0" rIns="0" bIns="0" rtlCol="0" anchor="t"/>
          <a:lstStyle/>
          <a:p>
            <a:pPr indent="0" marL="0">
              <a:buNone/>
            </a:pPr>
            <a:r>
              <a:rPr lang="en-US" sz="1400" b="1" dirty="0">
                <a:solidFill>
                  <a:schemeClr val="tx1"/>
                </a:solidFill>
              </a:rPr>
              <a:t>DV raw pre-bid data</a:t>
            </a:r>
            <a:endParaRPr lang="en-US" sz="1400" dirty="0"/>
          </a:p>
        </p:txBody>
      </p:sp>
      <p:sp>
        <p:nvSpPr>
          <p:cNvPr id="16" name="Text 14"/>
          <p:cNvSpPr txBox="1"/>
          <p:nvPr/>
        </p:nvSpPr>
        <p:spPr>
          <a:xfrm>
            <a:off x="1188720" y="4224528"/>
            <a:ext cx="4587088" cy="246888"/>
          </a:xfrm>
          <a:prstGeom prst="rect">
            <a:avLst/>
          </a:prstGeom>
          <a:noFill/>
          <a:ln/>
        </p:spPr>
        <p:txBody>
          <a:bodyPr wrap="square" lIns="0" tIns="0" rIns="0" bIns="0" rtlCol="0" anchor="t"/>
          <a:lstStyle/>
          <a:p>
            <a:pPr indent="0" marL="0">
              <a:buNone/>
            </a:pPr>
            <a:r>
              <a:rPr lang="en-US" sz="1200" dirty="0">
                <a:solidFill>
                  <a:schemeClr val="tx2"/>
                </a:solidFill>
              </a:rPr>
              <a:t>The monthly CSVs, plus DV's emails for months sent by email</a:t>
            </a:r>
            <a:endParaRPr lang="en-US" sz="1200" dirty="0"/>
          </a:p>
        </p:txBody>
      </p:sp>
      <p:sp>
        <p:nvSpPr>
          <p:cNvPr id="17" name="evidence 4"/>
          <p:cNvSpPr/>
          <p:nvPr/>
        </p:nvSpPr>
        <p:spPr>
          <a:xfrm>
            <a:off x="548640" y="4617720"/>
            <a:ext cx="5410048" cy="621792"/>
          </a:xfrm>
          <a:prstGeom prst="rect">
            <a:avLst/>
          </a:prstGeom>
          <a:solidFill>
            <a:schemeClr val="bg1"/>
          </a:solidFill>
          <a:ln w="9525">
            <a:solidFill>
              <a:srgbClr val="E7E0C9"/>
            </a:solidFill>
            <a:prstDash val="solid"/>
          </a:ln>
        </p:spPr>
      </p:sp>
      <p:sp>
        <p:nvSpPr>
          <p:cNvPr id="18" name="evbox 4"/>
          <p:cNvSpPr/>
          <p:nvPr/>
        </p:nvSpPr>
        <p:spPr>
          <a:xfrm>
            <a:off x="777240" y="4818888"/>
            <a:ext cx="219456" cy="219456"/>
          </a:xfrm>
          <a:prstGeom prst="rect">
            <a:avLst/>
          </a:prstGeom>
          <a:solidFill>
            <a:schemeClr val="bg1"/>
          </a:solidFill>
          <a:ln w="15875">
            <a:solidFill>
              <a:srgbClr val="1F1E19"/>
            </a:solidFill>
            <a:prstDash val="solid"/>
          </a:ln>
        </p:spPr>
      </p:sp>
      <p:sp>
        <p:nvSpPr>
          <p:cNvPr id="19" name="Text 17"/>
          <p:cNvSpPr txBox="1"/>
          <p:nvPr/>
        </p:nvSpPr>
        <p:spPr>
          <a:xfrm>
            <a:off x="1188720" y="4681728"/>
            <a:ext cx="4587088" cy="274320"/>
          </a:xfrm>
          <a:prstGeom prst="rect">
            <a:avLst/>
          </a:prstGeom>
          <a:noFill/>
          <a:ln/>
        </p:spPr>
        <p:txBody>
          <a:bodyPr wrap="square" lIns="0" tIns="0" rIns="0" bIns="0" rtlCol="0" anchor="t"/>
          <a:lstStyle/>
          <a:p>
            <a:pPr indent="0" marL="0">
              <a:buNone/>
            </a:pPr>
            <a:r>
              <a:rPr lang="en-US" sz="1400" b="1" dirty="0">
                <a:solidFill>
                  <a:schemeClr val="tx1"/>
                </a:solidFill>
              </a:rPr>
              <a:t>GA4 screenshots</a:t>
            </a:r>
            <a:endParaRPr lang="en-US" sz="1400" dirty="0"/>
          </a:p>
        </p:txBody>
      </p:sp>
      <p:sp>
        <p:nvSpPr>
          <p:cNvPr id="20" name="Text 18"/>
          <p:cNvSpPr txBox="1"/>
          <p:nvPr/>
        </p:nvSpPr>
        <p:spPr>
          <a:xfrm>
            <a:off x="1188720" y="4956048"/>
            <a:ext cx="4587088" cy="246888"/>
          </a:xfrm>
          <a:prstGeom prst="rect">
            <a:avLst/>
          </a:prstGeom>
          <a:noFill/>
          <a:ln/>
        </p:spPr>
        <p:txBody>
          <a:bodyPr wrap="square" lIns="0" tIns="0" rIns="0" bIns="0" rtlCol="0" anchor="t"/>
          <a:lstStyle/>
          <a:p>
            <a:pPr indent="0" marL="0">
              <a:buNone/>
            </a:pPr>
            <a:r>
              <a:rPr lang="en-US" sz="1200" dirty="0">
                <a:solidFill>
                  <a:schemeClr val="tx2"/>
                </a:solidFill>
              </a:rPr>
              <a:t>Pageview counts, by month</a:t>
            </a:r>
            <a:endParaRPr lang="en-US" sz="1200" dirty="0"/>
          </a:p>
        </p:txBody>
      </p:sp>
      <p:sp>
        <p:nvSpPr>
          <p:cNvPr id="21" name="evidence 5"/>
          <p:cNvSpPr/>
          <p:nvPr/>
        </p:nvSpPr>
        <p:spPr>
          <a:xfrm>
            <a:off x="548640" y="5349240"/>
            <a:ext cx="5410048" cy="621792"/>
          </a:xfrm>
          <a:prstGeom prst="rect">
            <a:avLst/>
          </a:prstGeom>
          <a:solidFill>
            <a:schemeClr val="bg1"/>
          </a:solidFill>
          <a:ln w="9525">
            <a:solidFill>
              <a:srgbClr val="E7E0C9"/>
            </a:solidFill>
            <a:prstDash val="solid"/>
          </a:ln>
        </p:spPr>
      </p:sp>
      <p:sp>
        <p:nvSpPr>
          <p:cNvPr id="22" name="evbox 5"/>
          <p:cNvSpPr/>
          <p:nvPr/>
        </p:nvSpPr>
        <p:spPr>
          <a:xfrm>
            <a:off x="777240" y="5550408"/>
            <a:ext cx="219456" cy="219456"/>
          </a:xfrm>
          <a:prstGeom prst="rect">
            <a:avLst/>
          </a:prstGeom>
          <a:solidFill>
            <a:schemeClr val="bg1"/>
          </a:solidFill>
          <a:ln w="15875">
            <a:solidFill>
              <a:srgbClr val="1F1E19"/>
            </a:solidFill>
            <a:prstDash val="solid"/>
          </a:ln>
        </p:spPr>
      </p:sp>
      <p:sp>
        <p:nvSpPr>
          <p:cNvPr id="23" name="Text 21"/>
          <p:cNvSpPr txBox="1"/>
          <p:nvPr/>
        </p:nvSpPr>
        <p:spPr>
          <a:xfrm>
            <a:off x="1188720" y="5413248"/>
            <a:ext cx="4587088" cy="274320"/>
          </a:xfrm>
          <a:prstGeom prst="rect">
            <a:avLst/>
          </a:prstGeom>
          <a:noFill/>
          <a:ln/>
        </p:spPr>
        <p:txBody>
          <a:bodyPr wrap="square" lIns="0" tIns="0" rIns="0" bIns="0" rtlCol="0" anchor="t"/>
          <a:lstStyle/>
          <a:p>
            <a:pPr indent="0" marL="0">
              <a:buNone/>
            </a:pPr>
            <a:r>
              <a:rPr lang="en-US" sz="1400" b="1" dirty="0">
                <a:solidFill>
                  <a:schemeClr val="tx1"/>
                </a:solidFill>
              </a:rPr>
              <a:t>Discrepancy report</a:t>
            </a:r>
            <a:endParaRPr lang="en-US" sz="1400" dirty="0"/>
          </a:p>
        </p:txBody>
      </p:sp>
      <p:sp>
        <p:nvSpPr>
          <p:cNvPr id="24" name="Text 22"/>
          <p:cNvSpPr txBox="1"/>
          <p:nvPr/>
        </p:nvSpPr>
        <p:spPr>
          <a:xfrm>
            <a:off x="1188720" y="5687568"/>
            <a:ext cx="4587088" cy="246888"/>
          </a:xfrm>
          <a:prstGeom prst="rect">
            <a:avLst/>
          </a:prstGeom>
          <a:noFill/>
          <a:ln/>
        </p:spPr>
        <p:txBody>
          <a:bodyPr wrap="square" lIns="0" tIns="0" rIns="0" bIns="0" rtlCol="0" anchor="t"/>
          <a:lstStyle/>
          <a:p>
            <a:pPr indent="0" marL="0">
              <a:buNone/>
            </a:pPr>
            <a:r>
              <a:rPr lang="en-US" sz="1200" dirty="0">
                <a:solidFill>
                  <a:schemeClr val="tx2"/>
                </a:solidFill>
              </a:rPr>
              <a:t>The DV-GAM workbook, display and video</a:t>
            </a:r>
            <a:endParaRPr lang="en-US" sz="1200" dirty="0"/>
          </a:p>
        </p:txBody>
      </p:sp>
      <p:sp>
        <p:nvSpPr>
          <p:cNvPr id="25" name="evidence 6"/>
          <p:cNvSpPr/>
          <p:nvPr/>
        </p:nvSpPr>
        <p:spPr>
          <a:xfrm>
            <a:off x="6233008" y="2423160"/>
            <a:ext cx="5410048" cy="621792"/>
          </a:xfrm>
          <a:prstGeom prst="rect">
            <a:avLst/>
          </a:prstGeom>
          <a:solidFill>
            <a:schemeClr val="bg1"/>
          </a:solidFill>
          <a:ln w="9525">
            <a:solidFill>
              <a:srgbClr val="E7E0C9"/>
            </a:solidFill>
            <a:prstDash val="solid"/>
          </a:ln>
        </p:spPr>
      </p:sp>
      <p:sp>
        <p:nvSpPr>
          <p:cNvPr id="26" name="evbox 6"/>
          <p:cNvSpPr/>
          <p:nvPr/>
        </p:nvSpPr>
        <p:spPr>
          <a:xfrm>
            <a:off x="6461608" y="2624328"/>
            <a:ext cx="219456" cy="219456"/>
          </a:xfrm>
          <a:prstGeom prst="rect">
            <a:avLst/>
          </a:prstGeom>
          <a:solidFill>
            <a:schemeClr val="bg1"/>
          </a:solidFill>
          <a:ln w="15875">
            <a:solidFill>
              <a:srgbClr val="1F1E19"/>
            </a:solidFill>
            <a:prstDash val="solid"/>
          </a:ln>
        </p:spPr>
      </p:sp>
      <p:sp>
        <p:nvSpPr>
          <p:cNvPr id="27" name="Text 25"/>
          <p:cNvSpPr txBox="1"/>
          <p:nvPr/>
        </p:nvSpPr>
        <p:spPr>
          <a:xfrm>
            <a:off x="6873088" y="2487168"/>
            <a:ext cx="4587088" cy="274320"/>
          </a:xfrm>
          <a:prstGeom prst="rect">
            <a:avLst/>
          </a:prstGeom>
          <a:noFill/>
          <a:ln/>
        </p:spPr>
        <p:txBody>
          <a:bodyPr wrap="square" lIns="0" tIns="0" rIns="0" bIns="0" rtlCol="0" anchor="t"/>
          <a:lstStyle/>
          <a:p>
            <a:pPr indent="0" marL="0">
              <a:buNone/>
            </a:pPr>
            <a:r>
              <a:rPr lang="en-US" sz="1400" b="1" dirty="0">
                <a:solidFill>
                  <a:schemeClr val="tx1"/>
                </a:solidFill>
              </a:rPr>
              <a:t>DV post-bid screenshots</a:t>
            </a:r>
            <a:endParaRPr lang="en-US" sz="1400" dirty="0"/>
          </a:p>
        </p:txBody>
      </p:sp>
      <p:sp>
        <p:nvSpPr>
          <p:cNvPr id="28" name="Text 26"/>
          <p:cNvSpPr txBox="1"/>
          <p:nvPr/>
        </p:nvSpPr>
        <p:spPr>
          <a:xfrm>
            <a:off x="6873088" y="2761488"/>
            <a:ext cx="4587088" cy="246888"/>
          </a:xfrm>
          <a:prstGeom prst="rect">
            <a:avLst/>
          </a:prstGeom>
          <a:noFill/>
          <a:ln/>
        </p:spPr>
        <p:txBody>
          <a:bodyPr wrap="square" lIns="0" tIns="0" rIns="0" bIns="0" rtlCol="0" anchor="t"/>
          <a:lstStyle/>
          <a:p>
            <a:pPr indent="0" marL="0">
              <a:buNone/>
            </a:pPr>
            <a:r>
              <a:rPr lang="en-US" sz="1200" dirty="0">
                <a:solidFill>
                  <a:schemeClr val="tx2"/>
                </a:solidFill>
              </a:rPr>
              <a:t>Back up the workbook's DV numbers, display and video</a:t>
            </a:r>
            <a:endParaRPr lang="en-US" sz="1200" dirty="0"/>
          </a:p>
        </p:txBody>
      </p:sp>
      <p:sp>
        <p:nvSpPr>
          <p:cNvPr id="29" name="evidence 7"/>
          <p:cNvSpPr/>
          <p:nvPr/>
        </p:nvSpPr>
        <p:spPr>
          <a:xfrm>
            <a:off x="6233008" y="3154680"/>
            <a:ext cx="5410048" cy="621792"/>
          </a:xfrm>
          <a:prstGeom prst="rect">
            <a:avLst/>
          </a:prstGeom>
          <a:solidFill>
            <a:schemeClr val="bg1"/>
          </a:solidFill>
          <a:ln w="9525">
            <a:solidFill>
              <a:srgbClr val="E7E0C9"/>
            </a:solidFill>
            <a:prstDash val="solid"/>
          </a:ln>
        </p:spPr>
      </p:sp>
      <p:sp>
        <p:nvSpPr>
          <p:cNvPr id="30" name="evbox 7"/>
          <p:cNvSpPr/>
          <p:nvPr/>
        </p:nvSpPr>
        <p:spPr>
          <a:xfrm>
            <a:off x="6461608" y="3355848"/>
            <a:ext cx="219456" cy="219456"/>
          </a:xfrm>
          <a:prstGeom prst="rect">
            <a:avLst/>
          </a:prstGeom>
          <a:solidFill>
            <a:schemeClr val="bg1"/>
          </a:solidFill>
          <a:ln w="15875">
            <a:solidFill>
              <a:srgbClr val="1F1E19"/>
            </a:solidFill>
            <a:prstDash val="solid"/>
          </a:ln>
        </p:spPr>
      </p:sp>
      <p:sp>
        <p:nvSpPr>
          <p:cNvPr id="31" name="Text 29"/>
          <p:cNvSpPr txBox="1"/>
          <p:nvPr/>
        </p:nvSpPr>
        <p:spPr>
          <a:xfrm>
            <a:off x="6873088" y="3218688"/>
            <a:ext cx="4587088" cy="274320"/>
          </a:xfrm>
          <a:prstGeom prst="rect">
            <a:avLst/>
          </a:prstGeom>
          <a:noFill/>
          <a:ln/>
        </p:spPr>
        <p:txBody>
          <a:bodyPr wrap="square" lIns="0" tIns="0" rIns="0" bIns="0" rtlCol="0" anchor="t"/>
          <a:lstStyle/>
          <a:p>
            <a:pPr indent="0" marL="0">
              <a:buNone/>
            </a:pPr>
            <a:r>
              <a:rPr lang="en-US" sz="1400" b="1" dirty="0">
                <a:solidFill>
                  <a:schemeClr val="tx1"/>
                </a:solidFill>
              </a:rPr>
              <a:t>ads.txt evidence</a:t>
            </a:r>
            <a:endParaRPr lang="en-US" sz="1400" dirty="0"/>
          </a:p>
        </p:txBody>
      </p:sp>
      <p:sp>
        <p:nvSpPr>
          <p:cNvPr id="32" name="Text 30"/>
          <p:cNvSpPr txBox="1"/>
          <p:nvPr/>
        </p:nvSpPr>
        <p:spPr>
          <a:xfrm>
            <a:off x="6873088" y="3493008"/>
            <a:ext cx="4587088" cy="246888"/>
          </a:xfrm>
          <a:prstGeom prst="rect">
            <a:avLst/>
          </a:prstGeom>
          <a:noFill/>
          <a:ln/>
        </p:spPr>
        <p:txBody>
          <a:bodyPr wrap="square" lIns="0" tIns="0" rIns="0" bIns="0" rtlCol="0" anchor="t"/>
          <a:lstStyle/>
          <a:p>
            <a:pPr indent="0" marL="0">
              <a:buNone/>
            </a:pPr>
            <a:r>
              <a:rPr lang="en-US" sz="1200" dirty="0">
                <a:solidFill>
                  <a:schemeClr val="tx2"/>
                </a:solidFill>
              </a:rPr>
              <a:t>Screenshot of the update log, plus one sample update ticket</a:t>
            </a:r>
            <a:endParaRPr lang="en-US" sz="1200" dirty="0"/>
          </a:p>
        </p:txBody>
      </p:sp>
      <p:sp>
        <p:nvSpPr>
          <p:cNvPr id="33" name="evidence 8"/>
          <p:cNvSpPr/>
          <p:nvPr/>
        </p:nvSpPr>
        <p:spPr>
          <a:xfrm>
            <a:off x="6233008" y="3886200"/>
            <a:ext cx="5410048" cy="621792"/>
          </a:xfrm>
          <a:prstGeom prst="rect">
            <a:avLst/>
          </a:prstGeom>
          <a:solidFill>
            <a:schemeClr val="bg1"/>
          </a:solidFill>
          <a:ln w="9525">
            <a:solidFill>
              <a:srgbClr val="E7E0C9"/>
            </a:solidFill>
            <a:prstDash val="solid"/>
          </a:ln>
        </p:spPr>
      </p:sp>
      <p:sp>
        <p:nvSpPr>
          <p:cNvPr id="34" name="evbox 8"/>
          <p:cNvSpPr/>
          <p:nvPr/>
        </p:nvSpPr>
        <p:spPr>
          <a:xfrm>
            <a:off x="6461608" y="4087368"/>
            <a:ext cx="219456" cy="219456"/>
          </a:xfrm>
          <a:prstGeom prst="rect">
            <a:avLst/>
          </a:prstGeom>
          <a:solidFill>
            <a:schemeClr val="bg1"/>
          </a:solidFill>
          <a:ln w="15875">
            <a:solidFill>
              <a:srgbClr val="1F1E19"/>
            </a:solidFill>
            <a:prstDash val="solid"/>
          </a:ln>
        </p:spPr>
      </p:sp>
      <p:sp>
        <p:nvSpPr>
          <p:cNvPr id="35" name="Text 33"/>
          <p:cNvSpPr txBox="1"/>
          <p:nvPr/>
        </p:nvSpPr>
        <p:spPr>
          <a:xfrm>
            <a:off x="6873088" y="3950208"/>
            <a:ext cx="4587088" cy="274320"/>
          </a:xfrm>
          <a:prstGeom prst="rect">
            <a:avLst/>
          </a:prstGeom>
          <a:noFill/>
          <a:ln/>
        </p:spPr>
        <p:txBody>
          <a:bodyPr wrap="square" lIns="0" tIns="0" rIns="0" bIns="0" rtlCol="0" anchor="t"/>
          <a:lstStyle/>
          <a:p>
            <a:pPr indent="0" marL="0">
              <a:buNone/>
            </a:pPr>
            <a:r>
              <a:rPr lang="en-US" sz="1400" b="1" dirty="0">
                <a:solidFill>
                  <a:schemeClr val="tx1"/>
                </a:solidFill>
              </a:rPr>
              <a:t>Complaint process</a:t>
            </a:r>
            <a:endParaRPr lang="en-US" sz="1400" dirty="0"/>
          </a:p>
        </p:txBody>
      </p:sp>
      <p:sp>
        <p:nvSpPr>
          <p:cNvPr id="36" name="Text 34"/>
          <p:cNvSpPr txBox="1"/>
          <p:nvPr/>
        </p:nvSpPr>
        <p:spPr>
          <a:xfrm>
            <a:off x="6873088" y="4224528"/>
            <a:ext cx="4587088" cy="246888"/>
          </a:xfrm>
          <a:prstGeom prst="rect">
            <a:avLst/>
          </a:prstGeom>
          <a:noFill/>
          <a:ln/>
        </p:spPr>
        <p:txBody>
          <a:bodyPr wrap="square" lIns="0" tIns="0" rIns="0" bIns="0" rtlCol="0" anchor="t"/>
          <a:lstStyle/>
          <a:p>
            <a:pPr indent="0" marL="0">
              <a:buNone/>
            </a:pPr>
            <a:r>
              <a:rPr lang="en-US" sz="1200" dirty="0">
                <a:solidFill>
                  <a:schemeClr val="tx2"/>
                </a:solidFill>
              </a:rPr>
              <a:t>Confirm it hasn't changed; an example if one happened</a:t>
            </a:r>
            <a:endParaRPr lang="en-US" sz="1200" dirty="0"/>
          </a:p>
        </p:txBody>
      </p:sp>
      <p:sp>
        <p:nvSpPr>
          <p:cNvPr id="37" name="evidence 9"/>
          <p:cNvSpPr/>
          <p:nvPr/>
        </p:nvSpPr>
        <p:spPr>
          <a:xfrm>
            <a:off x="6233008" y="4617720"/>
            <a:ext cx="5410048" cy="621792"/>
          </a:xfrm>
          <a:prstGeom prst="rect">
            <a:avLst/>
          </a:prstGeom>
          <a:solidFill>
            <a:schemeClr val="bg2"/>
          </a:solidFill>
          <a:ln w="9525">
            <a:solidFill>
              <a:srgbClr val="E7E0C9"/>
            </a:solidFill>
            <a:prstDash val="solid"/>
          </a:ln>
        </p:spPr>
      </p:sp>
      <p:sp>
        <p:nvSpPr>
          <p:cNvPr id="38" name="Text 36"/>
          <p:cNvSpPr txBox="1"/>
          <p:nvPr/>
        </p:nvSpPr>
        <p:spPr>
          <a:xfrm>
            <a:off x="6873088" y="4681728"/>
            <a:ext cx="4587088" cy="274320"/>
          </a:xfrm>
          <a:prstGeom prst="rect">
            <a:avLst/>
          </a:prstGeom>
          <a:noFill/>
          <a:ln/>
        </p:spPr>
        <p:txBody>
          <a:bodyPr wrap="square" lIns="0" tIns="0" rIns="0" bIns="0" rtlCol="0" anchor="t"/>
          <a:lstStyle/>
          <a:p>
            <a:pPr indent="0" marL="0">
              <a:buNone/>
            </a:pPr>
            <a:r>
              <a:rPr lang="en-US" sz="1400" b="1" strike="sngStrike" dirty="0">
                <a:solidFill>
                  <a:schemeClr val="tx2"/>
                </a:solidFill>
              </a:rPr>
              <a:t>IAS screenshots</a:t>
            </a:r>
            <a:endParaRPr lang="en-US" sz="1400" dirty="0"/>
          </a:p>
        </p:txBody>
      </p:sp>
      <p:sp>
        <p:nvSpPr>
          <p:cNvPr id="39" name="Text 37"/>
          <p:cNvSpPr txBox="1"/>
          <p:nvPr/>
        </p:nvSpPr>
        <p:spPr>
          <a:xfrm>
            <a:off x="6873088" y="4956048"/>
            <a:ext cx="4587088" cy="246888"/>
          </a:xfrm>
          <a:prstGeom prst="rect">
            <a:avLst/>
          </a:prstGeom>
          <a:noFill/>
          <a:ln/>
        </p:spPr>
        <p:txBody>
          <a:bodyPr wrap="square" lIns="0" tIns="0" rIns="0" bIns="0" rtlCol="0" anchor="t"/>
          <a:lstStyle/>
          <a:p>
            <a:pPr indent="0" marL="0">
              <a:buNone/>
            </a:pPr>
            <a:r>
              <a:rPr lang="en-US" sz="1200" dirty="0">
                <a:solidFill>
                  <a:schemeClr val="tx2"/>
                </a:solidFill>
              </a:rPr>
              <a:t>No longer applies: we stopped using IAS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YEARLY AAM REVIEW</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Questions they ask, and last year's answers</a:t>
            </a:r>
            <a:endParaRPr lang="en-US" sz="3400" dirty="0"/>
          </a:p>
        </p:txBody>
      </p:sp>
      <p:graphicFrame>
        <p:nvGraphicFramePr>
          <p:cNvPr id="35" name="aam questions"/>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4023360"/>
                <a:gridCol w="7068312"/>
              </a:tblGrid>
              <a:tr h="475488">
                <a:tc>
                  <a:txBody>
                    <a:bodyPr/>
                    <a:lstStyle/>
                    <a:p>
                      <a:pPr indent="0" marL="0">
                        <a:buNone/>
                      </a:pPr>
                      <a:r>
                        <a:rPr lang="en-US" sz="1300" b="1" dirty="0">
                          <a:solidFill>
                            <a:schemeClr val="tx1"/>
                          </a:solidFill>
                          <a:latin typeface="Arial" pitchFamily="34" charset="0"/>
                          <a:ea typeface="Arial" pitchFamily="34" charset="-122"/>
                          <a:cs typeface="Arial" pitchFamily="34" charset="-120"/>
                        </a:rPr>
                        <a:t>They ask</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Last year's answer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Any material changes since last year?</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Say so, e.g. we dropped IAS in 2026</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What share of traffic does DV scan?</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Display 100%; video 1–5% (sampled)</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Which DV lists do you ingest pre-bid?</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None. DV runs client-side on the page (Michael confirmed, Jan 2026)</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Any traffic that can't be scanned?</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Google AdX: DV's wrapper can't go on exchange tags, so post-bid covers ad-server traffic only</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Where's the Description of Methodology?</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advertising.newsweek.com/#about-section. Check the link still works</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Do you need a sellers.json?</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No: Newsweek is a publisher. Make sure each exchange lists us in its sellers.json</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Who responds to fraud incidents?</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The CTO, supported by the Director of Operations and the VP of Ad Ops</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5" name="Text 2"/>
          <p:cNvSpPr txBox="1"/>
          <p:nvPr/>
        </p:nvSpPr>
        <p:spPr>
          <a:xfrm>
            <a:off x="548640" y="5852160"/>
            <a:ext cx="11094415" cy="411480"/>
          </a:xfrm>
          <a:prstGeom prst="rect">
            <a:avLst/>
          </a:prstGeom>
          <a:noFill/>
          <a:ln/>
        </p:spPr>
        <p:txBody>
          <a:bodyPr wrap="square" lIns="0" tIns="0" rIns="0" bIns="0" rtlCol="0" anchor="t"/>
          <a:lstStyle/>
          <a:p>
            <a:pPr indent="0" marL="0">
              <a:buNone/>
            </a:pPr>
            <a:r>
              <a:rPr lang="en-US" sz="1200" i="1" dirty="0">
                <a:solidFill>
                  <a:schemeClr val="tx2"/>
                </a:solidFill>
              </a:rPr>
              <a:t>They also re-check ads.txt (newsweek.com/ads.txt) with third-party validators and send back any errors. Source: AAM emails, Jan–Apr 2026.</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wsweek Paper">
  <a:themeElements>
    <a:clrScheme name="Newsweek Paper">
      <a:dk1>
        <a:srgbClr val="1F1E19"/>
      </a:dk1>
      <a:lt1>
        <a:srgbClr val="FEFCF6"/>
      </a:lt1>
      <a:dk2>
        <a:srgbClr val="57564F"/>
      </a:dk2>
      <a:lt2>
        <a:srgbClr val="F6F2E6"/>
      </a:lt2>
      <a:accent1>
        <a:srgbClr val="E91D0C"/>
      </a:accent1>
      <a:accent2>
        <a:srgbClr val="C41608"/>
      </a:accent2>
      <a:accent3>
        <a:srgbClr val="4B62E0"/>
      </a:accent3>
      <a:accent4>
        <a:srgbClr val="2D8D92"/>
      </a:accent4>
      <a:accent5>
        <a:srgbClr val="B08900"/>
      </a:accent5>
      <a:accent6>
        <a:srgbClr val="3C6B14"/>
      </a:accent6>
      <a:hlink>
        <a:srgbClr val="57564F"/>
      </a:hlink>
      <a:folHlink>
        <a:srgbClr val="8C887B"/>
      </a:folHlink>
    </a:clrScheme>
    <a:fontScheme name="Newsweek Pape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Updating the IVT Monitoring Report</dc:title>
  <dc:subject>PptxGenJS Presentation</dc:subject>
  <dc:creator>Newsweek RevOps</dc:creator>
  <cp:lastModifiedBy>Newsweek RevOps</cp:lastModifiedBy>
  <cp:revision>1</cp:revision>
  <dcterms:created xsi:type="dcterms:W3CDTF">2026-10-21T00:55:13Z</dcterms:created>
  <dcterms:modified xsi:type="dcterms:W3CDTF">2026-10-21T00:55:13Z</dcterms:modified>
</cp:coreProperties>
</file>