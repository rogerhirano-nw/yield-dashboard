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0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3233c7dd-a9ac-be44-df7c-b1ca1988ff74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1 · GAM" id="{2f0e881a-1d69-8e53-2801-4a1ca302c25c}">
          <p14:sldIdLst>
            <p14:sldId id="267"/>
            <p14:sldId id="268"/>
            <p14:sldId id="269"/>
            <p14:sldId id="270"/>
            <p14:sldId id="271"/>
          </p14:sldIdLst>
        </p14:section>
        <p14:section name="2–3 · DV and GA4" id="{695afb39-63e4-6578-ef55-a26a68a96996}">
          <p14:sldIdLst>
            <p14:sldId id="272"/>
            <p14:sldId id="273"/>
            <p14:sldId id="274"/>
            <p14:sldId id="275"/>
          </p14:sldIdLst>
        </p14:section>
        <p14:section name="4–5 · Math and deck" id="{8fb29ace-a57d-ffbd-13eb-164ee0364fd7}">
          <p14:sldIdLst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Discrepancy rate by month, 2026 YTD (Jan–Sep, October excluded)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Discrepancy %</c:v>
                </c:pt>
              </c:strCache>
            </c:strRef>
          </c:tx>
          <c:spPr>
            <a:solidFill>
              <a:srgbClr val="1F1E19"/>
            </a:solidFill>
            <a:ln w="31750" cap="flat">
              <a:solidFill>
                <a:srgbClr val="1F1E1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1E19"/>
              </a:solidFill>
              <a:ln w="9525" cap="flat">
                <a:solidFill>
                  <a:srgbClr val="1F1E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3.1</c:v>
                </c:pt>
                <c:pt idx="1">
                  <c:v>3.2</c:v>
                </c:pt>
                <c:pt idx="2">
                  <c:v>3</c:v>
                </c:pt>
                <c:pt idx="3">
                  <c:v>1.9</c:v>
                </c:pt>
                <c:pt idx="4">
                  <c:v>8.6</c:v>
                </c:pt>
                <c:pt idx="5">
                  <c:v>2.4</c:v>
                </c:pt>
                <c:pt idx="6">
                  <c:v>5.4</c:v>
                </c:pt>
                <c:pt idx="7">
                  <c:v>5.8</c:v>
                </c:pt>
                <c:pt idx="8">
                  <c:v>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F1E19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7564F"/>
                </a:solidFill>
                <a:latin typeface="+mn-lt"/>
              </a:rPr>
              <a:t>Volumes,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GA4 pageviews</c:v>
                </c:pt>
              </c:strCache>
            </c:strRef>
          </c:tx>
          <c:spPr>
            <a:solidFill>
              <a:srgbClr val="B089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88.8</c:v>
                </c:pt>
                <c:pt idx="1">
                  <c:v>76.4</c:v>
                </c:pt>
                <c:pt idx="2">
                  <c:v>78.9</c:v>
                </c:pt>
                <c:pt idx="3">
                  <c:v>44.6</c:v>
                </c:pt>
                <c:pt idx="4">
                  <c:v>40.3</c:v>
                </c:pt>
                <c:pt idx="5">
                  <c:v>39.4</c:v>
                </c:pt>
                <c:pt idx="6">
                  <c:v>41.8</c:v>
                </c:pt>
                <c:pt idx="7">
                  <c:v>42.8</c:v>
                </c:pt>
                <c:pt idx="8">
                  <c:v>52.6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DV pre-bid requests</c:v>
                </c:pt>
              </c:strCache>
            </c:strRef>
          </c:tx>
          <c:spPr>
            <a:solidFill>
              <a:srgbClr val="2D8D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86</c:v>
                </c:pt>
                <c:pt idx="1">
                  <c:v>74</c:v>
                </c:pt>
                <c:pt idx="2">
                  <c:v>76.5</c:v>
                </c:pt>
                <c:pt idx="3">
                  <c:v>43.8</c:v>
                </c:pt>
                <c:pt idx="4">
                  <c:v>36.8</c:v>
                </c:pt>
                <c:pt idx="5">
                  <c:v>38.4</c:v>
                </c:pt>
                <c:pt idx="6">
                  <c:v>39.5</c:v>
                </c:pt>
                <c:pt idx="7">
                  <c:v>40.3</c:v>
                </c:pt>
                <c:pt idx="8">
                  <c:v>50.5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0C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Display discrepancy %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Display discrepancy %</c:v>
                </c:pt>
              </c:strCache>
            </c:strRef>
          </c:tx>
          <c:spPr>
            <a:solidFill>
              <a:srgbClr val="1F1E19"/>
            </a:solidFill>
            <a:ln w="31750" cap="flat">
              <a:solidFill>
                <a:srgbClr val="1F1E1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1E19"/>
              </a:solidFill>
              <a:ln w="9525" cap="flat">
                <a:solidFill>
                  <a:srgbClr val="1F1E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7.8</c:v>
                </c:pt>
                <c:pt idx="1">
                  <c:v>8</c:v>
                </c:pt>
                <c:pt idx="2">
                  <c:v>10.5</c:v>
                </c:pt>
                <c:pt idx="3">
                  <c:v>10.6</c:v>
                </c:pt>
                <c:pt idx="4">
                  <c:v>8.6</c:v>
                </c:pt>
                <c:pt idx="5">
                  <c:v>7.6</c:v>
                </c:pt>
                <c:pt idx="6">
                  <c:v>7.8</c:v>
                </c:pt>
                <c:pt idx="7">
                  <c:v>7.3</c:v>
                </c:pt>
                <c:pt idx="8">
                  <c:v>7.1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1" i="0" strike="noStrike" sz="900" u="none">
                  <a:solidFill>
                    <a:srgbClr val="1F1E19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7564F"/>
                </a:solidFill>
                <a:latin typeface="+mn-lt"/>
              </a:rPr>
              <a:t>Display,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GAM total</c:v>
                </c:pt>
              </c:strCache>
            </c:strRef>
          </c:tx>
          <c:spPr>
            <a:solidFill>
              <a:srgbClr val="4B62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401.2</c:v>
                </c:pt>
                <c:pt idx="1">
                  <c:v>343.9</c:v>
                </c:pt>
                <c:pt idx="2">
                  <c:v>356.7</c:v>
                </c:pt>
                <c:pt idx="3">
                  <c:v>201.9</c:v>
                </c:pt>
                <c:pt idx="4">
                  <c:v>173.7</c:v>
                </c:pt>
                <c:pt idx="5">
                  <c:v>198.2</c:v>
                </c:pt>
                <c:pt idx="6">
                  <c:v>209.7</c:v>
                </c:pt>
                <c:pt idx="7">
                  <c:v>210</c:v>
                </c:pt>
                <c:pt idx="8">
                  <c:v>260.5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DV post-bid</c:v>
                </c:pt>
              </c:strCache>
            </c:strRef>
          </c:tx>
          <c:spPr>
            <a:solidFill>
              <a:srgbClr val="2D8D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370</c:v>
                </c:pt>
                <c:pt idx="1">
                  <c:v>316.4</c:v>
                </c:pt>
                <c:pt idx="2">
                  <c:v>319.2</c:v>
                </c:pt>
                <c:pt idx="3">
                  <c:v>180.6</c:v>
                </c:pt>
                <c:pt idx="4">
                  <c:v>158.8</c:v>
                </c:pt>
                <c:pt idx="5">
                  <c:v>183.2</c:v>
                </c:pt>
                <c:pt idx="6">
                  <c:v>193.4</c:v>
                </c:pt>
                <c:pt idx="7">
                  <c:v>194.6</c:v>
                </c:pt>
                <c:pt idx="8">
                  <c:v>241.9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0C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Video discrepancy %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Video discrepancy %</c:v>
                </c:pt>
              </c:strCache>
            </c:strRef>
          </c:tx>
          <c:spPr>
            <a:solidFill>
              <a:srgbClr val="1F1E19"/>
            </a:solidFill>
            <a:ln w="31750" cap="flat">
              <a:solidFill>
                <a:srgbClr val="1F1E1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1E19"/>
              </a:solidFill>
              <a:ln w="9525" cap="flat">
                <a:solidFill>
                  <a:srgbClr val="1F1E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12.5</c:v>
                </c:pt>
                <c:pt idx="1">
                  <c:v>15.1</c:v>
                </c:pt>
                <c:pt idx="2">
                  <c:v>14</c:v>
                </c:pt>
                <c:pt idx="3">
                  <c:v>16.4</c:v>
                </c:pt>
                <c:pt idx="4">
                  <c:v>14.3</c:v>
                </c:pt>
                <c:pt idx="5">
                  <c:v>11.2</c:v>
                </c:pt>
                <c:pt idx="6">
                  <c:v>11.7</c:v>
                </c:pt>
                <c:pt idx="7">
                  <c:v>12.8</c:v>
                </c:pt>
                <c:pt idx="8">
                  <c:v>11.4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1" i="0" strike="noStrike" sz="900" u="none">
                  <a:solidFill>
                    <a:srgbClr val="1F1E19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7564F"/>
                </a:solidFill>
                <a:latin typeface="+mn-lt"/>
              </a:rPr>
              <a:t>Video,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GAM total</c:v>
                </c:pt>
              </c:strCache>
            </c:strRef>
          </c:tx>
          <c:spPr>
            <a:solidFill>
              <a:srgbClr val="4B62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46.7</c:v>
                </c:pt>
                <c:pt idx="1">
                  <c:v>43.3</c:v>
                </c:pt>
                <c:pt idx="2">
                  <c:v>47.1</c:v>
                </c:pt>
                <c:pt idx="3">
                  <c:v>25.7</c:v>
                </c:pt>
                <c:pt idx="4">
                  <c:v>23.9</c:v>
                </c:pt>
                <c:pt idx="5">
                  <c:v>27.2</c:v>
                </c:pt>
                <c:pt idx="6">
                  <c:v>28.9</c:v>
                </c:pt>
                <c:pt idx="7">
                  <c:v>26.5</c:v>
                </c:pt>
                <c:pt idx="8">
                  <c:v>32.9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DV post-bid</c:v>
                </c:pt>
              </c:strCache>
            </c:strRef>
          </c:tx>
          <c:spPr>
            <a:solidFill>
              <a:srgbClr val="2D8D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40.9</c:v>
                </c:pt>
                <c:pt idx="1">
                  <c:v>36.8</c:v>
                </c:pt>
                <c:pt idx="2">
                  <c:v>40.5</c:v>
                </c:pt>
                <c:pt idx="3">
                  <c:v>21.5</c:v>
                </c:pt>
                <c:pt idx="4">
                  <c:v>20.5</c:v>
                </c:pt>
                <c:pt idx="5">
                  <c:v>24.2</c:v>
                </c:pt>
                <c:pt idx="6">
                  <c:v>25.5</c:v>
                </c:pt>
                <c:pt idx="7">
                  <c:v>23.1</c:v>
                </c:pt>
                <c:pt idx="8">
                  <c:v>29.1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0C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SIVT rate by quarter, 2026 YTD (Jan–Sep, October excluded)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Overall</c:v>
                </c:pt>
              </c:strCache>
            </c:strRef>
          </c:tx>
          <c:spPr>
            <a:solidFill>
              <a:srgbClr val="1F1E19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0.039</c:v>
                </c:pt>
                <c:pt idx="1">
                  <c:v>0.042</c:v>
                </c:pt>
                <c:pt idx="2">
                  <c:v>0.044</c:v>
                </c:pt>
                <c:pt idx="3">
                  <c:v>0.041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Display</c:v>
                </c:pt>
              </c:strCache>
            </c:strRef>
          </c:tx>
          <c:spPr>
            <a:solidFill>
              <a:srgbClr val="4B62E0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0.04</c:v>
                </c:pt>
                <c:pt idx="1">
                  <c:v>0.046</c:v>
                </c:pt>
                <c:pt idx="2">
                  <c:v>0.048</c:v>
                </c:pt>
                <c:pt idx="3">
                  <c:v>0.044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Video</c:v>
                </c:pt>
              </c:strCache>
            </c:strRef>
          </c:tx>
          <c:spPr>
            <a:solidFill>
              <a:srgbClr val="824DD7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0.027</c:v>
                </c:pt>
                <c:pt idx="1">
                  <c:v>0.016</c:v>
                </c:pt>
                <c:pt idx="2">
                  <c:v>0.017</c:v>
                </c:pt>
                <c:pt idx="3">
                  <c:v>0.021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F1E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1E19"/>
                </a:solidFill>
                <a:latin typeface="+mn-lt"/>
              </a:rPr>
              <a:t>Display (ad unit newsweek) · millions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Display (ad unit newsweek)</c:v>
                </c:pt>
              </c:strCache>
            </c:strRef>
          </c:tx>
          <c:spPr>
            <a:solidFill>
              <a:srgbClr val="4B62E0"/>
            </a:solidFill>
            <a:effectLst/>
          </c:spPr>
          <c:invertIfNegative val="0"/>
          <c:dLbls>
            <c:numFmt formatCode="#,##0.0&quot;M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B62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B62E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B62E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B62E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B62E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F1E19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PMP – PD+PG</c:v>
                  </c:pt>
                  <c:pt idx="1">
                    <c:v>Ad server</c:v>
                  </c:pt>
                  <c:pt idx="2">
                    <c:v>PMP – PA</c:v>
                  </c:pt>
                  <c:pt idx="3">
                    <c:v>Open Bidding</c:v>
                  </c:pt>
                  <c:pt idx="4">
                    <c:v>Ad Exchange</c:v>
                  </c:pt>
                  <c:pt idx="5">
                    <c:v>GAM total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313.3</c:v>
                </c:pt>
                <c:pt idx="1">
                  <c:v>1802.7</c:v>
                </c:pt>
                <c:pt idx="2">
                  <c:v>3.9</c:v>
                </c:pt>
                <c:pt idx="3">
                  <c:v>34.5</c:v>
                </c:pt>
                <c:pt idx="4">
                  <c:v>321.7</c:v>
                </c:pt>
                <c:pt idx="5">
                  <c:v>2355.8</c:v>
                </c:pt>
              </c:numCache>
            </c:numRef>
          </c:val>
        </c:ser>
        <c:dLbls>
          <c:numFmt formatCode="#,##0.0&quot;M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F1E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5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1E19"/>
                </a:solidFill>
                <a:latin typeface="+mn-lt"/>
              </a:rPr>
              <a:t>Video (ad unit vid.newsweek) · millions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Video (ad unit vid.newsweek)</c:v>
                </c:pt>
              </c:strCache>
            </c:strRef>
          </c:tx>
          <c:spPr>
            <a:solidFill>
              <a:srgbClr val="4B62E0"/>
            </a:solidFill>
            <a:effectLst/>
          </c:spPr>
          <c:invertIfNegative val="0"/>
          <c:dLbls>
            <c:numFmt formatCode="#,##0.0&quot;M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B62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B62E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B62E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B62E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B62E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F1E19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PMP – PD+PG</c:v>
                  </c:pt>
                  <c:pt idx="1">
                    <c:v>Ad server</c:v>
                  </c:pt>
                  <c:pt idx="2">
                    <c:v>PMP – PA</c:v>
                  </c:pt>
                  <c:pt idx="3">
                    <c:v>Open Bidding</c:v>
                  </c:pt>
                  <c:pt idx="4">
                    <c:v>Ad Exchange</c:v>
                  </c:pt>
                  <c:pt idx="5">
                    <c:v>GAM total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29.3</c:v>
                </c:pt>
                <c:pt idx="1">
                  <c:v>277.8</c:v>
                </c:pt>
                <c:pt idx="2">
                  <c:v>0.7</c:v>
                </c:pt>
                <c:pt idx="3">
                  <c:v>5.5</c:v>
                </c:pt>
                <c:pt idx="4">
                  <c:v>23.9</c:v>
                </c:pt>
                <c:pt idx="5">
                  <c:v>302.4</c:v>
                </c:pt>
              </c:numCache>
            </c:numRef>
          </c:val>
        </c:ser>
        <c:dLbls>
          <c:numFmt formatCode="#,##0.0&quot;M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F1E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1E19"/>
                </a:solidFill>
                <a:latin typeface="+mn-lt"/>
              </a:rPr>
              <a:t>GA4 vs DV pre-bid discrepancy, 2026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Discrepancy</c:v>
                </c:pt>
              </c:strCache>
            </c:strRef>
          </c:tx>
          <c:spPr>
            <a:solidFill>
              <a:srgbClr val="57564F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3.11</c:v>
                </c:pt>
                <c:pt idx="1">
                  <c:v>4.22</c:v>
                </c:pt>
                <c:pt idx="2">
                  <c:v>5.02</c:v>
                </c:pt>
                <c:pt idx="3">
                  <c:v>3.9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F1E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for the quarterly refresh of the Newsweek IVT Monitoring Report, the TAG CAF evidence pack. Everything here is done in the Ad Manager, DoubleVerify Pinnacle and GA4 interfaces.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VER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2377440" cy="3657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SECTION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indent="0" marL="0">
              <a:buNone/>
            </a:pP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5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6355080"/>
            <a:ext cx="1371600" cy="21031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NTENT">
    <p:bg>
      <p:bgPr>
        <a:solidFill>
          <a:srgbClr val="FE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09728" cy="109728"/>
          </a:xfrm>
          <a:prstGeom prst="rect">
            <a:avLst/>
          </a:prstGeom>
          <a:solidFill>
            <a:srgbClr val="E91D0C"/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972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 IVT monitoring report · update guide</a:t>
            </a:r>
            <a:endParaRPr lang="en-US" sz="1000" dirty="0"/>
          </a:p>
        </p:txBody>
      </p:sp>
      <p:pic>
        <p:nvPicPr>
          <p:cNvPr id="6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6400800"/>
            <a:ext cx="1188720" cy="182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4" Type="http://schemas.openxmlformats.org/officeDocument/2006/relationships/chart" Target="/ppt/charts/chart6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analytics.google.com/analytics/web/#/analysis/a131632414p359317277/edit/Gbsqfd36SraxUc8LJyQB6g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bg2"/>
                </a:solidFill>
              </a:rPr>
              <a:t>REVOPS · TAG CERTIFIED AGAINST FRAUD</a:t>
            </a:r>
            <a:endParaRPr lang="en-US" sz="1400" dirty="0"/>
          </a:p>
        </p:txBody>
      </p:sp>
      <p:sp>
        <p:nvSpPr>
          <p:cNvPr id="3" name="cover tick"/>
          <p:cNvSpPr/>
          <p:nvPr/>
        </p:nvSpPr>
        <p:spPr>
          <a:xfrm>
            <a:off x="548640" y="2862072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Updating the IVT Monitoring Report</a:t>
            </a: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quarterly runbook: where every number comes from in GAM, DoubleVerify and GA4, and how it reaches the deck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WHAT WE UPDATE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files, refreshed once a quarter</a:t>
            </a:r>
            <a:endParaRPr lang="en-US" sz="3400" dirty="0"/>
          </a:p>
        </p:txBody>
      </p:sp>
      <p:sp>
        <p:nvSpPr>
          <p:cNvPr id="4" name="file card 1"/>
          <p:cNvSpPr/>
          <p:nvPr/>
        </p:nvSpPr>
        <p:spPr>
          <a:xfrm>
            <a:off x="548640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file dot 1"/>
          <p:cNvSpPr/>
          <p:nvPr/>
        </p:nvSpPr>
        <p:spPr>
          <a:xfrm>
            <a:off x="868680" y="25146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 discrepancy workbook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Pre-bid monitoring. Comparing GA4 web pageviews with DV pre-bid requests, month by month, shows TAG and its auditors that DV monitors every pageview.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THE REPORT'S PRE-BID SLIDE</a:t>
            </a:r>
            <a:endParaRPr lang="en-US" sz="1100" dirty="0"/>
          </a:p>
        </p:txBody>
      </p:sp>
      <p:sp>
        <p:nvSpPr>
          <p:cNvPr id="10" name="file card 2"/>
          <p:cNvSpPr/>
          <p:nvPr/>
        </p:nvSpPr>
        <p:spPr>
          <a:xfrm>
            <a:off x="4368698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file dot 2"/>
          <p:cNvSpPr/>
          <p:nvPr/>
        </p:nvSpPr>
        <p:spPr>
          <a:xfrm>
            <a:off x="4688738" y="25146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88738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DV-GAM discrepancy workbook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88738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Post-bid monitoring. Comparing every impression GAM records with what DV records shows we also measure all post-bid impressions. Plus SIVT rate.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88738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THE REPORT'S SIVT SLIDE</a:t>
            </a:r>
            <a:endParaRPr lang="en-US" sz="1100" dirty="0"/>
          </a:p>
        </p:txBody>
      </p:sp>
      <p:sp>
        <p:nvSpPr>
          <p:cNvPr id="16" name="file card 3"/>
          <p:cNvSpPr/>
          <p:nvPr/>
        </p:nvSpPr>
        <p:spPr>
          <a:xfrm>
            <a:off x="8188757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file dot 3"/>
          <p:cNvSpPr/>
          <p:nvPr/>
        </p:nvSpPr>
        <p:spPr>
          <a:xfrm>
            <a:off x="8508797" y="251460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08797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508797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IVT Monitoring Report deck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508797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TAG evidence pack sent to the auditor and buyers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508797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BUILT FROM BOTH WORKBOOKS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WORKBOOK 1 · DV-GA DISCREPANCY · PRE-BID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DV's pre-bid check see every page?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 goal: by comparing GA4 pageviews with DV pre-bid requests, show TAG and TAG auditors that every pageview is monitored by DoubleVerify.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One sheet (Y&lt;year&gt;), one row per month grouped Q1–Q4, Totals row at the bottom. Feeds the report's pre-bid slide.</a:t>
            </a:r>
            <a:endParaRPr lang="en-US" sz="1400" dirty="0"/>
          </a:p>
        </p:txBody>
      </p:sp>
      <p:graphicFrame>
        <p:nvGraphicFramePr>
          <p:cNvPr id="4" name="Workbook 1 · DV-GA discrepancy · pre-bid monitoring colum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99232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217920"/>
                <a:gridCol w="2496312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holds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of 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month, as YYYYMM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Always web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Pageviews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GA4 web views for the month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Prebid Reqs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Pages DoubleVerify's pre-bid check evaluated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Discrepancy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(Pageviews − Prebid Reqs) ÷ Pageviews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Formula · don't overwrite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PRE-BID MONITORING · WHAT IT SHOWS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Pre-bid discrepancy: 3.9% YTD</a:t>
            </a:r>
            <a:endParaRPr lang="en-US" sz="3400" dirty="0"/>
          </a:p>
        </p:txBody>
      </p:sp>
      <p:graphicFrame>
        <p:nvGraphicFramePr>
          <p:cNvPr id="4" name="Pre-bid monitoring · what it shows discrepancy chart 1" descr=""/>
          <p:cNvGraphicFramePr/>
          <p:nvPr/>
        </p:nvGraphicFramePr>
        <p:xfrm>
          <a:off x="548640" y="1828800"/>
          <a:ext cx="740664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Pre-bid monitoring · what it shows volume chart 1" descr=""/>
          <p:cNvGraphicFramePr/>
          <p:nvPr/>
        </p:nvGraphicFramePr>
        <p:xfrm>
          <a:off x="548640" y="3474720"/>
          <a:ext cx="74066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tat 1"/>
          <p:cNvSpPr/>
          <p:nvPr/>
        </p:nvSpPr>
        <p:spPr>
          <a:xfrm>
            <a:off x="8321040" y="1965960"/>
            <a:ext cx="3322015" cy="374904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595360" y="21945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DISCREPANCY, YTD JAN–SEP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8595360" y="246888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3.9%</a:t>
            </a:r>
            <a:endParaRPr lang="en-US" sz="4400" dirty="0"/>
          </a:p>
        </p:txBody>
      </p:sp>
      <p:sp>
        <p:nvSpPr>
          <p:cNvPr id="9" name="Text 5"/>
          <p:cNvSpPr txBox="1"/>
          <p:nvPr/>
        </p:nvSpPr>
        <p:spPr>
          <a:xfrm>
            <a:off x="8595360" y="3246120"/>
            <a:ext cx="277337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So 96.1% of pageviews were monitored by DV pre-bid: 485.97M requests against 505.70M GA4 pageviews. Highest month: May, 8.6%.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0807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Source: DV-GA workbook 2026. Discrepancy = (Pageviews − Prebid Reqs) ÷ Pageviews.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WORKBOOK 2 · DV-GAM DISCREPANCY · POST-BID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Ad Manager counted vs what DV measured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 goal: by comparing all impressions GAM records with what DV records, show TAG and TAG auditors that every post-bid impression is measured.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Two sheets, same columns: inpage display (ad unit newsweek) and instream video (vid.newsweek). Feeds the report's SIVT slide.</a:t>
            </a:r>
            <a:endParaRPr lang="en-US" sz="1400" dirty="0"/>
          </a:p>
        </p:txBody>
      </p:sp>
      <p:graphicFrame>
        <p:nvGraphicFramePr>
          <p:cNvPr id="6" name="Workbook 2 · DV-GAM discrepancy · post-bid monitoring colum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99232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217920"/>
                <a:gridCol w="2496312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holds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and 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month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 (includes Private Auction)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Auction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Preferred Deal + Programmatic Guaranteed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Display: Total code served count. Video: Ad Exchange + PMP – PA + Ad server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 post-bid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Impressions DV measured post-bid (header: total DV gross impressions – post-bid)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DV-GAM discrepancy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1 − DV post-bid impressions ÷ GAM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Formula · don't overwrite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SIVT 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DV's sophisticated invalid traffic rate, as a decimal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POST-BID MONITORING · WHAT IT SHOWS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Post-bid discrepancy: 8.4% display, 13.3% video</a:t>
            </a:r>
            <a:endParaRPr lang="en-US" sz="3400" dirty="0"/>
          </a:p>
        </p:txBody>
      </p:sp>
      <p:graphicFrame>
        <p:nvGraphicFramePr>
          <p:cNvPr id="4" name="Post-bid monitoring · what it shows discrepancy chart 1" descr=""/>
          <p:cNvGraphicFramePr/>
          <p:nvPr/>
        </p:nvGraphicFramePr>
        <p:xfrm>
          <a:off x="548640" y="1828800"/>
          <a:ext cx="354330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Post-bid monitoring · what it shows volume chart 1" descr=""/>
          <p:cNvGraphicFramePr/>
          <p:nvPr/>
        </p:nvGraphicFramePr>
        <p:xfrm>
          <a:off x="548640" y="3474720"/>
          <a:ext cx="354330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Post-bid monitoring · what it shows discrepancy chart 2" descr=""/>
          <p:cNvGraphicFramePr/>
          <p:nvPr/>
        </p:nvGraphicFramePr>
        <p:xfrm>
          <a:off x="4411980" y="1828800"/>
          <a:ext cx="354330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Post-bid monitoring · what it shows volume chart 2" descr=""/>
          <p:cNvGraphicFramePr/>
          <p:nvPr/>
        </p:nvGraphicFramePr>
        <p:xfrm>
          <a:off x="4411980" y="3474720"/>
          <a:ext cx="354330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stat 1"/>
          <p:cNvSpPr/>
          <p:nvPr/>
        </p:nvSpPr>
        <p:spPr>
          <a:xfrm>
            <a:off x="8321040" y="1965960"/>
            <a:ext cx="3322015" cy="178308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595360" y="21945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DISPLAY DISCREPANCY, YTD</a:t>
            </a:r>
            <a:endParaRPr lang="en-US" sz="1100" dirty="0"/>
          </a:p>
        </p:txBody>
      </p:sp>
      <p:sp>
        <p:nvSpPr>
          <p:cNvPr id="10" name="Text 4"/>
          <p:cNvSpPr txBox="1"/>
          <p:nvPr/>
        </p:nvSpPr>
        <p:spPr>
          <a:xfrm>
            <a:off x="8595360" y="246888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8.4%</a:t>
            </a:r>
            <a:endParaRPr lang="en-US" sz="4400" dirty="0"/>
          </a:p>
        </p:txBody>
      </p:sp>
      <p:sp>
        <p:nvSpPr>
          <p:cNvPr id="11" name="Text 5"/>
          <p:cNvSpPr txBox="1"/>
          <p:nvPr/>
        </p:nvSpPr>
        <p:spPr>
          <a:xfrm>
            <a:off x="8595360" y="3246120"/>
            <a:ext cx="2773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91.6% of display impressions measured by DV post-bid.</a:t>
            </a:r>
            <a:endParaRPr lang="en-US" sz="1300" dirty="0"/>
          </a:p>
        </p:txBody>
      </p:sp>
      <p:sp>
        <p:nvSpPr>
          <p:cNvPr id="12" name="stat 2"/>
          <p:cNvSpPr/>
          <p:nvPr/>
        </p:nvSpPr>
        <p:spPr>
          <a:xfrm>
            <a:off x="8321040" y="3931920"/>
            <a:ext cx="3322015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8595360" y="416052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VIDEO DISCREPANCY, YTD</a:t>
            </a:r>
            <a:endParaRPr lang="en-US" sz="1100" dirty="0"/>
          </a:p>
        </p:txBody>
      </p:sp>
      <p:sp>
        <p:nvSpPr>
          <p:cNvPr id="14" name="Text 8"/>
          <p:cNvSpPr txBox="1"/>
          <p:nvPr/>
        </p:nvSpPr>
        <p:spPr>
          <a:xfrm>
            <a:off x="8595360" y="443484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13.3%</a:t>
            </a:r>
            <a:endParaRPr lang="en-US" sz="4400" dirty="0"/>
          </a:p>
        </p:txBody>
      </p:sp>
      <p:sp>
        <p:nvSpPr>
          <p:cNvPr id="15" name="Text 9"/>
          <p:cNvSpPr txBox="1"/>
          <p:nvPr/>
        </p:nvSpPr>
        <p:spPr>
          <a:xfrm>
            <a:off x="8595360" y="5212080"/>
            <a:ext cx="2773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86.7% measured. Gap = impressions DV can't tag (e.g. Google demand).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60807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Source: DV-GAM workbook, 2026 YTD Jan–Sep (October excluded). Discrepancy = 1 − DV ÷ GAM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DELIVERABLE · REPORT · PRE-BID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pageviews vs DV pre-bid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Goal: show TAG auditors that DV monitors every pageview.</a:t>
            </a:r>
            <a:endParaRPr lang="en-US" sz="1500" dirty="0"/>
          </a:p>
        </p:txBody>
      </p:sp>
      <p:sp>
        <p:nvSpPr>
          <p:cNvPr id="5" name="Deliverable · report · pre-bid monitoring BY MONTH card"/>
          <p:cNvSpPr/>
          <p:nvPr/>
        </p:nvSpPr>
        <p:spPr>
          <a:xfrm>
            <a:off x="548640" y="2240280"/>
            <a:ext cx="5364328" cy="384048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6" name="BY MONTH tick"/>
          <p:cNvSpPr/>
          <p:nvPr/>
        </p:nvSpPr>
        <p:spPr>
          <a:xfrm>
            <a:off x="822960" y="249631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42316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BY MONTH</a:t>
            </a:r>
            <a:endParaRPr lang="en-US" sz="1000" dirty="0"/>
          </a:p>
        </p:txBody>
      </p:sp>
      <p:graphicFrame>
        <p:nvGraphicFramePr>
          <p:cNvPr id="8" name="Deliverable · report · pre-bid monitoring BY MONTH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788920"/>
          <a:ext cx="4815688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463040"/>
                <a:gridCol w="1463040"/>
                <a:gridCol w="11887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Month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Pageviews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DV pre-bid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Discrepancy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Jan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88,799,843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86,029,638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Feb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76,449,175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73,990,594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Mar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78,906,939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76,544,383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2.99%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Apr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44,598,903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43,771,981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May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40,298,053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36,840,158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Jun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39,401,025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38,439,204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Jul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41,820,559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39,544,135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Aug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42,787,009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40,292,568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Sep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52,642,347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50,519,576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Deliverable · report · pre-bid monitoring BY QUARTER card"/>
          <p:cNvSpPr/>
          <p:nvPr/>
        </p:nvSpPr>
        <p:spPr>
          <a:xfrm>
            <a:off x="6278728" y="2240280"/>
            <a:ext cx="5364328" cy="384048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BY QUARTER tick"/>
          <p:cNvSpPr/>
          <p:nvPr/>
        </p:nvSpPr>
        <p:spPr>
          <a:xfrm>
            <a:off x="6553048" y="249631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735928" y="242316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BY QUARTER</a:t>
            </a:r>
            <a:endParaRPr lang="en-US" sz="1000" dirty="0"/>
          </a:p>
        </p:txBody>
      </p:sp>
      <p:graphicFrame>
        <p:nvGraphicFramePr>
          <p:cNvPr id="15" name="Deliverable · report · pre-bid monitoring BY QUARTER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53048" y="2788920"/>
          <a:ext cx="4815688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463040"/>
                <a:gridCol w="1463040"/>
                <a:gridCol w="11887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Quarter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Pageviews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DV pre-bid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Discrepancy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Q1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244,155,957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236,564,615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Q2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124,297,981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119,051,343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Q3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137,249,915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130,356,279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Q4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YTD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505,703,853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485,972,237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2026 YTD Jan–Sep from the DV-GA workbook · discrepancy = (pageviews − DV pre-bid) ÷ pageviews. Q4 fills in after December closes.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DELIVERABLE · REPORT · SIVT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Newsweek has consistently low SIVT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Goal: show TAG auditors that SIVT stays low, month after month.</a:t>
            </a:r>
            <a:endParaRPr lang="en-US" sz="1500" dirty="0"/>
          </a:p>
        </p:txBody>
      </p:sp>
      <p:sp>
        <p:nvSpPr>
          <p:cNvPr id="5" name="Deliverable · report · SIVT BY MONTH card"/>
          <p:cNvSpPr/>
          <p:nvPr/>
        </p:nvSpPr>
        <p:spPr>
          <a:xfrm>
            <a:off x="548640" y="2240280"/>
            <a:ext cx="5364328" cy="384048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6" name="BY MONTH tick"/>
          <p:cNvSpPr/>
          <p:nvPr/>
        </p:nvSpPr>
        <p:spPr>
          <a:xfrm>
            <a:off x="822960" y="249631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42316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BY MONTH</a:t>
            </a:r>
            <a:endParaRPr lang="en-US" sz="1000" dirty="0"/>
          </a:p>
        </p:txBody>
      </p:sp>
      <p:graphicFrame>
        <p:nvGraphicFramePr>
          <p:cNvPr id="9" name="Deliverable · report · SIVT BY MONTH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788920"/>
          <a:ext cx="4815688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98448"/>
                <a:gridCol w="1298448"/>
                <a:gridCol w="1289304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Month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Overall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Display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Video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Jan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Feb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Mar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Apr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May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Jun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Jul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Aug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Sep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Deliverable · report · SIVT BY QUARTER card"/>
          <p:cNvSpPr/>
          <p:nvPr/>
        </p:nvSpPr>
        <p:spPr>
          <a:xfrm>
            <a:off x="6278728" y="2240280"/>
            <a:ext cx="5364328" cy="384048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BY QUARTER tick"/>
          <p:cNvSpPr/>
          <p:nvPr/>
        </p:nvSpPr>
        <p:spPr>
          <a:xfrm>
            <a:off x="6553048" y="249631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735928" y="242316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BY QUARTER</a:t>
            </a:r>
            <a:endParaRPr lang="en-US" sz="1000" dirty="0"/>
          </a:p>
        </p:txBody>
      </p:sp>
      <p:graphicFrame>
        <p:nvGraphicFramePr>
          <p:cNvPr id="17" name="Deliverable · report · SIVT BY QUARTER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53048" y="2788920"/>
          <a:ext cx="4815688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98448"/>
                <a:gridCol w="1298448"/>
                <a:gridCol w="1289304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Quarter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Overall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Display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Video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Q1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Q2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Q3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Q4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YTD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2026 YTD Jan–Sep from the DV-GAM workbook · overall and quarters weighted by DV post-bid impressions. Q4 fills in after December closes.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DELIVERABLE · WHAT IT SHOWS AUDITORS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stays near 0.04% every quarter</a:t>
            </a:r>
            <a:endParaRPr lang="en-US" sz="3400" dirty="0"/>
          </a:p>
        </p:txBody>
      </p:sp>
      <p:graphicFrame>
        <p:nvGraphicFramePr>
          <p:cNvPr id="4" name="sivt by quarter chart" descr=""/>
          <p:cNvGraphicFramePr/>
          <p:nvPr/>
        </p:nvGraphicFramePr>
        <p:xfrm>
          <a:off x="548640" y="1874520"/>
          <a:ext cx="74066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ivt stat 1"/>
          <p:cNvSpPr/>
          <p:nvPr/>
        </p:nvSpPr>
        <p:spPr>
          <a:xfrm>
            <a:off x="8321040" y="1965960"/>
            <a:ext cx="3322015" cy="178308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95360" y="21945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SIVT, YTD JAN–SEP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246888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0.04%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324612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Impression-weighted across display and video. Industry red line is 3%.</a:t>
            </a:r>
            <a:endParaRPr lang="en-US" sz="1300" dirty="0"/>
          </a:p>
        </p:txBody>
      </p:sp>
      <p:sp>
        <p:nvSpPr>
          <p:cNvPr id="9" name="sivt stat 2"/>
          <p:cNvSpPr/>
          <p:nvPr/>
        </p:nvSpPr>
        <p:spPr>
          <a:xfrm>
            <a:off x="8321040" y="3931920"/>
            <a:ext cx="3322015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95360" y="416052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DISPLAY · VIDEO, YTD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595360" y="443484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0.04% · 0.02%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8595360" y="521208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Each sheet's SIVT Rate weighted by DV post-bid impressions.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0807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Source: DV-GAM workbook, SIVT Rate weighted by DV post-bid impressions. Never average the monthly rates.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ORDER MATTERS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steps, always in this order</a:t>
            </a:r>
            <a:endParaRPr lang="en-US" sz="3400" dirty="0"/>
          </a:p>
        </p:txBody>
      </p:sp>
      <p:sp>
        <p:nvSpPr>
          <p:cNvPr id="4" name="step card 1"/>
          <p:cNvSpPr/>
          <p:nvPr/>
        </p:nvSpPr>
        <p:spPr>
          <a:xfrm>
            <a:off x="548640" y="2423160"/>
            <a:ext cx="1999427" cy="31089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Six columns from Ad Manager reports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9" name="step card 2"/>
          <p:cNvSpPr/>
          <p:nvPr/>
        </p:nvSpPr>
        <p:spPr>
          <a:xfrm>
            <a:off x="2822387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96707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096707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096707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Inventory Quality report (DV UI)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96707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14" name="step card 3"/>
          <p:cNvSpPr/>
          <p:nvPr/>
        </p:nvSpPr>
        <p:spPr>
          <a:xfrm>
            <a:off x="5096134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70454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5370454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+ DV pre-bid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370454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Web pageviews vs pre-bid requests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70454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 sheet</a:t>
            </a:r>
            <a:endParaRPr lang="en-US" sz="1200" dirty="0"/>
          </a:p>
        </p:txBody>
      </p:sp>
      <p:sp>
        <p:nvSpPr>
          <p:cNvPr id="19" name="step card 4"/>
          <p:cNvSpPr/>
          <p:nvPr/>
        </p:nvSpPr>
        <p:spPr>
          <a:xfrm>
            <a:off x="7369881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44201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7644201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644201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Roll months into quarters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644201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Weighted SIVT, discrepancy</a:t>
            </a:r>
            <a:endParaRPr lang="en-US" sz="1200" dirty="0"/>
          </a:p>
        </p:txBody>
      </p:sp>
      <p:sp>
        <p:nvSpPr>
          <p:cNvPr id="24" name="step card 5"/>
          <p:cNvSpPr/>
          <p:nvPr/>
        </p:nvSpPr>
        <p:spPr>
          <a:xfrm>
            <a:off x="9643628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917948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9917948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Deck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917948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Cover, pre-bid, key changes, SIVT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917948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Check every 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Steps 1–3 are copied by hand from Ad Manager, DoubleVerify and GA4.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WORKBOOK IS THE REFERENCE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definitions every new month must follow</a:t>
            </a:r>
            <a:endParaRPr lang="en-US" sz="3400" dirty="0"/>
          </a:p>
        </p:txBody>
      </p:sp>
      <p:sp>
        <p:nvSpPr>
          <p:cNvPr id="4" name="rule card 1"/>
          <p:cNvSpPr/>
          <p:nvPr/>
        </p:nvSpPr>
        <p:spPr>
          <a:xfrm>
            <a:off x="548640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DISCREPANCY</a:t>
            </a:r>
            <a:endParaRPr lang="en-US" sz="1200" dirty="0"/>
          </a:p>
        </p:txBody>
      </p:sp>
      <p:sp>
        <p:nvSpPr>
          <p:cNvPr id="6" name="formula box 1"/>
          <p:cNvSpPr/>
          <p:nvPr/>
        </p:nvSpPr>
        <p:spPr>
          <a:xfrm>
            <a:off x="868680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(GA4 pageviews − DV pre-bid) ÷ GA4 pageviews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DV-GA workbook's own formula. The report uses it too.</a:t>
            </a:r>
            <a:endParaRPr lang="en-US" sz="1400" dirty="0"/>
          </a:p>
        </p:txBody>
      </p:sp>
      <p:sp>
        <p:nvSpPr>
          <p:cNvPr id="9" name="rule card 2"/>
          <p:cNvSpPr/>
          <p:nvPr/>
        </p:nvSpPr>
        <p:spPr>
          <a:xfrm>
            <a:off x="4368698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88738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GAM TOTAL</a:t>
            </a:r>
            <a:endParaRPr lang="en-US" sz="1200" dirty="0"/>
          </a:p>
        </p:txBody>
      </p:sp>
      <p:sp>
        <p:nvSpPr>
          <p:cNvPr id="11" name="formula box 2"/>
          <p:cNvSpPr/>
          <p:nvPr/>
        </p:nvSpPr>
        <p:spPr>
          <a:xfrm>
            <a:off x="4688738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71618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Total code served count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Ad Exchange + PMP – PA + Ad server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Keeps each month comparable with the months already in the sheet.</a:t>
            </a:r>
            <a:endParaRPr lang="en-US" sz="1400" dirty="0"/>
          </a:p>
        </p:txBody>
      </p:sp>
      <p:sp>
        <p:nvSpPr>
          <p:cNvPr id="14" name="rule card 3"/>
          <p:cNvSpPr/>
          <p:nvPr/>
        </p:nvSpPr>
        <p:spPr>
          <a:xfrm>
            <a:off x="8188757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08797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</a:t>
            </a:r>
            <a:endParaRPr lang="en-US" sz="1200" dirty="0"/>
          </a:p>
        </p:txBody>
      </p:sp>
      <p:sp>
        <p:nvSpPr>
          <p:cNvPr id="16" name="formula box 3"/>
          <p:cNvSpPr/>
          <p:nvPr/>
        </p:nvSpPr>
        <p:spPr>
          <a:xfrm>
            <a:off x="8508797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91677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Banner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In-stream video + In-stream video or audio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508797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Ad Exchange impressions split by the Inventory format dimension. Video always takes both formats.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Google Ad Manager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The six GAM columns of the DV-GAM workbook, for the display and video sheets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IN AD MANAGER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GAM column starts from the same report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93852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reports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30428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Reporting → Interactive reports → Create my own report → Historical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76148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the dates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12724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Date range: the months you need, e.g. Oct 1 – Dec 31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58444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two dimensions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95020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Month and year, and Ad unit (top level)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89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40740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filter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77316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 unit (top level) is any of newsweek, vid.newsweek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120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5230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metric and run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59612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One metric per column (next slide). newsweek rows → display sheet, vid.newsweek rows → video sheet</a:t>
            </a:r>
            <a:endParaRPr lang="en-US" sz="1300" dirty="0"/>
          </a:p>
        </p:txBody>
      </p:sp>
      <p:sp>
        <p:nvSpPr>
          <p:cNvPr id="19" name="save tip card"/>
          <p:cNvSpPr/>
          <p:nvPr/>
        </p:nvSpPr>
        <p:spPr>
          <a:xfrm>
            <a:off x="7680960" y="2057400"/>
            <a:ext cx="3962095" cy="35661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01000" y="2377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2"/>
                </a:solidFill>
              </a:rPr>
              <a:t>SAVE IT ONCE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27889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saved report per column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388620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Save each with date range This year. Next quarter: open it, run it, and copy only the new months.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COLUMN BY COLUMN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column is a dimension, a metric and a filter</a:t>
            </a:r>
            <a:endParaRPr lang="en-US" sz="3400" dirty="0"/>
          </a:p>
        </p:txBody>
      </p:sp>
      <p:sp>
        <p:nvSpPr>
          <p:cNvPr id="4" name="base query"/>
          <p:cNvSpPr/>
          <p:nvPr/>
        </p:nvSpPr>
        <p:spPr>
          <a:xfrm>
            <a:off x="548640" y="1920240"/>
            <a:ext cx="11094415" cy="68580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EVERY COLUMN 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Dimensions: Month and year × Ad unit (top level)   ·   Filter: Ad unit (top level) is newsweek or vid.newsweek</a:t>
            </a:r>
            <a:endParaRPr lang="en-US" sz="1100" dirty="0"/>
          </a:p>
        </p:txBody>
      </p:sp>
      <p:graphicFrame>
        <p:nvGraphicFramePr>
          <p:cNvPr id="15" name="column ma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49040"/>
                <a:gridCol w="5605272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 filter or split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by Inventory format instead of ad unit: Banner → display; In-stream video + In-stream video or audio → video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channel = 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Private Auction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Programmatic Guaranteed or Preferred Deals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code served count (display sheet)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· video GAM total = Ad Exchange + PMP – PA + 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WHAT THE GAM COLUMNS HOLD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GAM impressions come from, YTD</a:t>
            </a:r>
            <a:endParaRPr lang="en-US" sz="3400" dirty="0"/>
          </a:p>
        </p:txBody>
      </p:sp>
      <p:graphicFrame>
        <p:nvGraphicFramePr>
          <p:cNvPr id="4" name="gam columns chart 1" descr=""/>
          <p:cNvGraphicFramePr/>
          <p:nvPr/>
        </p:nvGraphicFramePr>
        <p:xfrm>
          <a:off x="548640" y="1828800"/>
          <a:ext cx="5364328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gam columns chart 2" descr=""/>
          <p:cNvGraphicFramePr/>
          <p:nvPr/>
        </p:nvGraphicFramePr>
        <p:xfrm>
          <a:off x="6278728" y="1828800"/>
          <a:ext cx="5364328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8521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2026 YTD Jan–Sep (October excluded), from the GAM dimension definitions. Ad Exchange already includes PMP – PA, so the columns don't add up to GAM total. Display GAM total = Total code served count; video GAM total = Ad Exchange + PMP – PA + Ad server.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TRAPS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dimension traps</a:t>
            </a:r>
            <a:endParaRPr lang="en-US" sz="3400" dirty="0"/>
          </a:p>
        </p:txBody>
      </p:sp>
      <p:sp>
        <p:nvSpPr>
          <p:cNvPr id="4" name="trap 1"/>
          <p:cNvSpPr/>
          <p:nvPr/>
        </p:nvSpPr>
        <p:spPr>
          <a:xfrm>
            <a:off x="548640" y="2057400"/>
            <a:ext cx="11094415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rap icon 1"/>
          <p:cNvSpPr/>
          <p:nvPr/>
        </p:nvSpPr>
        <p:spPr>
          <a:xfrm>
            <a:off x="777240" y="233172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194560"/>
            <a:ext cx="9905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Use Ad unit (top level), not Ad unit</a:t>
            </a:r>
            <a:endParaRPr lang="en-US" sz="1800" dirty="0"/>
          </a:p>
        </p:txBody>
      </p:sp>
      <p:sp>
        <p:nvSpPr>
          <p:cNvPr id="8" name="trap 2"/>
          <p:cNvSpPr/>
          <p:nvPr/>
        </p:nvSpPr>
        <p:spPr>
          <a:xfrm>
            <a:off x="548640" y="3246120"/>
            <a:ext cx="11094415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rap icon 2"/>
          <p:cNvSpPr/>
          <p:nvPr/>
        </p:nvSpPr>
        <p:spPr>
          <a:xfrm>
            <a:off x="777240" y="352044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383280"/>
            <a:ext cx="9905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Video Ad Exchange: In-stream video + In-stream video or audio</a:t>
            </a:r>
            <a:endParaRPr lang="en-US" sz="1800" dirty="0"/>
          </a:p>
        </p:txBody>
      </p:sp>
      <p:sp>
        <p:nvSpPr>
          <p:cNvPr id="12" name="trap 3"/>
          <p:cNvSpPr/>
          <p:nvPr/>
        </p:nvSpPr>
        <p:spPr>
          <a:xfrm>
            <a:off x="548640" y="4434840"/>
            <a:ext cx="11094415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rap icon 3"/>
          <p:cNvSpPr/>
          <p:nvPr/>
        </p:nvSpPr>
        <p:spPr>
          <a:xfrm>
            <a:off x="777240" y="470916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572000"/>
            <a:ext cx="9905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Never filter Programmatic channel = Open Auction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 and GA4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Copied by hand from the DV Pinnacle and GA4 interfaces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2 · DV INVENTORY QUALITY REPORT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numbers per sheet, per month</a:t>
            </a:r>
            <a:endParaRPr lang="en-US" sz="3400" dirty="0"/>
          </a:p>
        </p:txBody>
      </p:sp>
      <p:sp>
        <p:nvSpPr>
          <p:cNvPr id="4" name="dv card 1"/>
          <p:cNvSpPr/>
          <p:nvPr/>
        </p:nvSpPr>
        <p:spPr>
          <a:xfrm>
            <a:off x="548640" y="20574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 post-bid impressions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7432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Workbook column: total DV gross impressions – post-bid. Monitored impressions, Newsweek O&amp;O</a:t>
            </a:r>
            <a:endParaRPr lang="en-US" sz="1400" dirty="0"/>
          </a:p>
        </p:txBody>
      </p:sp>
      <p:sp>
        <p:nvSpPr>
          <p:cNvPr id="8" name="dv card 2"/>
          <p:cNvSpPr/>
          <p:nvPr/>
        </p:nvSpPr>
        <p:spPr>
          <a:xfrm>
            <a:off x="548640" y="36576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8862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886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Rate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43434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Fraud/SIVT rate, entered as a decimal: 0.0004 = 0.04%</a:t>
            </a:r>
            <a:endParaRPr lang="en-US" sz="1400" dirty="0"/>
          </a:p>
        </p:txBody>
      </p:sp>
      <p:sp>
        <p:nvSpPr>
          <p:cNvPr id="12" name="export card"/>
          <p:cNvSpPr/>
          <p:nvPr/>
        </p:nvSpPr>
        <p:spPr>
          <a:xfrm>
            <a:off x="7040880" y="2057400"/>
            <a:ext cx="4602175" cy="297180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EXPORT, DON'T READ A TILE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27889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370,000,000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36118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2026 DV post-bid impressions are rounded to the nearest 100k, as a UI tile shows them. Export the Inventory Quality report for exact counts.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Source: the Inventory Quality report in the DV UI (Pinnacle), for both numbers. Pull display and video as separate rows: they go to separate sheets.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2 · IN THE DV UI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Filter the Inventory Quality report by media type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93852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the report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30428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DV Pinnacle → Publisher Suite → Inventory Quality → Inventory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76148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one month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12724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Date picker: the first to the last day of the month, e.g. 7/1/2026 – 7/31/2026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58444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Filters → Media Type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95020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Tick Display (or Video) only; leave null unticked. Click Apply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89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40740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 the tiles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77316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Monitored Impressions → DV post-bid impressions; Fraud/SIVT ÷ Monitored → SIVT Rate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120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5230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Repeat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59612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Switch the filter to Video, then move to the next month</a:t>
            </a:r>
            <a:endParaRPr lang="en-US" sz="1300" dirty="0"/>
          </a:p>
        </p:txBody>
      </p:sp>
      <p:sp>
        <p:nvSpPr>
          <p:cNvPr id="19" name="dv filter example"/>
          <p:cNvSpPr/>
          <p:nvPr/>
        </p:nvSpPr>
        <p:spPr>
          <a:xfrm>
            <a:off x="7680960" y="2057400"/>
            <a:ext cx="3962095" cy="365760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01000" y="2331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EXAMPLE · JULY 2026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274320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Media Type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■ Display   193.4M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□ Video        25.5M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□ null              131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420624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193.4M is the display figure in the workbook for July. The tile rounds to 0.1M; export the report for exact counts.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3 · GA4 AND DV PRE-BID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 against pre-bid requests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49631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GA4 saved exploration: Year month × Platform, metric Views, Platform = web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54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3200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Prebid Reqs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359359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DV pre-bid page-level requests for the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51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Discrepancy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69087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Formula already in the sheet. Don't overwrite it</a:t>
            </a:r>
            <a:endParaRPr lang="en-US" sz="1400" dirty="0"/>
          </a:p>
        </p:txBody>
      </p:sp>
      <p:sp>
        <p:nvSpPr>
          <p:cNvPr id="13" name="ga4 card"/>
          <p:cNvSpPr/>
          <p:nvPr/>
        </p:nvSpPr>
        <p:spPr>
          <a:xfrm>
            <a:off x="7040880" y="2057400"/>
            <a:ext cx="4602175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GA4 SOURCE OF RECORD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27889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Account 131632414 · property 359317277</a:t>
            </a:r>
            <a:endParaRPr lang="en-US" sz="1500" dirty="0"/>
          </a:p>
          <a:p>
            <a:pPr indent="0" marL="0">
              <a:buNone/>
            </a:pPr>
            <a:r>
              <a:rPr lang="en-US" sz="15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saved exploration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60920" y="365760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Set the date range to the quarter and copy web Views per month. Save a copy under a shared account so the link survives staff changes.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 and the deck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Months become quarters, quarters become slides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4 · ROLL MONTHS INTO QUARTERS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 SIVT by impressions, never average</a:t>
            </a:r>
            <a:endParaRPr lang="en-US" sz="3400" dirty="0"/>
          </a:p>
        </p:txBody>
      </p:sp>
      <p:sp>
        <p:nvSpPr>
          <p:cNvPr id="4" name="formula 1"/>
          <p:cNvSpPr/>
          <p:nvPr/>
        </p:nvSpPr>
        <p:spPr>
          <a:xfrm>
            <a:off x="548640" y="2057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QUARTER SIVT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41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Σ(DV post-bid impressions × SIVT Rate) ÷ Σ DV post-bid impressions</a:t>
            </a:r>
            <a:endParaRPr lang="en-US" sz="1400" dirty="0"/>
          </a:p>
        </p:txBody>
      </p:sp>
      <p:sp>
        <p:nvSpPr>
          <p:cNvPr id="7" name="formula 2"/>
          <p:cNvSpPr/>
          <p:nvPr/>
        </p:nvSpPr>
        <p:spPr>
          <a:xfrm>
            <a:off x="548640" y="3200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337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OVERALL SIVT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584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same, with display and video summed together</a:t>
            </a:r>
            <a:endParaRPr lang="en-US" sz="1400" dirty="0"/>
          </a:p>
        </p:txBody>
      </p:sp>
      <p:sp>
        <p:nvSpPr>
          <p:cNvPr id="10" name="formula 3"/>
          <p:cNvSpPr/>
          <p:nvPr/>
        </p:nvSpPr>
        <p:spPr>
          <a:xfrm>
            <a:off x="548640" y="4343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480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DISCREPANCY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727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(Σ pageviews − Σ pre-bid) ÷ Σ pageviews</a:t>
            </a:r>
            <a:endParaRPr lang="en-US" sz="1400" dirty="0"/>
          </a:p>
        </p:txBody>
      </p:sp>
      <p:graphicFrame>
        <p:nvGraphicFramePr>
          <p:cNvPr id="13" name="discrepancy chart" descr=""/>
          <p:cNvGraphicFramePr/>
          <p:nvPr/>
        </p:nvGraphicFramePr>
        <p:xfrm>
          <a:off x="6675120" y="1965960"/>
          <a:ext cx="4967935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5 · UPDATE THE DECK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slides change every quarter</a:t>
            </a:r>
            <a:endParaRPr lang="en-US" sz="3400" dirty="0"/>
          </a:p>
        </p:txBody>
      </p:sp>
      <p:sp>
        <p:nvSpPr>
          <p:cNvPr id="4" name="check 1"/>
          <p:cNvSpPr/>
          <p:nvPr/>
        </p:nvSpPr>
        <p:spPr>
          <a:xfrm>
            <a:off x="548640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331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COVER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011680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Title year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Confirm the year on the cover.</a:t>
            </a:r>
            <a:endParaRPr lang="en-US" sz="1300" dirty="0"/>
          </a:p>
        </p:txBody>
      </p:sp>
      <p:sp>
        <p:nvSpPr>
          <p:cNvPr id="8" name="check 2"/>
          <p:cNvSpPr/>
          <p:nvPr/>
        </p:nvSpPr>
        <p:spPr>
          <a:xfrm>
            <a:off x="6278728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331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PRE-BID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41768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vs DV pre-bid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741768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Add the quarter; update the year-to-date row; Q2's DV figure sits in a loose text box outside the DV column, so check it.</a:t>
            </a:r>
            <a:endParaRPr lang="en-US" sz="1300" dirty="0"/>
          </a:p>
        </p:txBody>
      </p:sp>
      <p:sp>
        <p:nvSpPr>
          <p:cNvPr id="12" name="check 3"/>
          <p:cNvSpPr/>
          <p:nvPr/>
        </p:nvSpPr>
        <p:spPr>
          <a:xfrm>
            <a:off x="548640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206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CHANGES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011680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changes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2011680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Anything that moved traffic or measurement: replatforming, new player, vendor or threshold change.</a:t>
            </a:r>
            <a:endParaRPr lang="en-US" sz="1300" dirty="0"/>
          </a:p>
        </p:txBody>
      </p:sp>
      <p:sp>
        <p:nvSpPr>
          <p:cNvPr id="16" name="check 4"/>
          <p:cNvSpPr/>
          <p:nvPr/>
        </p:nvSpPr>
        <p:spPr>
          <a:xfrm>
            <a:off x="6278728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53048" y="4206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SIVT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741768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by quarter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741768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Overall / display / video per quarter. Relabel the bottom row Full year if that's what it is.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wsweek Paper">
  <a:themeElements>
    <a:clrScheme name="Newsweek Paper">
      <a:dk1>
        <a:srgbClr val="1F1E19"/>
      </a:dk1>
      <a:lt1>
        <a:srgbClr val="FEFCF6"/>
      </a:lt1>
      <a:dk2>
        <a:srgbClr val="57564F"/>
      </a:dk2>
      <a:lt2>
        <a:srgbClr val="F6F2E6"/>
      </a:lt2>
      <a:accent1>
        <a:srgbClr val="E91D0C"/>
      </a:accent1>
      <a:accent2>
        <a:srgbClr val="C41608"/>
      </a:accent2>
      <a:accent3>
        <a:srgbClr val="4B62E0"/>
      </a:accent3>
      <a:accent4>
        <a:srgbClr val="2D8D92"/>
      </a:accent4>
      <a:accent5>
        <a:srgbClr val="B08900"/>
      </a:accent5>
      <a:accent6>
        <a:srgbClr val="3C6B14"/>
      </a:accent6>
      <a:hlink>
        <a:srgbClr val="57564F"/>
      </a:hlink>
      <a:folHlink>
        <a:srgbClr val="8C887B"/>
      </a:folHlink>
    </a:clrScheme>
    <a:fontScheme name="Newsweek Paper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Updating the IVT Monitoring Report</dc:title>
  <dc:subject>PptxGenJS Presentation</dc:subject>
  <dc:creator>Newsweek RevOps</dc:creator>
  <cp:lastModifiedBy>Newsweek RevOps</cp:lastModifiedBy>
  <cp:revision>1</cp:revision>
  <dcterms:created xsi:type="dcterms:W3CDTF">2026-10-21T00:20:12Z</dcterms:created>
  <dcterms:modified xsi:type="dcterms:W3CDTF">2026-10-21T00:20:12Z</dcterms:modified>
</cp:coreProperties>
</file>