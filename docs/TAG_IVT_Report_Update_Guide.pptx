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8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d40b1d84-3ffc-19fd-9c27-9786ef8eb3e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1 · GAM" id="{bf5585b1-3b1c-dee6-45f5-3274a33b9f55}">
          <p14:sldIdLst>
            <p14:sldId id="266"/>
            <p14:sldId id="267"/>
            <p14:sldId id="268"/>
            <p14:sldId id="269"/>
          </p14:sldIdLst>
        </p14:section>
        <p14:section name="2–3 · DV and GA4" id="{391aa39b-67b4-2556-adb9-88f56f2c9c58}">
          <p14:sldIdLst>
            <p14:sldId id="270"/>
            <p14:sldId id="271"/>
            <p14:sldId id="272"/>
          </p14:sldIdLst>
        </p14:section>
        <p14:section name="4–5 · Math and deck" id="{36e01409-39d1-c8d4-293f-9a890d612d72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Discrepancy rate by month, 2026 YTD (Jan–Sep, October excluded)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3.1</c:v>
                </c:pt>
                <c:pt idx="1">
                  <c:v>3.2</c:v>
                </c:pt>
                <c:pt idx="2">
                  <c:v>3</c:v>
                </c:pt>
                <c:pt idx="3">
                  <c:v>1.9</c:v>
                </c:pt>
                <c:pt idx="4">
                  <c:v>8.6</c:v>
                </c:pt>
                <c:pt idx="5">
                  <c:v>2.4</c:v>
                </c:pt>
                <c:pt idx="6">
                  <c:v>5.4</c:v>
                </c:pt>
                <c:pt idx="7">
                  <c:v>5.8</c:v>
                </c:pt>
                <c:pt idx="8">
                  <c:v>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Volumes,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GA4 pageviews</c:v>
                </c:pt>
              </c:strCache>
            </c:strRef>
          </c:tx>
          <c:spPr>
            <a:solidFill>
              <a:srgbClr val="B08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88.8</c:v>
                </c:pt>
                <c:pt idx="1">
                  <c:v>76.4</c:v>
                </c:pt>
                <c:pt idx="2">
                  <c:v>78.9</c:v>
                </c:pt>
                <c:pt idx="3">
                  <c:v>44.6</c:v>
                </c:pt>
                <c:pt idx="4">
                  <c:v>40.3</c:v>
                </c:pt>
                <c:pt idx="5">
                  <c:v>39.4</c:v>
                </c:pt>
                <c:pt idx="6">
                  <c:v>41.8</c:v>
                </c:pt>
                <c:pt idx="7">
                  <c:v>42.8</c:v>
                </c:pt>
                <c:pt idx="8">
                  <c:v>52.6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pre-bid requests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</c:v>
                </c:pt>
                <c:pt idx="1">
                  <c:v>74</c:v>
                </c:pt>
                <c:pt idx="2">
                  <c:v>76.5</c:v>
                </c:pt>
                <c:pt idx="3">
                  <c:v>43.8</c:v>
                </c:pt>
                <c:pt idx="4">
                  <c:v>36.8</c:v>
                </c:pt>
                <c:pt idx="5">
                  <c:v>38.4</c:v>
                </c:pt>
                <c:pt idx="6">
                  <c:v>39.5</c:v>
                </c:pt>
                <c:pt idx="7">
                  <c:v>40.3</c:v>
                </c:pt>
                <c:pt idx="8">
                  <c:v>50.5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Display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Display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7.8</c:v>
                </c:pt>
                <c:pt idx="1">
                  <c:v>8</c:v>
                </c:pt>
                <c:pt idx="2">
                  <c:v>10.5</c:v>
                </c:pt>
                <c:pt idx="3">
                  <c:v>10.6</c:v>
                </c:pt>
                <c:pt idx="4">
                  <c:v>8.6</c:v>
                </c:pt>
                <c:pt idx="5">
                  <c:v>7.6</c:v>
                </c:pt>
                <c:pt idx="6">
                  <c:v>7.8</c:v>
                </c:pt>
                <c:pt idx="7">
                  <c:v>7.3</c:v>
                </c:pt>
                <c:pt idx="8">
                  <c:v>7.1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Display,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401.2</c:v>
                </c:pt>
                <c:pt idx="1">
                  <c:v>343.9</c:v>
                </c:pt>
                <c:pt idx="2">
                  <c:v>356.7</c:v>
                </c:pt>
                <c:pt idx="3">
                  <c:v>201.9</c:v>
                </c:pt>
                <c:pt idx="4">
                  <c:v>173.7</c:v>
                </c:pt>
                <c:pt idx="5">
                  <c:v>198.2</c:v>
                </c:pt>
                <c:pt idx="6">
                  <c:v>209.7</c:v>
                </c:pt>
                <c:pt idx="7">
                  <c:v>210</c:v>
                </c:pt>
                <c:pt idx="8">
                  <c:v>260.5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370</c:v>
                </c:pt>
                <c:pt idx="1">
                  <c:v>316.4</c:v>
                </c:pt>
                <c:pt idx="2">
                  <c:v>319.2</c:v>
                </c:pt>
                <c:pt idx="3">
                  <c:v>180.6</c:v>
                </c:pt>
                <c:pt idx="4">
                  <c:v>158.8</c:v>
                </c:pt>
                <c:pt idx="5">
                  <c:v>183.2</c:v>
                </c:pt>
                <c:pt idx="6">
                  <c:v>193.4</c:v>
                </c:pt>
                <c:pt idx="7">
                  <c:v>194.6</c:v>
                </c:pt>
                <c:pt idx="8">
                  <c:v>241.9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Video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Video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12.5</c:v>
                </c:pt>
                <c:pt idx="1">
                  <c:v>15.1</c:v>
                </c:pt>
                <c:pt idx="2">
                  <c:v>14</c:v>
                </c:pt>
                <c:pt idx="3">
                  <c:v>16.4</c:v>
                </c:pt>
                <c:pt idx="4">
                  <c:v>14.3</c:v>
                </c:pt>
                <c:pt idx="5">
                  <c:v>11.2</c:v>
                </c:pt>
                <c:pt idx="6">
                  <c:v>11.7</c:v>
                </c:pt>
                <c:pt idx="7">
                  <c:v>12.8</c:v>
                </c:pt>
                <c:pt idx="8">
                  <c:v>11.4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Video,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46.7</c:v>
                </c:pt>
                <c:pt idx="1">
                  <c:v>43.3</c:v>
                </c:pt>
                <c:pt idx="2">
                  <c:v>47.1</c:v>
                </c:pt>
                <c:pt idx="3">
                  <c:v>25.7</c:v>
                </c:pt>
                <c:pt idx="4">
                  <c:v>23.9</c:v>
                </c:pt>
                <c:pt idx="5">
                  <c:v>27.2</c:v>
                </c:pt>
                <c:pt idx="6">
                  <c:v>28.9</c:v>
                </c:pt>
                <c:pt idx="7">
                  <c:v>26.5</c:v>
                </c:pt>
                <c:pt idx="8">
                  <c:v>32.9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40.9</c:v>
                </c:pt>
                <c:pt idx="1">
                  <c:v>36.8</c:v>
                </c:pt>
                <c:pt idx="2">
                  <c:v>40.5</c:v>
                </c:pt>
                <c:pt idx="3">
                  <c:v>21.5</c:v>
                </c:pt>
                <c:pt idx="4">
                  <c:v>20.5</c:v>
                </c:pt>
                <c:pt idx="5">
                  <c:v>24.2</c:v>
                </c:pt>
                <c:pt idx="6">
                  <c:v>25.5</c:v>
                </c:pt>
                <c:pt idx="7">
                  <c:v>23.1</c:v>
                </c:pt>
                <c:pt idx="8">
                  <c:v>29.1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SIVT rate by quarter, 2026 YTD (Jan–Sep, October excluded)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1F1E19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0.039</c:v>
                </c:pt>
                <c:pt idx="1">
                  <c:v>0.042</c:v>
                </c:pt>
                <c:pt idx="2">
                  <c:v>0.044</c:v>
                </c:pt>
                <c:pt idx="3">
                  <c:v>0.041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Display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0.04</c:v>
                </c:pt>
                <c:pt idx="1">
                  <c:v>0.046</c:v>
                </c:pt>
                <c:pt idx="2">
                  <c:v>0.048</c:v>
                </c:pt>
                <c:pt idx="3">
                  <c:v>0.044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Video</c:v>
                </c:pt>
              </c:strCache>
            </c:strRef>
          </c:tx>
          <c:spPr>
            <a:solidFill>
              <a:srgbClr val="824DD7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0.027</c:v>
                </c:pt>
                <c:pt idx="1">
                  <c:v>0.016</c:v>
                </c:pt>
                <c:pt idx="2">
                  <c:v>0.017</c:v>
                </c:pt>
                <c:pt idx="3">
                  <c:v>0.021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Pre-bid monitoring. Comparing GA4 web pageviews with DV pre-bid requests, month by month, shows TAG and its auditors that DV monitors every pageview.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4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monitoring. Comparing every impression GAM records with what DV records shows we also measure all post-bid impressions. Plus SIVT rate.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10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1 · DV-GA DISCREPANCY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DV's pre-bid check see every page?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GA4 pageviews with DV pre-bid requests, show TAG and TAG auditors that every pageview is monitored by DoubleVerify.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sheet (Y&lt;year&gt;), one row per month grouped Q1–Q4, Totals row at the bottom. Feeds slide 4 of the report.</a:t>
            </a:r>
            <a:endParaRPr lang="en-US" sz="1400" dirty="0"/>
          </a:p>
        </p:txBody>
      </p:sp>
      <p:graphicFrame>
        <p:nvGraphicFramePr>
          <p:cNvPr id="4" name="Workbook 1 · DV-GA discrepancy · pre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of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month, as YYYYMM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web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 web views for 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Prebid Reqs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Pages DoubleVerify's pre-bid check evaluated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(Pageviews − Prebid Reqs) ÷ 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PRE-BID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Pre-bid discrepancy: 3.9% YTD</a:t>
            </a:r>
            <a:endParaRPr lang="en-US" sz="3400" dirty="0"/>
          </a:p>
        </p:txBody>
      </p:sp>
      <p:graphicFrame>
        <p:nvGraphicFramePr>
          <p:cNvPr id="4" name="Pre-bid monitoring · what it shows discrepancy chart 1" descr=""/>
          <p:cNvGraphicFramePr/>
          <p:nvPr/>
        </p:nvGraphicFramePr>
        <p:xfrm>
          <a:off x="548640" y="1828800"/>
          <a:ext cx="740664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re-bid monitoring · what it shows volume chart 1" descr=""/>
          <p:cNvGraphicFramePr/>
          <p:nvPr/>
        </p:nvGraphicFramePr>
        <p:xfrm>
          <a:off x="548640" y="3474720"/>
          <a:ext cx="7406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tat 1"/>
          <p:cNvSpPr/>
          <p:nvPr/>
        </p:nvSpPr>
        <p:spPr>
          <a:xfrm>
            <a:off x="8321040" y="1965960"/>
            <a:ext cx="3322015" cy="374904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DISCREPANCY, YTD JAN–SEP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3.9%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3246120"/>
            <a:ext cx="277337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So 96.1% of pageviews were monitored by DV pre-bid: 485.97M requests against 505.70M GA4 pageviews. Highest month: May, 8.6%.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 workbook 2026. Discrepancy = (Pageviews − Prebid Reqs) ÷ Pageviews.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2 · DV-GAM DISCREPANCY · POST-BID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 Manager counted vs what DV measured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all impressions GAM records with what DV records, show TAG and TAG auditors that every post-bid impression is measured.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Two sheets, same columns: inpage display (ad unit newsweek) and instream video (vid.newsweek). Feeds slide 10.</a:t>
            </a:r>
            <a:endParaRPr lang="en-US" sz="1400" dirty="0"/>
          </a:p>
        </p:txBody>
      </p:sp>
      <p:graphicFrame>
        <p:nvGraphicFramePr>
          <p:cNvPr id="6" name="Workbook 2 · DV-GAM discrepancy · post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and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 (includes Private Auction)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Auction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Preferred Deal + Programmatic Guaranteed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Display: Total code served count. Video: Ad Exchange + PMP – PA + 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post-bid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Impressions DV measured post-bid (header: total DV gross impressions – post-bid)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DV-GAM 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1 − DV post-bid impressions ÷ 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SIVT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DV's sophisticated invalid traffic rate, as a decimal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POST-BID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Post-bid discrepancy: 8.4% display, 13.3% video</a:t>
            </a:r>
            <a:endParaRPr lang="en-US" sz="3400" dirty="0"/>
          </a:p>
        </p:txBody>
      </p:sp>
      <p:graphicFrame>
        <p:nvGraphicFramePr>
          <p:cNvPr id="4" name="Post-bid monitoring · what it shows discrepancy chart 1" descr=""/>
          <p:cNvGraphicFramePr/>
          <p:nvPr/>
        </p:nvGraphicFramePr>
        <p:xfrm>
          <a:off x="54864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ost-bid monitoring · what it shows volume chart 1" descr=""/>
          <p:cNvGraphicFramePr/>
          <p:nvPr/>
        </p:nvGraphicFramePr>
        <p:xfrm>
          <a:off x="54864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Post-bid monitoring · what it shows discrepancy chart 2" descr=""/>
          <p:cNvGraphicFramePr/>
          <p:nvPr/>
        </p:nvGraphicFramePr>
        <p:xfrm>
          <a:off x="441198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Post-bid monitoring · what it shows volume chart 2" descr=""/>
          <p:cNvGraphicFramePr/>
          <p:nvPr/>
        </p:nvGraphicFramePr>
        <p:xfrm>
          <a:off x="441198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DISPLAY DISCREPANCY, YTD</a:t>
            </a:r>
            <a:endParaRPr lang="en-US" sz="1100" dirty="0"/>
          </a:p>
        </p:txBody>
      </p:sp>
      <p:sp>
        <p:nvSpPr>
          <p:cNvPr id="10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8.4%</a:t>
            </a:r>
            <a:endParaRPr lang="en-US" sz="4400" dirty="0"/>
          </a:p>
        </p:txBody>
      </p:sp>
      <p:sp>
        <p:nvSpPr>
          <p:cNvPr id="11" name="Text 5"/>
          <p:cNvSpPr txBox="1"/>
          <p:nvPr/>
        </p:nvSpPr>
        <p:spPr>
          <a:xfrm>
            <a:off x="8595360" y="324612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91.6% of display impressions measured by DV post-bid.</a:t>
            </a:r>
            <a:endParaRPr lang="en-US" sz="1300" dirty="0"/>
          </a:p>
        </p:txBody>
      </p:sp>
      <p:sp>
        <p:nvSpPr>
          <p:cNvPr id="12" name="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VIDEO DISCREPANCY, YTD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13.3%</a:t>
            </a:r>
            <a:endParaRPr lang="en-US" sz="4400" dirty="0"/>
          </a:p>
        </p:txBody>
      </p:sp>
      <p:sp>
        <p:nvSpPr>
          <p:cNvPr id="15" name="Text 9"/>
          <p:cNvSpPr txBox="1"/>
          <p:nvPr/>
        </p:nvSpPr>
        <p:spPr>
          <a:xfrm>
            <a:off x="8595360" y="521208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86.7% measured. Gap = impressions DV can't tag (e.g. Google demand).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2026 YTD Jan–Sep (October excluded). Discrepancy = 1 − DV ÷ GAM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IVT MONITORING REPORT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data slides TAG auditors read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show TAG auditors that DV monitors every pageview and impression, and that SIVT stays low.</a:t>
            </a:r>
            <a:endParaRPr lang="en-US" sz="1500" dirty="0"/>
          </a:p>
        </p:txBody>
      </p:sp>
      <p:sp>
        <p:nvSpPr>
          <p:cNvPr id="5" name="report card 1"/>
          <p:cNvSpPr/>
          <p:nvPr/>
        </p:nvSpPr>
        <p:spPr>
          <a:xfrm>
            <a:off x="548640" y="2286000"/>
            <a:ext cx="5364328" cy="37033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report tick 1"/>
          <p:cNvSpPr/>
          <p:nvPr/>
        </p:nvSpPr>
        <p:spPr>
          <a:xfrm>
            <a:off x="822960" y="258775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51460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REPORT SLIDE 4 · PRE-BID MONITORING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pageviews vs DV pre-bid</a:t>
            </a:r>
            <a:endParaRPr lang="en-US" sz="2000" dirty="0"/>
          </a:p>
        </p:txBody>
      </p:sp>
      <p:graphicFrame>
        <p:nvGraphicFramePr>
          <p:cNvPr id="8" name="report 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429000"/>
          <a:ext cx="4815688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417320"/>
                <a:gridCol w="1417320"/>
                <a:gridCol w="11887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Pageviews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DV pre-bid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Discrepancy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505,703,853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485,972,237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244,155,957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236,564,615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124,297,981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119,051,343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137,249,915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130,356,279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port card 2"/>
          <p:cNvSpPr/>
          <p:nvPr/>
        </p:nvSpPr>
        <p:spPr>
          <a:xfrm>
            <a:off x="6278728" y="2286000"/>
            <a:ext cx="5364328" cy="37033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report tick 2"/>
          <p:cNvSpPr/>
          <p:nvPr/>
        </p:nvSpPr>
        <p:spPr>
          <a:xfrm>
            <a:off x="6553048" y="258775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35928" y="251460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REPORT SLIDE 10 · SIVT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553048" y="2834640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Newsweek has consistently low SIVT</a:t>
            </a:r>
            <a:endParaRPr lang="en-US" sz="2000" dirty="0"/>
          </a:p>
        </p:txBody>
      </p:sp>
      <p:graphicFrame>
        <p:nvGraphicFramePr>
          <p:cNvPr id="15" name="report 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3429000"/>
          <a:ext cx="4815688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34440"/>
                <a:gridCol w="1234440"/>
                <a:gridCol w="123444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Overall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Display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Video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Newsweek design, 2026 YTD numbers from the workbooks (discrepancy ÷ pageviews; SIVT impression-weighted). Q4 fills in after December closes.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WHAT IT SHOWS AUDITORS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stays near 0.04% every quarter</a:t>
            </a:r>
            <a:endParaRPr lang="en-US" sz="3400" dirty="0"/>
          </a:p>
        </p:txBody>
      </p:sp>
      <p:graphicFrame>
        <p:nvGraphicFramePr>
          <p:cNvPr id="4" name="sivt by quarter chart" descr=""/>
          <p:cNvGraphicFramePr/>
          <p:nvPr/>
        </p:nvGraphicFramePr>
        <p:xfrm>
          <a:off x="548640" y="187452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ivt 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SIVT, YTD JAN–SEP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324612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Impression-weighted across display and video. Industry red line is 3%.</a:t>
            </a:r>
            <a:endParaRPr lang="en-US" sz="1300" dirty="0"/>
          </a:p>
        </p:txBody>
      </p:sp>
      <p:sp>
        <p:nvSpPr>
          <p:cNvPr id="9" name="sivt 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DISPLAY · VIDEO, YTD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 · 0.02%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52120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Each sheet's SIVT Rate weighted by DV post-bid impressions.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SIVT Rate weighted by DV post-bid impressions. Never average the monthly rates.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impressions and SIVT rate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Slides 1, 4, 9 and 10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Slide 4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14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traps, and one fact to remember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Ad unit (top level), not Ad unit</a:t>
            </a:r>
            <a:endParaRPr lang="en-US" sz="16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6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600" dirty="0"/>
          </a:p>
        </p:txBody>
      </p:sp>
      <p:sp>
        <p:nvSpPr>
          <p:cNvPr id="16" name="fact card"/>
          <p:cNvSpPr/>
          <p:nvPr/>
        </p:nvSpPr>
        <p:spPr>
          <a:xfrm>
            <a:off x="7040880" y="2057400"/>
            <a:ext cx="4602175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 INCLUDES PRIVATE AUCTION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48,732,896 + 681,691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49,414,587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0690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Auction + PA = Ad Exchange, every month (Feb display shown). Never add PA on top of Ad Exchange as a separate source.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DOUBLEVERIFY PINNACLE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Use the Pinnacle report export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Pull display and video as separate rows: they go to separate sheets of the DV-GAM workbook.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9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4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9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3048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553048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2026-10-20T23:02:46Z</dcterms:created>
  <dcterms:modified xsi:type="dcterms:W3CDTF">2026-10-20T23:02:46Z</dcterms:modified>
</cp:coreProperties>
</file>