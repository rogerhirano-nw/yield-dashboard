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8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71d29785-d45a-8293-aaa9-98424dce8ea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1 · GAM" id="{29b4b13b-142f-fc44-4142-e10fc741a815}">
          <p14:sldIdLst>
            <p14:sldId id="267"/>
            <p14:sldId id="268"/>
            <p14:sldId id="269"/>
            <p14:sldId id="270"/>
          </p14:sldIdLst>
        </p14:section>
        <p14:section name="2–3 · DV and GA4" id="{502ecca0-7c34-ab77-ef57-9beb2504cdd2}">
          <p14:sldIdLst>
            <p14:sldId id="271"/>
            <p14:sldId id="272"/>
            <p14:sldId id="273"/>
          </p14:sldIdLst>
        </p14:section>
        <p14:section name="4–5 · Math and deck" id="{aa02fecb-e5f8-525f-85d2-290925325704}">
          <p14:sldIdLst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Discrepancy rate by month, 2026 YTD (Jan–Sep, October excluded)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3.1</c:v>
                </c:pt>
                <c:pt idx="1">
                  <c:v>3.2</c:v>
                </c:pt>
                <c:pt idx="2">
                  <c:v>3</c:v>
                </c:pt>
                <c:pt idx="3">
                  <c:v>1.9</c:v>
                </c:pt>
                <c:pt idx="4">
                  <c:v>8.6</c:v>
                </c:pt>
                <c:pt idx="5">
                  <c:v>2.4</c:v>
                </c:pt>
                <c:pt idx="6">
                  <c:v>5.4</c:v>
                </c:pt>
                <c:pt idx="7">
                  <c:v>5.8</c:v>
                </c:pt>
                <c:pt idx="8">
                  <c:v>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Volumes,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GA4 pageviews</c:v>
                </c:pt>
              </c:strCache>
            </c:strRef>
          </c:tx>
          <c:spPr>
            <a:solidFill>
              <a:srgbClr val="B08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88.8</c:v>
                </c:pt>
                <c:pt idx="1">
                  <c:v>76.4</c:v>
                </c:pt>
                <c:pt idx="2">
                  <c:v>78.9</c:v>
                </c:pt>
                <c:pt idx="3">
                  <c:v>44.6</c:v>
                </c:pt>
                <c:pt idx="4">
                  <c:v>40.3</c:v>
                </c:pt>
                <c:pt idx="5">
                  <c:v>39.4</c:v>
                </c:pt>
                <c:pt idx="6">
                  <c:v>41.8</c:v>
                </c:pt>
                <c:pt idx="7">
                  <c:v>42.8</c:v>
                </c:pt>
                <c:pt idx="8">
                  <c:v>52.6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pre-bid requests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86</c:v>
                </c:pt>
                <c:pt idx="1">
                  <c:v>74</c:v>
                </c:pt>
                <c:pt idx="2">
                  <c:v>76.5</c:v>
                </c:pt>
                <c:pt idx="3">
                  <c:v>43.8</c:v>
                </c:pt>
                <c:pt idx="4">
                  <c:v>36.8</c:v>
                </c:pt>
                <c:pt idx="5">
                  <c:v>38.4</c:v>
                </c:pt>
                <c:pt idx="6">
                  <c:v>39.5</c:v>
                </c:pt>
                <c:pt idx="7">
                  <c:v>40.3</c:v>
                </c:pt>
                <c:pt idx="8">
                  <c:v>50.5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Display discrepancy 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Display 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7.8</c:v>
                </c:pt>
                <c:pt idx="1">
                  <c:v>8</c:v>
                </c:pt>
                <c:pt idx="2">
                  <c:v>10.5</c:v>
                </c:pt>
                <c:pt idx="3">
                  <c:v>10.6</c:v>
                </c:pt>
                <c:pt idx="4">
                  <c:v>8.6</c:v>
                </c:pt>
                <c:pt idx="5">
                  <c:v>7.6</c:v>
                </c:pt>
                <c:pt idx="6">
                  <c:v>7.8</c:v>
                </c:pt>
                <c:pt idx="7">
                  <c:v>7.3</c:v>
                </c:pt>
                <c:pt idx="8">
                  <c:v>7.1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Display,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401.2</c:v>
                </c:pt>
                <c:pt idx="1">
                  <c:v>343.9</c:v>
                </c:pt>
                <c:pt idx="2">
                  <c:v>356.7</c:v>
                </c:pt>
                <c:pt idx="3">
                  <c:v>201.9</c:v>
                </c:pt>
                <c:pt idx="4">
                  <c:v>173.7</c:v>
                </c:pt>
                <c:pt idx="5">
                  <c:v>198.2</c:v>
                </c:pt>
                <c:pt idx="6">
                  <c:v>209.7</c:v>
                </c:pt>
                <c:pt idx="7">
                  <c:v>210</c:v>
                </c:pt>
                <c:pt idx="8">
                  <c:v>260.5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370</c:v>
                </c:pt>
                <c:pt idx="1">
                  <c:v>316.4</c:v>
                </c:pt>
                <c:pt idx="2">
                  <c:v>319.2</c:v>
                </c:pt>
                <c:pt idx="3">
                  <c:v>180.6</c:v>
                </c:pt>
                <c:pt idx="4">
                  <c:v>158.8</c:v>
                </c:pt>
                <c:pt idx="5">
                  <c:v>183.2</c:v>
                </c:pt>
                <c:pt idx="6">
                  <c:v>193.4</c:v>
                </c:pt>
                <c:pt idx="7">
                  <c:v>194.6</c:v>
                </c:pt>
                <c:pt idx="8">
                  <c:v>241.9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Video discrepancy 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Video 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12.5</c:v>
                </c:pt>
                <c:pt idx="1">
                  <c:v>15.1</c:v>
                </c:pt>
                <c:pt idx="2">
                  <c:v>14</c:v>
                </c:pt>
                <c:pt idx="3">
                  <c:v>16.4</c:v>
                </c:pt>
                <c:pt idx="4">
                  <c:v>14.3</c:v>
                </c:pt>
                <c:pt idx="5">
                  <c:v>11.2</c:v>
                </c:pt>
                <c:pt idx="6">
                  <c:v>11.7</c:v>
                </c:pt>
                <c:pt idx="7">
                  <c:v>12.8</c:v>
                </c:pt>
                <c:pt idx="8">
                  <c:v>11.4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Video,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46.7</c:v>
                </c:pt>
                <c:pt idx="1">
                  <c:v>43.3</c:v>
                </c:pt>
                <c:pt idx="2">
                  <c:v>47.1</c:v>
                </c:pt>
                <c:pt idx="3">
                  <c:v>25.7</c:v>
                </c:pt>
                <c:pt idx="4">
                  <c:v>23.9</c:v>
                </c:pt>
                <c:pt idx="5">
                  <c:v>27.2</c:v>
                </c:pt>
                <c:pt idx="6">
                  <c:v>28.9</c:v>
                </c:pt>
                <c:pt idx="7">
                  <c:v>26.5</c:v>
                </c:pt>
                <c:pt idx="8">
                  <c:v>32.9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40.9</c:v>
                </c:pt>
                <c:pt idx="1">
                  <c:v>36.8</c:v>
                </c:pt>
                <c:pt idx="2">
                  <c:v>40.5</c:v>
                </c:pt>
                <c:pt idx="3">
                  <c:v>21.5</c:v>
                </c:pt>
                <c:pt idx="4">
                  <c:v>20.5</c:v>
                </c:pt>
                <c:pt idx="5">
                  <c:v>24.2</c:v>
                </c:pt>
                <c:pt idx="6">
                  <c:v>25.5</c:v>
                </c:pt>
                <c:pt idx="7">
                  <c:v>23.1</c:v>
                </c:pt>
                <c:pt idx="8">
                  <c:v>29.1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SIVT rate by quarter, 2026 YTD (Jan–Sep, October excluded)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</c:v>
                </c:pt>
              </c:strCache>
            </c:strRef>
          </c:tx>
          <c:spPr>
            <a:solidFill>
              <a:srgbClr val="1F1E19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0.039</c:v>
                </c:pt>
                <c:pt idx="1">
                  <c:v>0.042</c:v>
                </c:pt>
                <c:pt idx="2">
                  <c:v>0.044</c:v>
                </c:pt>
                <c:pt idx="3">
                  <c:v>0.041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Display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0.04</c:v>
                </c:pt>
                <c:pt idx="1">
                  <c:v>0.046</c:v>
                </c:pt>
                <c:pt idx="2">
                  <c:v>0.048</c:v>
                </c:pt>
                <c:pt idx="3">
                  <c:v>0.044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Video</c:v>
                </c:pt>
              </c:strCache>
            </c:strRef>
          </c:tx>
          <c:spPr>
            <a:solidFill>
              <a:srgbClr val="824DD7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0.027</c:v>
                </c:pt>
                <c:pt idx="1">
                  <c:v>0.016</c:v>
                </c:pt>
                <c:pt idx="2">
                  <c:v>0.017</c:v>
                </c:pt>
                <c:pt idx="3">
                  <c:v>0.021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E19"/>
                </a:solidFill>
                <a:latin typeface="+mn-lt"/>
              </a:rPr>
              <a:t>GA4 vs DV pre-bid discrepancy, 2026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</c:v>
                </c:pt>
              </c:strCache>
            </c:strRef>
          </c:tx>
          <c:spPr>
            <a:solidFill>
              <a:srgbClr val="5756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3.11</c:v>
                </c:pt>
                <c:pt idx="1">
                  <c:v>4.22</c:v>
                </c:pt>
                <c:pt idx="2">
                  <c:v>5.02</c:v>
                </c:pt>
                <c:pt idx="3">
                  <c:v>3.9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for the quarterly refresh of the Newsweek IVT Monitoring Report, the TAG CAF evidence pack. Everything here is done in the Ad Manager, DoubleVerify Pinnacle and GA4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VER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3657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SECTION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6355080"/>
            <a:ext cx="1371600" cy="2103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NTENT">
    <p:bg>
      <p:bgPr>
        <a:solidFill>
          <a:srgbClr val="FE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09728" cy="109728"/>
          </a:xfrm>
          <a:prstGeom prst="rect">
            <a:avLst/>
          </a:prstGeom>
          <a:solidFill>
            <a:srgbClr val="E91D0C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972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IVT monitoring report · update guide</a:t>
            </a:r>
            <a:endParaRPr lang="en-US" sz="1000" dirty="0"/>
          </a:p>
        </p:txBody>
      </p:sp>
      <p:pic>
        <p:nvPicPr>
          <p:cNvPr id="6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400800"/>
            <a:ext cx="11887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chart" Target="/ppt/charts/chart6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analytics.google.com/analytics/web/#/analysis/a131632414p359317277/edit/Gbsqfd36SraxUc8LJyQB6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2"/>
                </a:solidFill>
              </a:rPr>
              <a:t>REVOPS · TAG CERTIFIED AGAINST FRAUD</a:t>
            </a:r>
            <a:endParaRPr lang="en-US" sz="1400" dirty="0"/>
          </a:p>
        </p:txBody>
      </p:sp>
      <p:sp>
        <p:nvSpPr>
          <p:cNvPr id="3" name="cover tick"/>
          <p:cNvSpPr/>
          <p:nvPr/>
        </p:nvSpPr>
        <p:spPr>
          <a:xfrm>
            <a:off x="548640" y="2862072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Updating the IVT Monitoring Report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quarterly runbook: where every number comes from in GAM, DoubleVerify and GA4, and how it reaches the deck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WE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files, refreshed once a quarter</a:t>
            </a:r>
            <a:endParaRPr lang="en-US" sz="3400" dirty="0"/>
          </a:p>
        </p:txBody>
      </p:sp>
      <p:sp>
        <p:nvSpPr>
          <p:cNvPr id="4" name="file card 1"/>
          <p:cNvSpPr/>
          <p:nvPr/>
        </p:nvSpPr>
        <p:spPr>
          <a:xfrm>
            <a:off x="548640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le dot 1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 discrepancy workbook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Pre-bid monitoring. Comparing GA4 web pageviews with DV pre-bid requests, month by month, shows TAG and its auditors that DV monitors every pageview.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THE REPORT'S PRE-BID SLIDE</a:t>
            </a:r>
            <a:endParaRPr lang="en-US" sz="1100" dirty="0"/>
          </a:p>
        </p:txBody>
      </p:sp>
      <p:sp>
        <p:nvSpPr>
          <p:cNvPr id="10" name="file card 2"/>
          <p:cNvSpPr/>
          <p:nvPr/>
        </p:nvSpPr>
        <p:spPr>
          <a:xfrm>
            <a:off x="4368698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file dot 2"/>
          <p:cNvSpPr/>
          <p:nvPr/>
        </p:nvSpPr>
        <p:spPr>
          <a:xfrm>
            <a:off x="4688738" y="25146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873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DV-GAM discrepancy workbook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8738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monitoring. Comparing every impression GAM records with what DV records shows we also measure all post-bid impressions. Plus SIVT rate.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88738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THE REPORT'S SIVT SLIDE</a:t>
            </a:r>
            <a:endParaRPr lang="en-US" sz="1100" dirty="0"/>
          </a:p>
        </p:txBody>
      </p:sp>
      <p:sp>
        <p:nvSpPr>
          <p:cNvPr id="16" name="file card 3"/>
          <p:cNvSpPr/>
          <p:nvPr/>
        </p:nvSpPr>
        <p:spPr>
          <a:xfrm>
            <a:off x="8188757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file dot 3"/>
          <p:cNvSpPr/>
          <p:nvPr/>
        </p:nvSpPr>
        <p:spPr>
          <a:xfrm>
            <a:off x="8508797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8797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8797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IVT Monitoring Report deck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08797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TAG evidence pack sent to the auditor and buyers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8797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BUILT FROM BOTH WORKBOOKS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1 · DV-GA DISCREPANCY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DV's pre-bid check see every page?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GA4 pageviews with DV pre-bid requests, show TAG and TAG auditors that every pageview is monitored by DoubleVerify.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sheet (Y&lt;year&gt;), one row per month grouped Q1–Q4, Totals row at the bottom. Feeds the report's pre-bid slide.</a:t>
            </a:r>
            <a:endParaRPr lang="en-US" sz="1400" dirty="0"/>
          </a:p>
        </p:txBody>
      </p:sp>
      <p:graphicFrame>
        <p:nvGraphicFramePr>
          <p:cNvPr id="4" name="Workbook 1 · DV-GA discrepancy · pre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of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month, as YYYYMM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web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 web views for 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Prebid Reqs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Pages DoubleVerify's pre-bid check evaluated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(Pageviews − Prebid Reqs) ÷ 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PRE-BID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Pre-bid discrepancy: 3.9% YTD</a:t>
            </a:r>
            <a:endParaRPr lang="en-US" sz="3400" dirty="0"/>
          </a:p>
        </p:txBody>
      </p:sp>
      <p:graphicFrame>
        <p:nvGraphicFramePr>
          <p:cNvPr id="4" name="Pre-bid monitoring · what it shows discrepancy chart 1" descr=""/>
          <p:cNvGraphicFramePr/>
          <p:nvPr/>
        </p:nvGraphicFramePr>
        <p:xfrm>
          <a:off x="548640" y="1828800"/>
          <a:ext cx="740664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re-bid monitoring · what it shows volume chart 1" descr=""/>
          <p:cNvGraphicFramePr/>
          <p:nvPr/>
        </p:nvGraphicFramePr>
        <p:xfrm>
          <a:off x="548640" y="3474720"/>
          <a:ext cx="7406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tat 1"/>
          <p:cNvSpPr/>
          <p:nvPr/>
        </p:nvSpPr>
        <p:spPr>
          <a:xfrm>
            <a:off x="8321040" y="1965960"/>
            <a:ext cx="3322015" cy="374904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DISCREPANCY, YTD JAN–SEP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3.9%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3246120"/>
            <a:ext cx="277337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So 96.1% of pageviews were monitored by DV pre-bid: 485.97M requests against 505.70M GA4 pageviews. Highest month: May, 8.6%.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 workbook 2026. Discrepancy = (Pageviews − Prebid Reqs) ÷ Pageviews.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2 · DV-GAM DISCREPANCY · POST-BID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Ad Manager counted vs what DV measured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all impressions GAM records with what DV records, show TAG and TAG auditors that every post-bid impression is measured.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Two sheets, same columns: inpage display (ad unit newsweek) and instream video (vid.newsweek). Feeds the report's SIVT slide.</a:t>
            </a:r>
            <a:endParaRPr lang="en-US" sz="1400" dirty="0"/>
          </a:p>
        </p:txBody>
      </p:sp>
      <p:graphicFrame>
        <p:nvGraphicFramePr>
          <p:cNvPr id="6" name="Workbook 2 · DV-GAM discrepancy · post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and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 (includes Private Auction)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Auction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Preferred Deal + Programmatic Guaranteed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Display: Total code served count. Video: Ad Exchange + PMP – PA + 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post-bid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Impressions DV measured post-bid (header: total DV gross impressions – post-bid)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DV-GAM 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1 − DV post-bid impressions ÷ 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SIVT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DV's sophisticated invalid traffic rate, as a decimal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POST-BID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Post-bid discrepancy: 8.4% display, 13.3% video</a:t>
            </a:r>
            <a:endParaRPr lang="en-US" sz="3400" dirty="0"/>
          </a:p>
        </p:txBody>
      </p:sp>
      <p:graphicFrame>
        <p:nvGraphicFramePr>
          <p:cNvPr id="4" name="Post-bid monitoring · what it shows discrepancy chart 1" descr=""/>
          <p:cNvGraphicFramePr/>
          <p:nvPr/>
        </p:nvGraphicFramePr>
        <p:xfrm>
          <a:off x="548640" y="1828800"/>
          <a:ext cx="35433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ost-bid monitoring · what it shows volume chart 1" descr=""/>
          <p:cNvGraphicFramePr/>
          <p:nvPr/>
        </p:nvGraphicFramePr>
        <p:xfrm>
          <a:off x="548640" y="3474720"/>
          <a:ext cx="35433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Post-bid monitoring · what it shows discrepancy chart 2" descr=""/>
          <p:cNvGraphicFramePr/>
          <p:nvPr/>
        </p:nvGraphicFramePr>
        <p:xfrm>
          <a:off x="4411980" y="1828800"/>
          <a:ext cx="35433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Post-bid monitoring · what it shows volume chart 2" descr=""/>
          <p:cNvGraphicFramePr/>
          <p:nvPr/>
        </p:nvGraphicFramePr>
        <p:xfrm>
          <a:off x="4411980" y="3474720"/>
          <a:ext cx="35433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DISPLAY DISCREPANCY, YTD</a:t>
            </a:r>
            <a:endParaRPr lang="en-US" sz="1100" dirty="0"/>
          </a:p>
        </p:txBody>
      </p:sp>
      <p:sp>
        <p:nvSpPr>
          <p:cNvPr id="10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8.4%</a:t>
            </a:r>
            <a:endParaRPr lang="en-US" sz="4400" dirty="0"/>
          </a:p>
        </p:txBody>
      </p:sp>
      <p:sp>
        <p:nvSpPr>
          <p:cNvPr id="11" name="Text 5"/>
          <p:cNvSpPr txBox="1"/>
          <p:nvPr/>
        </p:nvSpPr>
        <p:spPr>
          <a:xfrm>
            <a:off x="8595360" y="324612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91.6% of display impressions measured by DV post-bid.</a:t>
            </a:r>
            <a:endParaRPr lang="en-US" sz="1300" dirty="0"/>
          </a:p>
        </p:txBody>
      </p:sp>
      <p:sp>
        <p:nvSpPr>
          <p:cNvPr id="12" name="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VIDEO DISCREPANCY, YTD</a:t>
            </a:r>
            <a:endParaRPr lang="en-US" sz="1100" dirty="0"/>
          </a:p>
        </p:txBody>
      </p:sp>
      <p:sp>
        <p:nvSpPr>
          <p:cNvPr id="14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13.3%</a:t>
            </a:r>
            <a:endParaRPr lang="en-US" sz="4400" dirty="0"/>
          </a:p>
        </p:txBody>
      </p:sp>
      <p:sp>
        <p:nvSpPr>
          <p:cNvPr id="15" name="Text 9"/>
          <p:cNvSpPr txBox="1"/>
          <p:nvPr/>
        </p:nvSpPr>
        <p:spPr>
          <a:xfrm>
            <a:off x="8595360" y="521208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86.7% measured. Gap = impressions DV can't tag (e.g. Google demand).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workbook, 2026 YTD Jan–Sep (October excluded). Discrepancy = 1 − DV ÷ GAM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REPORT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pageviews vs DV pre-bid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Goal: show TAG auditors that DV monitors every pageview.</a:t>
            </a:r>
            <a:endParaRPr lang="en-US" sz="1500" dirty="0"/>
          </a:p>
        </p:txBody>
      </p:sp>
      <p:sp>
        <p:nvSpPr>
          <p:cNvPr id="5" name="Deliverable · report · pre-bid monitoring BY MONTH card"/>
          <p:cNvSpPr/>
          <p:nvPr/>
        </p:nvSpPr>
        <p:spPr>
          <a:xfrm>
            <a:off x="548640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BY MONTH tick"/>
          <p:cNvSpPr/>
          <p:nvPr/>
        </p:nvSpPr>
        <p:spPr>
          <a:xfrm>
            <a:off x="822960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MONTH</a:t>
            </a:r>
            <a:endParaRPr lang="en-US" sz="1000" dirty="0"/>
          </a:p>
        </p:txBody>
      </p:sp>
      <p:graphicFrame>
        <p:nvGraphicFramePr>
          <p:cNvPr id="8" name="Deliverable · report · pre-bid monitoring BY MONTH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1463040"/>
                <a:gridCol w="11887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Month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Pageviews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DV pre-bid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Discrepancy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Jan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88,799,843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86,029,638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Feb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76,449,175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73,990,594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78,906,939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76,544,383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44,598,903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43,771,981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May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40,298,053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36,840,158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39,401,025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38,439,204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41,820,559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39,544,135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Aug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42,787,009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40,292,568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Sep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52,642,347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50,519,576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Deliverable · report · pre-bid monitoring BY QUARTER card"/>
          <p:cNvSpPr/>
          <p:nvPr/>
        </p:nvSpPr>
        <p:spPr>
          <a:xfrm>
            <a:off x="6278728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BY QUARTER tick"/>
          <p:cNvSpPr/>
          <p:nvPr/>
        </p:nvSpPr>
        <p:spPr>
          <a:xfrm>
            <a:off x="6553048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735928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QUARTER</a:t>
            </a:r>
            <a:endParaRPr lang="en-US" sz="1000" dirty="0"/>
          </a:p>
        </p:txBody>
      </p:sp>
      <p:graphicFrame>
        <p:nvGraphicFramePr>
          <p:cNvPr id="15" name="Deliverable · report · pre-bid monitoring BY QUART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1463040"/>
                <a:gridCol w="11887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Quarter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Pageviews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DV pre-bid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Discrepancy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Q1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244,155,957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236,564,615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Q2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124,297,981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119,051,343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Q3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137,249,915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130,356,279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Q4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YTD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505,703,853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485,972,237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Newsweek design · 2026 YTD Jan–Sep from the DV-GA workbook · discrepancy = (pageviews − DV pre-bid) ÷ pageviews. Q4 fills in after December closes.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REPORT · SIVT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Newsweek has consistently low SIVT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Goal: show TAG auditors that SIVT stays low, month after month.</a:t>
            </a:r>
            <a:endParaRPr lang="en-US" sz="1500" dirty="0"/>
          </a:p>
        </p:txBody>
      </p:sp>
      <p:sp>
        <p:nvSpPr>
          <p:cNvPr id="5" name="Deliverable · report · SIVT BY MONTH card"/>
          <p:cNvSpPr/>
          <p:nvPr/>
        </p:nvSpPr>
        <p:spPr>
          <a:xfrm>
            <a:off x="548640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BY MONTH tick"/>
          <p:cNvSpPr/>
          <p:nvPr/>
        </p:nvSpPr>
        <p:spPr>
          <a:xfrm>
            <a:off x="822960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MONTH</a:t>
            </a:r>
            <a:endParaRPr lang="en-US" sz="1000" dirty="0"/>
          </a:p>
        </p:txBody>
      </p:sp>
      <p:graphicFrame>
        <p:nvGraphicFramePr>
          <p:cNvPr id="9" name="Deliverable · report · SIVT BY MONTH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98448"/>
                <a:gridCol w="1298448"/>
                <a:gridCol w="128930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Month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Overall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Display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Video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Jan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Feb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May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Aug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Sep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Deliverable · report · SIVT BY QUARTER card"/>
          <p:cNvSpPr/>
          <p:nvPr/>
        </p:nvSpPr>
        <p:spPr>
          <a:xfrm>
            <a:off x="6278728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BY QUARTER tick"/>
          <p:cNvSpPr/>
          <p:nvPr/>
        </p:nvSpPr>
        <p:spPr>
          <a:xfrm>
            <a:off x="6553048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735928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QUARTER</a:t>
            </a:r>
            <a:endParaRPr lang="en-US" sz="1000" dirty="0"/>
          </a:p>
        </p:txBody>
      </p:sp>
      <p:graphicFrame>
        <p:nvGraphicFramePr>
          <p:cNvPr id="17" name="Deliverable · report · SIVT BY QUART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98448"/>
                <a:gridCol w="1298448"/>
                <a:gridCol w="128930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Quarter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Overall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Display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Video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Q1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Q2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Q3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Q4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YTD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Newsweek design · 2026 YTD Jan–Sep from the DV-GAM workbook · overall and quarters weighted by DV post-bid impressions. Q4 fills in after December closes.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WHAT IT SHOWS AUDITORS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stays near 0.04% every quarter</a:t>
            </a:r>
            <a:endParaRPr lang="en-US" sz="3400" dirty="0"/>
          </a:p>
        </p:txBody>
      </p:sp>
      <p:graphicFrame>
        <p:nvGraphicFramePr>
          <p:cNvPr id="4" name="sivt by quarter chart" descr=""/>
          <p:cNvGraphicFramePr/>
          <p:nvPr/>
        </p:nvGraphicFramePr>
        <p:xfrm>
          <a:off x="548640" y="187452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ivt 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SIVT, YTD JAN–SEP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0.04%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324612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Impression-weighted across display and video. Industry red line is 3%.</a:t>
            </a:r>
            <a:endParaRPr lang="en-US" sz="1300" dirty="0"/>
          </a:p>
        </p:txBody>
      </p:sp>
      <p:sp>
        <p:nvSpPr>
          <p:cNvPr id="9" name="sivt 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DISPLAY · VIDEO, YTD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0.04% · 0.02%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52120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Each sheet's SIVT Rate weighted by DV post-bid impressions.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workbook, SIVT Rate weighted by DV post-bid impressions. Never average the monthly rates.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ORDER MATTERS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steps, always in this order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548640" y="2423160"/>
            <a:ext cx="1999427" cy="31089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Six columns from Ad Manager reports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9" name="step card 2"/>
          <p:cNvSpPr/>
          <p:nvPr/>
        </p:nvSpPr>
        <p:spPr>
          <a:xfrm>
            <a:off x="2822387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6707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096707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96707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Inventory Quality report (DV UI)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96707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14" name="step card 3"/>
          <p:cNvSpPr/>
          <p:nvPr/>
        </p:nvSpPr>
        <p:spPr>
          <a:xfrm>
            <a:off x="5096134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0454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370454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+ DV pre-bid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70454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 pageviews vs pre-bid requests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70454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 sheet</a:t>
            </a:r>
            <a:endParaRPr lang="en-US" sz="1200" dirty="0"/>
          </a:p>
        </p:txBody>
      </p:sp>
      <p:sp>
        <p:nvSpPr>
          <p:cNvPr id="19" name="step card 4"/>
          <p:cNvSpPr/>
          <p:nvPr/>
        </p:nvSpPr>
        <p:spPr>
          <a:xfrm>
            <a:off x="7369881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44201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644201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44201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Roll months into quarters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44201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Weighted SIVT, discrepancy</a:t>
            </a:r>
            <a:endParaRPr lang="en-US" sz="1200" dirty="0"/>
          </a:p>
        </p:txBody>
      </p:sp>
      <p:sp>
        <p:nvSpPr>
          <p:cNvPr id="24" name="step card 5"/>
          <p:cNvSpPr/>
          <p:nvPr/>
        </p:nvSpPr>
        <p:spPr>
          <a:xfrm>
            <a:off x="9643628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17948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17948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917948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Cover, pre-bid, key changes, SIVT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917948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Check every 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Steps 1–3 are copied by hand from Ad Manager, DoubleVerify and GA4.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WORKBOOK IS THE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definitions every new month must follow</a:t>
            </a:r>
            <a:endParaRPr lang="en-US" sz="3400" dirty="0"/>
          </a:p>
        </p:txBody>
      </p:sp>
      <p:sp>
        <p:nvSpPr>
          <p:cNvPr id="4" name="rule card 1"/>
          <p:cNvSpPr/>
          <p:nvPr/>
        </p:nvSpPr>
        <p:spPr>
          <a:xfrm>
            <a:off x="548640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DISCREPANCY</a:t>
            </a:r>
            <a:endParaRPr lang="en-US" sz="1200" dirty="0"/>
          </a:p>
        </p:txBody>
      </p:sp>
      <p:sp>
        <p:nvSpPr>
          <p:cNvPr id="6" name="formula box 1"/>
          <p:cNvSpPr/>
          <p:nvPr/>
        </p:nvSpPr>
        <p:spPr>
          <a:xfrm>
            <a:off x="868680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(GA4 pageviews − DV pre-bid) ÷ GA4 pageviews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DV-GA workbook's own formula. The report uses it too.</a:t>
            </a:r>
            <a:endParaRPr lang="en-US" sz="1400" dirty="0"/>
          </a:p>
        </p:txBody>
      </p:sp>
      <p:sp>
        <p:nvSpPr>
          <p:cNvPr id="9" name="rule card 2"/>
          <p:cNvSpPr/>
          <p:nvPr/>
        </p:nvSpPr>
        <p:spPr>
          <a:xfrm>
            <a:off x="4368698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GAM TOTAL</a:t>
            </a:r>
            <a:endParaRPr lang="en-US" sz="1200" dirty="0"/>
          </a:p>
        </p:txBody>
      </p:sp>
      <p:sp>
        <p:nvSpPr>
          <p:cNvPr id="11" name="formula box 2"/>
          <p:cNvSpPr/>
          <p:nvPr/>
        </p:nvSpPr>
        <p:spPr>
          <a:xfrm>
            <a:off x="4688738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1618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Total code served count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Ad Exchange + PMP – PA + Ad server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Keeps each month comparable with the months already in the sheet.</a:t>
            </a:r>
            <a:endParaRPr lang="en-US" sz="1400" dirty="0"/>
          </a:p>
        </p:txBody>
      </p:sp>
      <p:sp>
        <p:nvSpPr>
          <p:cNvPr id="14" name="rule card 3"/>
          <p:cNvSpPr/>
          <p:nvPr/>
        </p:nvSpPr>
        <p:spPr>
          <a:xfrm>
            <a:off x="8188757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</a:t>
            </a:r>
            <a:endParaRPr lang="en-US" sz="1200" dirty="0"/>
          </a:p>
        </p:txBody>
      </p:sp>
      <p:sp>
        <p:nvSpPr>
          <p:cNvPr id="16" name="formula box 3"/>
          <p:cNvSpPr/>
          <p:nvPr/>
        </p:nvSpPr>
        <p:spPr>
          <a:xfrm>
            <a:off x="8508797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91677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Banner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In-stream video + In-stream video or audio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8797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 Exchange impressions split by the Inventory format dimension. Video always takes both formats.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Ad Manager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 GAM columns of the DV-GAM workbook, for the display and video sheets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IN AD MANAGER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GAM column starts from the same report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reports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Reporting → Interactive reports → Create my own report → Historical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dates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range: the months you need, e.g. Oct 1 – Dec 31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two dimensions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Month and year, and Ad unit (top level)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filter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 unit (top level) is any of newsweek, vid.newsweek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metric and run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One metric per column (next slide). newsweek rows → display sheet, vid.newsweek rows → video sheet</a:t>
            </a:r>
            <a:endParaRPr lang="en-US" sz="1300" dirty="0"/>
          </a:p>
        </p:txBody>
      </p:sp>
      <p:sp>
        <p:nvSpPr>
          <p:cNvPr id="19" name="save tip card"/>
          <p:cNvSpPr/>
          <p:nvPr/>
        </p:nvSpPr>
        <p:spPr>
          <a:xfrm>
            <a:off x="7680960" y="2057400"/>
            <a:ext cx="3962095" cy="35661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SAVE IT ONCE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saved report per column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8862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Save each with date range This year. Next quarter: open it, run it, and copy only the new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COLUMN BY COLUMN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column is a dimension, a metric and a filter</a:t>
            </a:r>
            <a:endParaRPr lang="en-US" sz="3400" dirty="0"/>
          </a:p>
        </p:txBody>
      </p:sp>
      <p:sp>
        <p:nvSpPr>
          <p:cNvPr id="4" name="base query"/>
          <p:cNvSpPr/>
          <p:nvPr/>
        </p:nvSpPr>
        <p:spPr>
          <a:xfrm>
            <a:off x="548640" y="1920240"/>
            <a:ext cx="11094415" cy="68580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EVERY COLUMN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Dimensions: Month and year × Ad unit (top level)   ·   Filter: Ad unit (top level) is newsweek or vid.newsweek</a:t>
            </a:r>
            <a:endParaRPr lang="en-US" sz="1100" dirty="0"/>
          </a:p>
        </p:txBody>
      </p:sp>
      <p:graphicFrame>
        <p:nvGraphicFramePr>
          <p:cNvPr id="15" name="column 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560527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filter or split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by Inventory format instead of ad unit: Banner → display; In-stream video + In-stream video or audio → video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channel = 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Private Auction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Programmatic Guaranteed or Preferred Deals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code served count (display sheet)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· video GAM total = Ad Exchange + PMP – PA + 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TRAPS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dimension traps, and one fact to remember</a:t>
            </a:r>
            <a:endParaRPr lang="en-US" sz="3400" dirty="0"/>
          </a:p>
        </p:txBody>
      </p:sp>
      <p:sp>
        <p:nvSpPr>
          <p:cNvPr id="4" name="trap 1"/>
          <p:cNvSpPr/>
          <p:nvPr/>
        </p:nvSpPr>
        <p:spPr>
          <a:xfrm>
            <a:off x="548640" y="205740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rap icon 1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Ad unit (top level), not Ad unit</a:t>
            </a:r>
            <a:endParaRPr lang="en-US" sz="1600" dirty="0"/>
          </a:p>
        </p:txBody>
      </p:sp>
      <p:sp>
        <p:nvSpPr>
          <p:cNvPr id="8" name="trap 2"/>
          <p:cNvSpPr/>
          <p:nvPr/>
        </p:nvSpPr>
        <p:spPr>
          <a:xfrm>
            <a:off x="548640" y="324612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rap icon 2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832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Video Ad Exchange: In-stream video + In-stream video or audio</a:t>
            </a:r>
            <a:endParaRPr lang="en-US" sz="1600" dirty="0"/>
          </a:p>
        </p:txBody>
      </p:sp>
      <p:sp>
        <p:nvSpPr>
          <p:cNvPr id="12" name="trap 3"/>
          <p:cNvSpPr/>
          <p:nvPr/>
        </p:nvSpPr>
        <p:spPr>
          <a:xfrm>
            <a:off x="548640" y="443484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rap icon 3"/>
          <p:cNvSpPr/>
          <p:nvPr/>
        </p:nvSpPr>
        <p:spPr>
          <a:xfrm>
            <a:off x="777240" y="470916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72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Never filter Programmatic channel = Open Auction</a:t>
            </a:r>
            <a:endParaRPr lang="en-US" sz="1600" dirty="0"/>
          </a:p>
        </p:txBody>
      </p:sp>
      <p:sp>
        <p:nvSpPr>
          <p:cNvPr id="16" name="fact card"/>
          <p:cNvSpPr/>
          <p:nvPr/>
        </p:nvSpPr>
        <p:spPr>
          <a:xfrm>
            <a:off x="7040880" y="2057400"/>
            <a:ext cx="4602175" cy="33832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 INCLUDES PRIVATE AUCTION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28346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48,732,896 + 681,691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49,414,587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40690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Open Auction + PA = Ad Exchange, every month (Feb display shown). Never add PA on top of Ad Exchange as a separate source.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 and GA4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Copied by hand from the DV Pinnacle and GA4 interfaces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DV INVENTORY QUALITY REPORT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numbers per sheet, per month</a:t>
            </a:r>
            <a:endParaRPr lang="en-US" sz="3400" dirty="0"/>
          </a:p>
        </p:txBody>
      </p:sp>
      <p:sp>
        <p:nvSpPr>
          <p:cNvPr id="4" name="dv card 1"/>
          <p:cNvSpPr/>
          <p:nvPr/>
        </p:nvSpPr>
        <p:spPr>
          <a:xfrm>
            <a:off x="548640" y="20574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post-bid impressions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column: total DV gross impressions – post-bid. Monitored impressions, Newsweek O&amp;O</a:t>
            </a:r>
            <a:endParaRPr lang="en-US" sz="1400" dirty="0"/>
          </a:p>
        </p:txBody>
      </p:sp>
      <p:sp>
        <p:nvSpPr>
          <p:cNvPr id="8" name="dv card 2"/>
          <p:cNvSpPr/>
          <p:nvPr/>
        </p:nvSpPr>
        <p:spPr>
          <a:xfrm>
            <a:off x="548640" y="36576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86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43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Fraud/SIVT rate, entered as a decimal: 0.0004 = 0.04%</a:t>
            </a:r>
            <a:endParaRPr lang="en-US" sz="1400" dirty="0"/>
          </a:p>
        </p:txBody>
      </p:sp>
      <p:sp>
        <p:nvSpPr>
          <p:cNvPr id="12" name="export card"/>
          <p:cNvSpPr/>
          <p:nvPr/>
        </p:nvSpPr>
        <p:spPr>
          <a:xfrm>
            <a:off x="7040880" y="2057400"/>
            <a:ext cx="4602175" cy="29718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EXPORT, DON'T READ A TILE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788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370,000,000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6118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 DV post-bid impressions are rounded to the nearest 100k, as a UI tile shows them. Export the Inventory Quality report for exact counts.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Source: the Inventory Quality report in the DV UI (Pinnacle), for both numbers. Pull display and video as separate rows: they go to separate sheets.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3 · GA4 AND DV PRE-BID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 against pre-bid requests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963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saved exploration: Year month × Platform, metric Views, Platform = web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Prebid Reqs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935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DV pre-bid page-level requests for the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Discrepancy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690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Formula already in the sheet. Don't overwrite it</a:t>
            </a:r>
            <a:endParaRPr lang="en-US" sz="1400" dirty="0"/>
          </a:p>
        </p:txBody>
      </p:sp>
      <p:sp>
        <p:nvSpPr>
          <p:cNvPr id="13" name="ga4 card"/>
          <p:cNvSpPr/>
          <p:nvPr/>
        </p:nvSpPr>
        <p:spPr>
          <a:xfrm>
            <a:off x="7040880" y="2057400"/>
            <a:ext cx="4602175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GA4 SOURCE OF RECORD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788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131632414 · property 359317277</a:t>
            </a:r>
            <a:endParaRPr lang="en-US" sz="1500" dirty="0"/>
          </a:p>
          <a:p>
            <a:pPr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saved exploration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5760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Set the date range to the quarter and copy web Views per month. Save a copy under a shared account so the link survives staff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 and the deck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Months become quarters, quarters become slides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4 · ROLL MONTHS INTO QUARTERS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SIVT by impressions, never average</a:t>
            </a:r>
            <a:endParaRPr lang="en-US" sz="3400" dirty="0"/>
          </a:p>
        </p:txBody>
      </p:sp>
      <p:sp>
        <p:nvSpPr>
          <p:cNvPr id="4" name="formula 1"/>
          <p:cNvSpPr/>
          <p:nvPr/>
        </p:nvSpPr>
        <p:spPr>
          <a:xfrm>
            <a:off x="548640" y="2057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QUARTER SIVT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41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Σ(DV post-bid impressions × SIVT Rate) ÷ Σ DV post-bid impressions</a:t>
            </a:r>
            <a:endParaRPr lang="en-US" sz="1400" dirty="0"/>
          </a:p>
        </p:txBody>
      </p:sp>
      <p:sp>
        <p:nvSpPr>
          <p:cNvPr id="7" name="formula 2"/>
          <p:cNvSpPr/>
          <p:nvPr/>
        </p:nvSpPr>
        <p:spPr>
          <a:xfrm>
            <a:off x="548640" y="3200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337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OVERALL SIVT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same, with display and video summed together</a:t>
            </a:r>
            <a:endParaRPr lang="en-US" sz="1400" dirty="0"/>
          </a:p>
        </p:txBody>
      </p:sp>
      <p:sp>
        <p:nvSpPr>
          <p:cNvPr id="10" name="formula 3"/>
          <p:cNvSpPr/>
          <p:nvPr/>
        </p:nvSpPr>
        <p:spPr>
          <a:xfrm>
            <a:off x="548640" y="4343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80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DISCREPANCY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27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(Σ pageviews − Σ pre-bid) ÷ Σ pageviews</a:t>
            </a:r>
            <a:endParaRPr lang="en-US" sz="1400" dirty="0"/>
          </a:p>
        </p:txBody>
      </p:sp>
      <p:graphicFrame>
        <p:nvGraphicFramePr>
          <p:cNvPr id="13" name="discrepancy chart" descr=""/>
          <p:cNvGraphicFramePr/>
          <p:nvPr/>
        </p:nvGraphicFramePr>
        <p:xfrm>
          <a:off x="6675120" y="1965960"/>
          <a:ext cx="49679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5 · UPDATE THE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change every quarter</a:t>
            </a:r>
            <a:endParaRPr lang="en-US" sz="3400" dirty="0"/>
          </a:p>
        </p:txBody>
      </p:sp>
      <p:sp>
        <p:nvSpPr>
          <p:cNvPr id="4" name="check 1"/>
          <p:cNvSpPr/>
          <p:nvPr/>
        </p:nvSpPr>
        <p:spPr>
          <a:xfrm>
            <a:off x="548640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COVER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year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 the year on the cover.</a:t>
            </a:r>
            <a:endParaRPr lang="en-US" sz="1300" dirty="0"/>
          </a:p>
        </p:txBody>
      </p:sp>
      <p:sp>
        <p:nvSpPr>
          <p:cNvPr id="8" name="check 2"/>
          <p:cNvSpPr/>
          <p:nvPr/>
        </p:nvSpPr>
        <p:spPr>
          <a:xfrm>
            <a:off x="6278728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PRE-BID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41768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vs DV pre-bid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41768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Add the quarter; update the year-to-date row; Q2's DV figure sits in a loose text box outside the DV column, so check it.</a:t>
            </a:r>
            <a:endParaRPr lang="en-US" sz="1300" dirty="0"/>
          </a:p>
        </p:txBody>
      </p:sp>
      <p:sp>
        <p:nvSpPr>
          <p:cNvPr id="12" name="check 3"/>
          <p:cNvSpPr/>
          <p:nvPr/>
        </p:nvSpPr>
        <p:spPr>
          <a:xfrm>
            <a:off x="548640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206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CHANGES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changes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Anything that moved traffic or measurement: replatforming, new player, vendor or threshold change.</a:t>
            </a:r>
            <a:endParaRPr lang="en-US" sz="1300" dirty="0"/>
          </a:p>
        </p:txBody>
      </p:sp>
      <p:sp>
        <p:nvSpPr>
          <p:cNvPr id="16" name="check 4"/>
          <p:cNvSpPr/>
          <p:nvPr/>
        </p:nvSpPr>
        <p:spPr>
          <a:xfrm>
            <a:off x="6278728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53048" y="4206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SIVT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41768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by quarter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41768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Overall / display / video per quarter. Relabel the bottom row Full year if that's what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sweek Paper">
  <a:themeElements>
    <a:clrScheme name="Newsweek Paper">
      <a:dk1>
        <a:srgbClr val="1F1E19"/>
      </a:dk1>
      <a:lt1>
        <a:srgbClr val="FEFCF6"/>
      </a:lt1>
      <a:dk2>
        <a:srgbClr val="57564F"/>
      </a:dk2>
      <a:lt2>
        <a:srgbClr val="F6F2E6"/>
      </a:lt2>
      <a:accent1>
        <a:srgbClr val="E91D0C"/>
      </a:accent1>
      <a:accent2>
        <a:srgbClr val="C41608"/>
      </a:accent2>
      <a:accent3>
        <a:srgbClr val="4B62E0"/>
      </a:accent3>
      <a:accent4>
        <a:srgbClr val="2D8D92"/>
      </a:accent4>
      <a:accent5>
        <a:srgbClr val="B08900"/>
      </a:accent5>
      <a:accent6>
        <a:srgbClr val="3C6B14"/>
      </a:accent6>
      <a:hlink>
        <a:srgbClr val="57564F"/>
      </a:hlink>
      <a:folHlink>
        <a:srgbClr val="8C887B"/>
      </a:folHlink>
    </a:clrScheme>
    <a:fontScheme name="Newsweek Paper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the IVT Monitoring Report</dc:title>
  <dc:subject>PptxGenJS Presentation</dc:subject>
  <dc:creator>Newsweek RevOps</dc:creator>
  <cp:lastModifiedBy>Newsweek RevOps</cp:lastModifiedBy>
  <cp:revision>1</cp:revision>
  <dcterms:created xsi:type="dcterms:W3CDTF">2026-10-21T00:04:42Z</dcterms:created>
  <dcterms:modified xsi:type="dcterms:W3CDTF">2026-10-21T00:04:42Z</dcterms:modified>
</cp:coreProperties>
</file>