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1d907725-23ad-01dd-559e-acba5e02438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1 · GAM" id="{e0d38ab2-a614-d10f-b4bf-8372e87de3da}">
          <p14:sldIdLst>
            <p14:sldId id="267"/>
            <p14:sldId id="268"/>
            <p14:sldId id="269"/>
            <p14:sldId id="270"/>
          </p14:sldIdLst>
        </p14:section>
        <p14:section name="2–3 · DV and GA4" id="{86901443-a32c-2a68-39c6-420a91e2a7d4}">
          <p14:sldIdLst>
            <p14:sldId id="271"/>
            <p14:sldId id="272"/>
            <p14:sldId id="273"/>
            <p14:sldId id="274"/>
          </p14:sldIdLst>
        </p14:section>
        <p14:section name="4–5 · Math and deck" id="{8467ae4f-d3b9-28af-5872-072c1e0baa57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3.1</c:v>
                </c:pt>
                <c:pt idx="1">
                  <c:v>3.2</c:v>
                </c:pt>
                <c:pt idx="2">
                  <c:v>3</c:v>
                </c:pt>
                <c:pt idx="3">
                  <c:v>1.9</c:v>
                </c:pt>
                <c:pt idx="4">
                  <c:v>8.6</c:v>
                </c:pt>
                <c:pt idx="5">
                  <c:v>2.4</c:v>
                </c:pt>
                <c:pt idx="6">
                  <c:v>5.4</c:v>
                </c:pt>
                <c:pt idx="7">
                  <c:v>5.8</c:v>
                </c:pt>
                <c:pt idx="8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Display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Display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7.8</c:v>
                </c:pt>
                <c:pt idx="1">
                  <c:v>8</c:v>
                </c:pt>
                <c:pt idx="2">
                  <c:v>10.5</c:v>
                </c:pt>
                <c:pt idx="3">
                  <c:v>10.6</c:v>
                </c:pt>
                <c:pt idx="4">
                  <c:v>8.6</c:v>
                </c:pt>
                <c:pt idx="5">
                  <c:v>7.6</c:v>
                </c:pt>
                <c:pt idx="6">
                  <c:v>7.8</c:v>
                </c:pt>
                <c:pt idx="7">
                  <c:v>7.3</c:v>
                </c:pt>
                <c:pt idx="8">
                  <c:v>7.1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Display,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Video discrepancy 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Video 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12.5</c:v>
                </c:pt>
                <c:pt idx="1">
                  <c:v>15.1</c:v>
                </c:pt>
                <c:pt idx="2">
                  <c:v>14</c:v>
                </c:pt>
                <c:pt idx="3">
                  <c:v>16.4</c:v>
                </c:pt>
                <c:pt idx="4">
                  <c:v>14.3</c:v>
                </c:pt>
                <c:pt idx="5">
                  <c:v>11.2</c:v>
                </c:pt>
                <c:pt idx="6">
                  <c:v>11.7</c:v>
                </c:pt>
                <c:pt idx="7">
                  <c:v>12.8</c:v>
                </c:pt>
                <c:pt idx="8">
                  <c:v>11.4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Video,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46.7</c:v>
                </c:pt>
                <c:pt idx="1">
                  <c:v>43.3</c:v>
                </c:pt>
                <c:pt idx="2">
                  <c:v>47.1</c:v>
                </c:pt>
                <c:pt idx="3">
                  <c:v>25.7</c:v>
                </c:pt>
                <c:pt idx="4">
                  <c:v>23.9</c:v>
                </c:pt>
                <c:pt idx="5">
                  <c:v>27.2</c:v>
                </c:pt>
                <c:pt idx="6">
                  <c:v>28.9</c:v>
                </c:pt>
                <c:pt idx="7">
                  <c:v>26.5</c:v>
                </c:pt>
                <c:pt idx="8">
                  <c:v>32.9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40.9</c:v>
                </c:pt>
                <c:pt idx="1">
                  <c:v>36.8</c:v>
                </c:pt>
                <c:pt idx="2">
                  <c:v>40.5</c:v>
                </c:pt>
                <c:pt idx="3">
                  <c:v>21.5</c:v>
                </c:pt>
                <c:pt idx="4">
                  <c:v>20.5</c:v>
                </c:pt>
                <c:pt idx="5">
                  <c:v>24.2</c:v>
                </c:pt>
                <c:pt idx="6">
                  <c:v>25.5</c:v>
                </c:pt>
                <c:pt idx="7">
                  <c:v>23.1</c:v>
                </c:pt>
                <c:pt idx="8">
                  <c:v>29.1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SIVT rate by quarter, 2026 YTD (Jan–Sep, October excluded)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1F1E19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0.039</c:v>
                </c:pt>
                <c:pt idx="1">
                  <c:v>0.042</c:v>
                </c:pt>
                <c:pt idx="2">
                  <c:v>0.044</c:v>
                </c:pt>
                <c:pt idx="3">
                  <c:v>0.041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Display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0.04</c:v>
                </c:pt>
                <c:pt idx="1">
                  <c:v>0.046</c:v>
                </c:pt>
                <c:pt idx="2">
                  <c:v>0.048</c:v>
                </c:pt>
                <c:pt idx="3">
                  <c:v>0.044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Video</c:v>
                </c:pt>
              </c:strCache>
            </c:strRef>
          </c:tx>
          <c:spPr>
            <a:solidFill>
              <a:srgbClr val="824DD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0.027</c:v>
                </c:pt>
                <c:pt idx="1">
                  <c:v>0.016</c:v>
                </c:pt>
                <c:pt idx="2">
                  <c:v>0.017</c:v>
                </c:pt>
                <c:pt idx="3">
                  <c:v>0.021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PRE-BID SLIDE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THE REPORT'S SIVT SLIDE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the report's pre-bid slide.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Pre-bid discrepancy: 3.9% YTD</a:t>
            </a:r>
            <a:endParaRPr lang="en-US" sz="3400" dirty="0"/>
          </a:p>
        </p:txBody>
      </p:sp>
      <p:graphicFrame>
        <p:nvGraphicFramePr>
          <p:cNvPr id="4" name="Pre-bid monitoring · what it shows discrepancy chart 1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e-bid monitoring · what it shows volume chart 1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DISCREPANCY, YTD JAN–SEP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 96.1% of pageviews were monitored by DV pre-bid: 485.97M requests against 505.70M GA4 pageviews. Highest month: May, 8.6%.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workbook 2026. Discrepancy = (Pageviews − Prebid Reqs)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the report's SIVT slide.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Post-bid discrepancy: 8.4% display, 13.3% video</a:t>
            </a:r>
            <a:endParaRPr lang="en-US" sz="3400" dirty="0"/>
          </a:p>
        </p:txBody>
      </p:sp>
      <p:graphicFrame>
        <p:nvGraphicFramePr>
          <p:cNvPr id="4" name="Post-bid monitoring · what it shows discrepancy chart 1" descr=""/>
          <p:cNvGraphicFramePr/>
          <p:nvPr/>
        </p:nvGraphicFramePr>
        <p:xfrm>
          <a:off x="54864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st-bid monitoring · what it shows volume chart 1" descr=""/>
          <p:cNvGraphicFramePr/>
          <p:nvPr/>
        </p:nvGraphicFramePr>
        <p:xfrm>
          <a:off x="54864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Post-bid monitoring · what it shows discrepancy chart 2" descr=""/>
          <p:cNvGraphicFramePr/>
          <p:nvPr/>
        </p:nvGraphicFramePr>
        <p:xfrm>
          <a:off x="4411980" y="1828800"/>
          <a:ext cx="35433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Post-bid monitoring · what it shows volume chart 2" descr=""/>
          <p:cNvGraphicFramePr/>
          <p:nvPr/>
        </p:nvGraphicFramePr>
        <p:xfrm>
          <a:off x="4411980" y="3474720"/>
          <a:ext cx="35433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 DISCREPANCY, YTD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8.4%</a:t>
            </a:r>
            <a:endParaRPr lang="en-US" sz="4400" dirty="0"/>
          </a:p>
        </p:txBody>
      </p:sp>
      <p:sp>
        <p:nvSpPr>
          <p:cNvPr id="11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91.6% of display impressions measured by DV post-bid.</a:t>
            </a:r>
            <a:endParaRPr lang="en-US" sz="1300" dirty="0"/>
          </a:p>
        </p:txBody>
      </p:sp>
      <p:sp>
        <p:nvSpPr>
          <p:cNvPr id="12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 DISCREPANCY, YTD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4400" dirty="0"/>
          </a:p>
        </p:txBody>
      </p:sp>
      <p:sp>
        <p:nvSpPr>
          <p:cNvPr id="15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86.7% measured. Gap = impressions DV can't tag (e.g. Google demand).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2026 YTD Jan–Sep (October excluded). Discrepancy = 1 − DV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pageviews vs DV pre-bid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DV monitors every pageview.</a:t>
            </a:r>
            <a:endParaRPr lang="en-US" sz="1500" dirty="0"/>
          </a:p>
        </p:txBody>
      </p:sp>
      <p:sp>
        <p:nvSpPr>
          <p:cNvPr id="5" name="Deliverable · report · pre-bid monitoring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8" name="Deliverable · report · pre-bid monitoring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88,799,843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86,029,638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76,449,175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73,990,594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78,906,939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76,544,383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44,598,903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43,771,981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40,298,053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36,840,158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39,401,025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38,439,204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41,820,559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39,544,135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42,787,009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40,292,568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52,642,347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50,519,576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pre-bid monitoring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5" name="Deliverable · report · pre-bid monitoring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463040"/>
                <a:gridCol w="1188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Pageviews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DV pre-bid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Discrepancy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244,155,957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236,564,615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124,297,981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119,051,343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137,249,915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130,356,279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505,703,853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485,972,237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2026 YTD Jan–Sep from the DV-GA workbook · discrepancy = (pageviews − DV pre-bid) ÷ pageviews.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REPORT · SIVT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Newsweek has consistently low SIVT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show TAG auditors that SIVT stays low, month after month.</a:t>
            </a:r>
            <a:endParaRPr lang="en-US" sz="1500" dirty="0"/>
          </a:p>
        </p:txBody>
      </p:sp>
      <p:sp>
        <p:nvSpPr>
          <p:cNvPr id="5" name="Deliverable · report · SIVT BY MONTH card"/>
          <p:cNvSpPr/>
          <p:nvPr/>
        </p:nvSpPr>
        <p:spPr>
          <a:xfrm>
            <a:off x="548640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BY MONTH tick"/>
          <p:cNvSpPr/>
          <p:nvPr/>
        </p:nvSpPr>
        <p:spPr>
          <a:xfrm>
            <a:off x="822960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MONTH</a:t>
            </a:r>
            <a:endParaRPr lang="en-US" sz="1000" dirty="0"/>
          </a:p>
        </p:txBody>
      </p:sp>
      <p:graphicFrame>
        <p:nvGraphicFramePr>
          <p:cNvPr id="9" name="Deliverable · report · SIVT BY MONTH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Jan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Feb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May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Jul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Sep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Deliverable · report · SIVT BY QUARTER card"/>
          <p:cNvSpPr/>
          <p:nvPr/>
        </p:nvSpPr>
        <p:spPr>
          <a:xfrm>
            <a:off x="6278728" y="2240280"/>
            <a:ext cx="5364328" cy="384048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BY QUARTER tick"/>
          <p:cNvSpPr/>
          <p:nvPr/>
        </p:nvSpPr>
        <p:spPr>
          <a:xfrm>
            <a:off x="6553048" y="2496312"/>
            <a:ext cx="91440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423160"/>
            <a:ext cx="463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BY QUARTER</a:t>
            </a:r>
            <a:endParaRPr lang="en-US" sz="1000" dirty="0"/>
          </a:p>
        </p:txBody>
      </p:sp>
      <p:graphicFrame>
        <p:nvGraphicFramePr>
          <p:cNvPr id="17" name="Deliverable · report · SIVT BY QUART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2788920"/>
          <a:ext cx="4815688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98448"/>
                <a:gridCol w="1298448"/>
                <a:gridCol w="128930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Quarter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Overall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Display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Video</a:t>
                      </a:r>
                      <a:endParaRPr lang="en-US" sz="1100" dirty="0"/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1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YTD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2026 YTD Jan–Sep from the DV-GAM workbook · overall and quarters weighted by DV post-bid impressions. Q4 fills in after December closes.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DELIVERABLE · WHAT IT SHOWS AUDITORS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stays near 0.04% every quarter</a:t>
            </a:r>
            <a:endParaRPr lang="en-US" sz="3400" dirty="0"/>
          </a:p>
        </p:txBody>
      </p:sp>
      <p:graphicFrame>
        <p:nvGraphicFramePr>
          <p:cNvPr id="4" name="sivt by quarter chart" descr=""/>
          <p:cNvGraphicFramePr/>
          <p:nvPr/>
        </p:nvGraphicFramePr>
        <p:xfrm>
          <a:off x="548640" y="1874520"/>
          <a:ext cx="7406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ivt 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SIVT, YTD JAN–SEP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24612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Impression-weighted across display and video. Industry red line is 3%.</a:t>
            </a:r>
            <a:endParaRPr lang="en-US" sz="1300" dirty="0"/>
          </a:p>
        </p:txBody>
      </p:sp>
      <p:sp>
        <p:nvSpPr>
          <p:cNvPr id="9" name="sivt 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DISPLAY · VIDEO, YTD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0.04% · 0.02%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52120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sheet's SIVT Rate weighted by DV post-bid impressions.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workbook, SIVT Rate weighted by DV post-bid impressions. Never average the monthly rates.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Inventory Quality report (DV UI)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Cover, pre-bid, key changes, SIVT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The report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5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DV INVENTORY QUALITY REPORT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Export the Inventory Quality report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Source: the Inventory Quality report in the DV UI (Pinnacle), for both numbers. Pull display and video as separate rows: they go to separate sheets.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IN THE DV UI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the Inventory Quality report by media type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report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DV Pinnacle → Publisher Suite → Inventory Quality → Inventory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one month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picker: the first to the last day of the month, e.g. 7/1/2026 – 7/31/2026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Filters → Media Type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Tick Display (or Video) only; leave null unticked. Click Apply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tiles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Monitored Impressions → DV post-bid impressions; Fraud/SIVT ÷ Monitored → SIVT Rate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Switch the filter to Video, then move to the next month</a:t>
            </a:r>
            <a:endParaRPr lang="en-US" sz="1300" dirty="0"/>
          </a:p>
        </p:txBody>
      </p:sp>
      <p:sp>
        <p:nvSpPr>
          <p:cNvPr id="19" name="dv filter example"/>
          <p:cNvSpPr/>
          <p:nvPr/>
        </p:nvSpPr>
        <p:spPr>
          <a:xfrm>
            <a:off x="7680960" y="2057400"/>
            <a:ext cx="3962095" cy="36576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31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EXAMPLE · JULY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432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Media Type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■ Display   193.4M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□ Video        25.5M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□ null              131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420624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193.4M is the display figure in the workbook for July. The tile rounds to 0.1M; export the report for exact 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COVER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8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PRE-BID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2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CHANGES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6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3048" y="4206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SIVT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2026-10-21T00:11:46Z</dcterms:created>
  <dcterms:modified xsi:type="dcterms:W3CDTF">2026-10-21T00:11:46Z</dcterms:modified>
</cp:coreProperties>
</file>