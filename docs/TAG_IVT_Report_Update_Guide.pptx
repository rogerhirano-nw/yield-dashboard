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5f0be8cb-3a0c-432c-84e4-bab24de197c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 · GAM" id="{07d86376-7bd1-5dbd-de7d-64dc48dc9686}">
          <p14:sldIdLst>
            <p14:sldId id="264"/>
            <p14:sldId id="265"/>
            <p14:sldId id="266"/>
            <p14:sldId id="267"/>
          </p14:sldIdLst>
        </p14:section>
        <p14:section name="2–3 · DV and GA4" id="{9f7f6d8b-8403-588a-cf38-38462b4bc743}">
          <p14:sldIdLst>
            <p14:sldId id="268"/>
            <p14:sldId id="269"/>
            <p14:sldId id="270"/>
          </p14:sldIdLst>
        </p14:section>
        <p14:section name="4–5 · Math and deck" id="{c5b29312-b4c8-ea56-fb87-17b0d5cbfe8d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Discrepancy rate by month, 2026 YTD (Jan–Sep, October excluded)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3.1</c:v>
                </c:pt>
                <c:pt idx="1">
                  <c:v>3.2</c:v>
                </c:pt>
                <c:pt idx="2">
                  <c:v>3</c:v>
                </c:pt>
                <c:pt idx="3">
                  <c:v>1.9</c:v>
                </c:pt>
                <c:pt idx="4">
                  <c:v>8.6</c:v>
                </c:pt>
                <c:pt idx="5">
                  <c:v>2.4</c:v>
                </c:pt>
                <c:pt idx="6">
                  <c:v>5.4</c:v>
                </c:pt>
                <c:pt idx="7">
                  <c:v>5.8</c:v>
                </c:pt>
                <c:pt idx="8">
                  <c:v>4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Volumes,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GA4 pageviews</c:v>
                </c:pt>
              </c:strCache>
            </c:strRef>
          </c:tx>
          <c:spPr>
            <a:solidFill>
              <a:srgbClr val="B08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88.8</c:v>
                </c:pt>
                <c:pt idx="1">
                  <c:v>76.4</c:v>
                </c:pt>
                <c:pt idx="2">
                  <c:v>78.9</c:v>
                </c:pt>
                <c:pt idx="3">
                  <c:v>44.6</c:v>
                </c:pt>
                <c:pt idx="4">
                  <c:v>40.3</c:v>
                </c:pt>
                <c:pt idx="5">
                  <c:v>39.4</c:v>
                </c:pt>
                <c:pt idx="6">
                  <c:v>41.8</c:v>
                </c:pt>
                <c:pt idx="7">
                  <c:v>42.8</c:v>
                </c:pt>
                <c:pt idx="8">
                  <c:v>52.6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pre-bid requests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86</c:v>
                </c:pt>
                <c:pt idx="1">
                  <c:v>74</c:v>
                </c:pt>
                <c:pt idx="2">
                  <c:v>76.5</c:v>
                </c:pt>
                <c:pt idx="3">
                  <c:v>43.8</c:v>
                </c:pt>
                <c:pt idx="4">
                  <c:v>36.8</c:v>
                </c:pt>
                <c:pt idx="5">
                  <c:v>38.4</c:v>
                </c:pt>
                <c:pt idx="6">
                  <c:v>39.5</c:v>
                </c:pt>
                <c:pt idx="7">
                  <c:v>40.3</c:v>
                </c:pt>
                <c:pt idx="8">
                  <c:v>50.5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1E19"/>
                </a:solidFill>
                <a:latin typeface="+mn-lt"/>
              </a:rPr>
              <a:t>Discrepancy rate by month, 2026 YTD (Jan–Sep, October excluded)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 %</c:v>
                </c:pt>
              </c:strCache>
            </c:strRef>
          </c:tx>
          <c:spPr>
            <a:solidFill>
              <a:srgbClr val="1F1E19"/>
            </a:solidFill>
            <a:ln w="31750" cap="flat">
              <a:solidFill>
                <a:srgbClr val="1F1E1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F1E19"/>
              </a:solidFill>
              <a:ln w="9525" cap="flat">
                <a:solidFill>
                  <a:srgbClr val="1F1E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7.8</c:v>
                </c:pt>
                <c:pt idx="1">
                  <c:v>8</c:v>
                </c:pt>
                <c:pt idx="2">
                  <c:v>10.5</c:v>
                </c:pt>
                <c:pt idx="3">
                  <c:v>10.6</c:v>
                </c:pt>
                <c:pt idx="4">
                  <c:v>8.6</c:v>
                </c:pt>
                <c:pt idx="5">
                  <c:v>7.6</c:v>
                </c:pt>
                <c:pt idx="6">
                  <c:v>7.8</c:v>
                </c:pt>
                <c:pt idx="7">
                  <c:v>7.3</c:v>
                </c:pt>
                <c:pt idx="8">
                  <c:v>7.1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F1E19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7564F"/>
                </a:solidFill>
                <a:latin typeface="+mn-lt"/>
              </a:rPr>
              <a:t>Volumes, millions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 total (display)</c:v>
                </c:pt>
              </c:strCache>
            </c:strRef>
          </c:tx>
          <c:spPr>
            <a:solidFill>
              <a:srgbClr val="4B62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401.2</c:v>
                </c:pt>
                <c:pt idx="1">
                  <c:v>343.9</c:v>
                </c:pt>
                <c:pt idx="2">
                  <c:v>356.7</c:v>
                </c:pt>
                <c:pt idx="3">
                  <c:v>201.9</c:v>
                </c:pt>
                <c:pt idx="4">
                  <c:v>173.7</c:v>
                </c:pt>
                <c:pt idx="5">
                  <c:v>198.2</c:v>
                </c:pt>
                <c:pt idx="6">
                  <c:v>209.7</c:v>
                </c:pt>
                <c:pt idx="7">
                  <c:v>210</c:v>
                </c:pt>
                <c:pt idx="8">
                  <c:v>260.5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DV post-bid (display)</c:v>
                </c:pt>
              </c:strCache>
            </c:strRef>
          </c:tx>
          <c:spPr>
            <a:solidFill>
              <a:srgbClr val="2D8D9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370</c:v>
                </c:pt>
                <c:pt idx="1">
                  <c:v>316.4</c:v>
                </c:pt>
                <c:pt idx="2">
                  <c:v>319.2</c:v>
                </c:pt>
                <c:pt idx="3">
                  <c:v>180.6</c:v>
                </c:pt>
                <c:pt idx="4">
                  <c:v>158.8</c:v>
                </c:pt>
                <c:pt idx="5">
                  <c:v>183.2</c:v>
                </c:pt>
                <c:pt idx="6">
                  <c:v>193.4</c:v>
                </c:pt>
                <c:pt idx="7">
                  <c:v>194.6</c:v>
                </c:pt>
                <c:pt idx="8">
                  <c:v>241.9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7E0C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F1E1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4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10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slide 4 of the report.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PRE-BID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Pre-bid discrepancy: 3.9% YTD</a:t>
            </a:r>
            <a:endParaRPr lang="en-US" sz="3400" dirty="0"/>
          </a:p>
        </p:txBody>
      </p:sp>
      <p:graphicFrame>
        <p:nvGraphicFramePr>
          <p:cNvPr id="4" name="Pre-bid monitoring · what it shows discrepancy chart" descr=""/>
          <p:cNvGraphicFramePr/>
          <p:nvPr/>
        </p:nvGraphicFramePr>
        <p:xfrm>
          <a:off x="548640" y="1828800"/>
          <a:ext cx="7406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re-bid monitoring · what it shows volume chart" descr=""/>
          <p:cNvGraphicFramePr/>
          <p:nvPr/>
        </p:nvGraphicFramePr>
        <p:xfrm>
          <a:off x="548640" y="3474720"/>
          <a:ext cx="7406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tat 1"/>
          <p:cNvSpPr/>
          <p:nvPr/>
        </p:nvSpPr>
        <p:spPr>
          <a:xfrm>
            <a:off x="8321040" y="1965960"/>
            <a:ext cx="3322015" cy="374904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DISCREPANCY, YTD JAN–SEP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3.9%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246120"/>
            <a:ext cx="277337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 96.1% of pageviews were monitored by DV pre-bid: 485.97M requests against 505.70M GA4 pageviews. Highest month: May, 8.6%.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 workbook 2026. Discrepancy = (Pageviews − Prebid Reqs) ÷ Pageviews.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slide 10.</a:t>
            </a:r>
            <a:endParaRPr lang="en-US" sz="1400" dirty="0"/>
          </a:p>
        </p:txBody>
      </p:sp>
      <p:graphicFrame>
        <p:nvGraphicFramePr>
          <p:cNvPr id="6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POST-BID MONITORING · WHAT IT SHOWS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Post-bid discrepancy: 8.4% display, 13.3% video</a:t>
            </a:r>
            <a:endParaRPr lang="en-US" sz="3400" dirty="0"/>
          </a:p>
        </p:txBody>
      </p:sp>
      <p:graphicFrame>
        <p:nvGraphicFramePr>
          <p:cNvPr id="4" name="Post-bid monitoring · what it shows discrepancy chart" descr=""/>
          <p:cNvGraphicFramePr/>
          <p:nvPr/>
        </p:nvGraphicFramePr>
        <p:xfrm>
          <a:off x="548640" y="1828800"/>
          <a:ext cx="740664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ost-bid monitoring · what it shows volume chart" descr=""/>
          <p:cNvGraphicFramePr/>
          <p:nvPr/>
        </p:nvGraphicFramePr>
        <p:xfrm>
          <a:off x="548640" y="3474720"/>
          <a:ext cx="7406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tat 1"/>
          <p:cNvSpPr/>
          <p:nvPr/>
        </p:nvSpPr>
        <p:spPr>
          <a:xfrm>
            <a:off x="8321040" y="1965960"/>
            <a:ext cx="3322015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95360" y="219456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DISPLAY DISCREPANCY, YTD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46888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8.4%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324612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91.6% of display impressions measured by DV post-bid.</a:t>
            </a:r>
            <a:endParaRPr lang="en-US" sz="1300" dirty="0"/>
          </a:p>
        </p:txBody>
      </p:sp>
      <p:sp>
        <p:nvSpPr>
          <p:cNvPr id="10" name="stat 2"/>
          <p:cNvSpPr/>
          <p:nvPr/>
        </p:nvSpPr>
        <p:spPr>
          <a:xfrm>
            <a:off x="8321040" y="3931920"/>
            <a:ext cx="3322015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595360" y="416052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VIDEO DISCREPANCY, YTD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4434840"/>
            <a:ext cx="2773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13.3%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8595360" y="5212080"/>
            <a:ext cx="2773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86.7% measured. Gap = impressions DV can't tag (e.g. Google demand).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0807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Source: DV-GAM workbook 2026, display sheet. Discrepancy = 1 − DV ÷ GAM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Slides 1, 4, 9 and 10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Slide 4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2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9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4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9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2026-10-20T22:54:29Z</dcterms:created>
  <dcterms:modified xsi:type="dcterms:W3CDTF">2026-10-20T22:54:29Z</dcterms:modified>
</cp:coreProperties>
</file>