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7eaa1433-e3bc-fe37-db88-c521fc30ec1b}">
          <p14:sldIdLst>
            <p14:sldId id="256"/>
            <p14:sldId id="257"/>
            <p14:sldId id="258"/>
            <p14:sldId id="259"/>
          </p14:sldIdLst>
        </p14:section>
        <p14:section name="1 · GAM" id="{ac4b858e-1c3f-21ec-3c36-5ad5e4a8eb3e}">
          <p14:sldIdLst>
            <p14:sldId id="260"/>
            <p14:sldId id="261"/>
            <p14:sldId id="262"/>
            <p14:sldId id="263"/>
          </p14:sldIdLst>
        </p14:section>
        <p14:section name="2–3 · DV and GA4" id="{5f70419a-f049-6c94-74c4-802d7b684d1d}">
          <p14:sldIdLst>
            <p14:sldId id="264"/>
            <p14:sldId id="265"/>
            <p14:sldId id="266"/>
          </p14:sldIdLst>
        </p14:section>
        <p14:section name="4–5 · Math and deck" id="{1e181954-8f66-6119-a798-153f5f28e333}">
          <p14:sldIdLst>
            <p14:sldId id="267"/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F1E19"/>
                </a:solidFill>
                <a:latin typeface="+mn-lt"/>
              </a:rPr>
              <a:t>GA4 vs DV pre-bid discrepancy, 2026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Discrepancy</c:v>
                </c:pt>
              </c:strCache>
            </c:strRef>
          </c:tx>
          <c:spPr>
            <a:solidFill>
              <a:srgbClr val="57564F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YTD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3.11</c:v>
                </c:pt>
                <c:pt idx="1">
                  <c:v>4.22</c:v>
                </c:pt>
                <c:pt idx="2">
                  <c:v>5.02</c:v>
                </c:pt>
                <c:pt idx="3">
                  <c:v>3.9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F1E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for the quarterly refresh of the Newsweek IVT Monitoring Report, the TAG CAF evidence pack. Everything here is done in the Ad Manager, DoubleVerify Pinnacle and GA4 interfaces.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W_COVER">
    <p:bg>
      <p:bgPr>
        <a:solidFill>
          <a:srgbClr val="1F1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yield-dashboard/4d5cc11e-e324-5930-811f-3c218404ae68/scratchpad/deck/img/s1_Pictur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2377440" cy="36576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300" kern="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154680"/>
            <a:ext cx="1051560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5029200"/>
            <a:ext cx="100584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W_SECTION">
    <p:bg>
      <p:bgPr>
        <a:solidFill>
          <a:srgbClr val="1F1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indent="0" marL="0">
              <a:buNone/>
            </a:pP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pic>
        <p:nvPicPr>
          <p:cNvPr id="5" name="Image 0" descr="/tmp/claude-0/-home-user-yield-dashboard/4d5cc11e-e324-5930-811f-3c218404ae68/scratchpad/deck/img/s1_Pictur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1455" y="6355080"/>
            <a:ext cx="1371600" cy="21031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W_CONTENT">
    <p:bg>
      <p:bgPr>
        <a:solidFill>
          <a:srgbClr val="FE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09728" cy="109728"/>
          </a:xfrm>
          <a:prstGeom prst="rect">
            <a:avLst/>
          </a:prstGeom>
          <a:solidFill>
            <a:srgbClr val="E91D0C"/>
          </a:solidFill>
          <a:ln/>
        </p:spPr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972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 IVT monitoring report · update guide</a:t>
            </a:r>
            <a:endParaRPr lang="en-US" sz="1000" dirty="0"/>
          </a:p>
        </p:txBody>
      </p:sp>
      <p:pic>
        <p:nvPicPr>
          <p:cNvPr id="6" name="Image 0" descr="/tmp/claude-0/-home-user-yield-dashboard/4d5cc11e-e324-5930-811f-3c218404ae68/scratchpad/deck/img/s1_Pictur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4335" y="6400800"/>
            <a:ext cx="1188720" cy="1828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analytics.google.com/analytics/web/#/analysis/a131632414p359317277/edit/Gbsqfd36SraxUc8LJyQB6g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bg2"/>
                </a:solidFill>
              </a:rPr>
              <a:t>REVOPS · TAG CERTIFIED AGAINST FRAUD</a:t>
            </a:r>
            <a:endParaRPr lang="en-US" sz="1400" dirty="0"/>
          </a:p>
        </p:txBody>
      </p:sp>
      <p:sp>
        <p:nvSpPr>
          <p:cNvPr id="3" name="cover tick"/>
          <p:cNvSpPr/>
          <p:nvPr/>
        </p:nvSpPr>
        <p:spPr>
          <a:xfrm>
            <a:off x="548640" y="2862072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15468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Updating the IVT Monitoring Report</a:t>
            </a:r>
            <a:endParaRPr lang="en-US" sz="4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50292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quarterly runbook: where every number comes from in GAM, DoubleVerify and GA4, and how it reaches the deck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WHAT WE UPDATE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files, refreshed once a quarter</a:t>
            </a:r>
            <a:endParaRPr lang="en-US" sz="3400" dirty="0"/>
          </a:p>
        </p:txBody>
      </p:sp>
      <p:sp>
        <p:nvSpPr>
          <p:cNvPr id="4" name="file card 1"/>
          <p:cNvSpPr/>
          <p:nvPr/>
        </p:nvSpPr>
        <p:spPr>
          <a:xfrm>
            <a:off x="548640" y="2148840"/>
            <a:ext cx="3454298" cy="35661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file dot 1"/>
          <p:cNvSpPr/>
          <p:nvPr/>
        </p:nvSpPr>
        <p:spPr>
          <a:xfrm>
            <a:off x="868680" y="251460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2918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DV-GA discrepancy workbook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343400"/>
            <a:ext cx="2814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GA4 web pageviews vs DV pre-bid requests,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516636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FEEDS SLIDE 4</a:t>
            </a:r>
            <a:endParaRPr lang="en-US" sz="1100" dirty="0"/>
          </a:p>
        </p:txBody>
      </p:sp>
      <p:sp>
        <p:nvSpPr>
          <p:cNvPr id="10" name="file card 2"/>
          <p:cNvSpPr/>
          <p:nvPr/>
        </p:nvSpPr>
        <p:spPr>
          <a:xfrm>
            <a:off x="4368698" y="2148840"/>
            <a:ext cx="3454298" cy="35661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1" name="file dot 2"/>
          <p:cNvSpPr/>
          <p:nvPr/>
        </p:nvSpPr>
        <p:spPr>
          <a:xfrm>
            <a:off x="4688738" y="251460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88738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688738" y="32918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DV-GAM discrepancy workbook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88738" y="4343400"/>
            <a:ext cx="2814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GAM impressions by channel, DV post-bid impressions and SIVT rate, display and video sheets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688738" y="516636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FEEDS SLIDE 10</a:t>
            </a:r>
            <a:endParaRPr lang="en-US" sz="1100" dirty="0"/>
          </a:p>
        </p:txBody>
      </p:sp>
      <p:sp>
        <p:nvSpPr>
          <p:cNvPr id="16" name="file card 3"/>
          <p:cNvSpPr/>
          <p:nvPr/>
        </p:nvSpPr>
        <p:spPr>
          <a:xfrm>
            <a:off x="8188757" y="2148840"/>
            <a:ext cx="3454298" cy="35661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file dot 3"/>
          <p:cNvSpPr/>
          <p:nvPr/>
        </p:nvSpPr>
        <p:spPr>
          <a:xfrm>
            <a:off x="8508797" y="2514600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508797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508797" y="32918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IVT Monitoring Report deck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508797" y="4343400"/>
            <a:ext cx="2814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TAG evidence pack sent to the auditor and buyers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508797" y="516636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BUILT FROM BOTH WORKBOOKS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THE ORDER MATTERS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steps, always in this order</a:t>
            </a:r>
            <a:endParaRPr lang="en-US" sz="3400" dirty="0"/>
          </a:p>
        </p:txBody>
      </p:sp>
      <p:sp>
        <p:nvSpPr>
          <p:cNvPr id="4" name="step card 1"/>
          <p:cNvSpPr/>
          <p:nvPr/>
        </p:nvSpPr>
        <p:spPr>
          <a:xfrm>
            <a:off x="548640" y="2423160"/>
            <a:ext cx="1999427" cy="310896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GAM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Six columns from Ad Manager reports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DV-GAM workbook</a:t>
            </a:r>
            <a:endParaRPr lang="en-US" sz="1200" dirty="0"/>
          </a:p>
        </p:txBody>
      </p:sp>
      <p:sp>
        <p:nvSpPr>
          <p:cNvPr id="9" name="step card 2"/>
          <p:cNvSpPr/>
          <p:nvPr/>
        </p:nvSpPr>
        <p:spPr>
          <a:xfrm>
            <a:off x="2822387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96707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3096707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DoubleVerify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096707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Post-bid impressions and SIVT rate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096707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DV-GAM workbook</a:t>
            </a:r>
            <a:endParaRPr lang="en-US" sz="1200" dirty="0"/>
          </a:p>
        </p:txBody>
      </p:sp>
      <p:sp>
        <p:nvSpPr>
          <p:cNvPr id="14" name="step card 3"/>
          <p:cNvSpPr/>
          <p:nvPr/>
        </p:nvSpPr>
        <p:spPr>
          <a:xfrm>
            <a:off x="5096134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70454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5370454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GA4 + DV pre-bid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370454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Web pageviews vs pre-bid requests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370454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DV-GA sheet</a:t>
            </a:r>
            <a:endParaRPr lang="en-US" sz="1200" dirty="0"/>
          </a:p>
        </p:txBody>
      </p:sp>
      <p:sp>
        <p:nvSpPr>
          <p:cNvPr id="19" name="step card 4"/>
          <p:cNvSpPr/>
          <p:nvPr/>
        </p:nvSpPr>
        <p:spPr>
          <a:xfrm>
            <a:off x="7369881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644201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7644201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Quarter math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644201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Roll months into quarters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644201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Weighted SIVT, discrepancy</a:t>
            </a:r>
            <a:endParaRPr lang="en-US" sz="1200" dirty="0"/>
          </a:p>
        </p:txBody>
      </p:sp>
      <p:sp>
        <p:nvSpPr>
          <p:cNvPr id="24" name="step card 5"/>
          <p:cNvSpPr/>
          <p:nvPr/>
        </p:nvSpPr>
        <p:spPr>
          <a:xfrm>
            <a:off x="9643628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917948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4000" dirty="0"/>
          </a:p>
        </p:txBody>
      </p:sp>
      <p:sp>
        <p:nvSpPr>
          <p:cNvPr id="26" name="Text 24"/>
          <p:cNvSpPr txBox="1"/>
          <p:nvPr/>
        </p:nvSpPr>
        <p:spPr>
          <a:xfrm>
            <a:off x="9917948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Deck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9917948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Slides 1, 4, 9 and 10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917948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Check every %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806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Steps 1–3 are copied by hand from Ad Manager, DoubleVerify and GA4.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THE WORKBOOK IS THE REFERENCE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definitions every new month must follow</a:t>
            </a:r>
            <a:endParaRPr lang="en-US" sz="3400" dirty="0"/>
          </a:p>
        </p:txBody>
      </p:sp>
      <p:sp>
        <p:nvSpPr>
          <p:cNvPr id="4" name="rule card 1"/>
          <p:cNvSpPr/>
          <p:nvPr/>
        </p:nvSpPr>
        <p:spPr>
          <a:xfrm>
            <a:off x="548640" y="2148840"/>
            <a:ext cx="3454298" cy="3657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4688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DISCREPANCY</a:t>
            </a:r>
            <a:endParaRPr lang="en-US" sz="1200" dirty="0"/>
          </a:p>
        </p:txBody>
      </p:sp>
      <p:sp>
        <p:nvSpPr>
          <p:cNvPr id="6" name="formula box 1"/>
          <p:cNvSpPr/>
          <p:nvPr/>
        </p:nvSpPr>
        <p:spPr>
          <a:xfrm>
            <a:off x="868680" y="2926080"/>
            <a:ext cx="2814218" cy="141732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3017520"/>
            <a:ext cx="2448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(GA4 pageviews − DV pre-bid) ÷ GA4 pageviews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57200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DV-GA workbook's own formula. Slide 4 uses it too.</a:t>
            </a:r>
            <a:endParaRPr lang="en-US" sz="1400" dirty="0"/>
          </a:p>
        </p:txBody>
      </p:sp>
      <p:sp>
        <p:nvSpPr>
          <p:cNvPr id="9" name="rule card 2"/>
          <p:cNvSpPr/>
          <p:nvPr/>
        </p:nvSpPr>
        <p:spPr>
          <a:xfrm>
            <a:off x="4368698" y="2148840"/>
            <a:ext cx="3454298" cy="3657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88738" y="24688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GAM TOTAL</a:t>
            </a:r>
            <a:endParaRPr lang="en-US" sz="1200" dirty="0"/>
          </a:p>
        </p:txBody>
      </p:sp>
      <p:sp>
        <p:nvSpPr>
          <p:cNvPr id="11" name="formula box 2"/>
          <p:cNvSpPr/>
          <p:nvPr/>
        </p:nvSpPr>
        <p:spPr>
          <a:xfrm>
            <a:off x="4688738" y="2926080"/>
            <a:ext cx="2814218" cy="141732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71618" y="3017520"/>
            <a:ext cx="2448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Display: Total code served count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Video: Ad Exchange + PMP – PA + Ad server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688738" y="457200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Keeps each month comparable with the months already in the sheet.</a:t>
            </a:r>
            <a:endParaRPr lang="en-US" sz="1400" dirty="0"/>
          </a:p>
        </p:txBody>
      </p:sp>
      <p:sp>
        <p:nvSpPr>
          <p:cNvPr id="14" name="rule card 3"/>
          <p:cNvSpPr/>
          <p:nvPr/>
        </p:nvSpPr>
        <p:spPr>
          <a:xfrm>
            <a:off x="8188757" y="2148840"/>
            <a:ext cx="3454298" cy="3657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508797" y="24688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AD EXCHANGE</a:t>
            </a:r>
            <a:endParaRPr lang="en-US" sz="1200" dirty="0"/>
          </a:p>
        </p:txBody>
      </p:sp>
      <p:sp>
        <p:nvSpPr>
          <p:cNvPr id="16" name="formula box 3"/>
          <p:cNvSpPr/>
          <p:nvPr/>
        </p:nvSpPr>
        <p:spPr>
          <a:xfrm>
            <a:off x="8508797" y="2926080"/>
            <a:ext cx="2814218" cy="141732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91677" y="3017520"/>
            <a:ext cx="2448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Display: Banner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Video: In-stream video + In-stream video or audio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508797" y="457200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Ad Exchange impressions split by the Inventory format dimension. Video always takes both formats.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Google Ad Manager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The six GAM columns of the DV-GAM workbook, for the display and video sheets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IN AD MANAGER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GAM column starts from the same report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93852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reports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30428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Reporting → Interactive reports → Create my own report → Historical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76148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 the dates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12724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Date range: the months you need, e.g. Oct 1 – Dec 31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661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58444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two dimensions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95020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Month and year, and Ad unit (top level)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3891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40740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the filter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77316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Ad unit (top level) is any of newsweek, vid.newsweek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2120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523036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the metric and run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59612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One metric per column (next slide). newsweek rows → display sheet, vid.newsweek rows → video sheet</a:t>
            </a:r>
            <a:endParaRPr lang="en-US" sz="1300" dirty="0"/>
          </a:p>
        </p:txBody>
      </p:sp>
      <p:sp>
        <p:nvSpPr>
          <p:cNvPr id="19" name="save tip card"/>
          <p:cNvSpPr/>
          <p:nvPr/>
        </p:nvSpPr>
        <p:spPr>
          <a:xfrm>
            <a:off x="7680960" y="2057400"/>
            <a:ext cx="3962095" cy="356616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01000" y="23774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bg2"/>
                </a:solidFill>
              </a:rPr>
              <a:t>SAVE IT ONCE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001000" y="27889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saved report per column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8001000" y="388620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Save each with date range This year. Next quarter: open it, run it, and copy only the new months.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COLUMN BY COLUMN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column is a dimension, a metric and a filter</a:t>
            </a:r>
            <a:endParaRPr lang="en-US" sz="3400" dirty="0"/>
          </a:p>
        </p:txBody>
      </p:sp>
      <p:sp>
        <p:nvSpPr>
          <p:cNvPr id="4" name="base query"/>
          <p:cNvSpPr/>
          <p:nvPr/>
        </p:nvSpPr>
        <p:spPr>
          <a:xfrm>
            <a:off x="548640" y="1920240"/>
            <a:ext cx="11094415" cy="68580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57400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EVERY COLUMN  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Dimensions: Month and year × Ad unit (top level)   ·   Filter: Ad unit (top level) is newsweek or vid.newsweek</a:t>
            </a:r>
            <a:endParaRPr lang="en-US" sz="1100" dirty="0"/>
          </a:p>
        </p:txBody>
      </p:sp>
      <p:graphicFrame>
        <p:nvGraphicFramePr>
          <p:cNvPr id="8" name="column map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3464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749040"/>
                <a:gridCol w="5605272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Extra filter or split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Split by Inventory format instead of ad unit: Banner → display; In-stream video + In-stream video or audio → video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Bidding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channel = Open Bidding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subchannel = Private Auction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 unfiltered downloaded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PD+PG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subchannel = Programmatic Guaranteed or Preferred Deals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 total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code served count (display sheet)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 · video GAM total = Ad Exchange + PMP – PA + Ad server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TRAPS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dimension traps, and one fact to remember</a:t>
            </a:r>
            <a:endParaRPr lang="en-US" sz="3400" dirty="0"/>
          </a:p>
        </p:txBody>
      </p:sp>
      <p:sp>
        <p:nvSpPr>
          <p:cNvPr id="4" name="trap 1"/>
          <p:cNvSpPr/>
          <p:nvPr/>
        </p:nvSpPr>
        <p:spPr>
          <a:xfrm>
            <a:off x="548640" y="2057400"/>
            <a:ext cx="6035040" cy="100584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rap icon 1"/>
          <p:cNvSpPr/>
          <p:nvPr/>
        </p:nvSpPr>
        <p:spPr>
          <a:xfrm>
            <a:off x="777240" y="2331720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rgbClr val="8C887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!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1945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Use Ad unit (top level), not Ad unit</a:t>
            </a:r>
            <a:endParaRPr lang="en-US" sz="1600" dirty="0"/>
          </a:p>
        </p:txBody>
      </p:sp>
      <p:sp>
        <p:nvSpPr>
          <p:cNvPr id="8" name="trap 2"/>
          <p:cNvSpPr/>
          <p:nvPr/>
        </p:nvSpPr>
        <p:spPr>
          <a:xfrm>
            <a:off x="548640" y="3246120"/>
            <a:ext cx="6035040" cy="100584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9" name="trap icon 2"/>
          <p:cNvSpPr/>
          <p:nvPr/>
        </p:nvSpPr>
        <p:spPr>
          <a:xfrm>
            <a:off x="777240" y="3520440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rgbClr val="8C88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!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338328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Video Ad Exchange: In-stream video + In-stream video or audio</a:t>
            </a:r>
            <a:endParaRPr lang="en-US" sz="1600" dirty="0"/>
          </a:p>
        </p:txBody>
      </p:sp>
      <p:sp>
        <p:nvSpPr>
          <p:cNvPr id="12" name="trap 3"/>
          <p:cNvSpPr/>
          <p:nvPr/>
        </p:nvSpPr>
        <p:spPr>
          <a:xfrm>
            <a:off x="548640" y="4434840"/>
            <a:ext cx="6035040" cy="100584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3" name="trap icon 3"/>
          <p:cNvSpPr/>
          <p:nvPr/>
        </p:nvSpPr>
        <p:spPr>
          <a:xfrm>
            <a:off x="777240" y="4709160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rgbClr val="8C88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!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57200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Never filter Programmatic channel = Open Auction</a:t>
            </a:r>
            <a:endParaRPr lang="en-US" sz="1600" dirty="0"/>
          </a:p>
        </p:txBody>
      </p:sp>
      <p:sp>
        <p:nvSpPr>
          <p:cNvPr id="16" name="fact card"/>
          <p:cNvSpPr/>
          <p:nvPr/>
        </p:nvSpPr>
        <p:spPr>
          <a:xfrm>
            <a:off x="7040880" y="2057400"/>
            <a:ext cx="4602175" cy="338328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60920" y="2331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AD EXCHANGE INCLUDES PRIVATE AUCTION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360920" y="283464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48,732,896 + 681,691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= 49,414,587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7360920" y="406908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Open Auction + PA = Ad Exchange, every month (Feb display shown). Never add PA on top of Ad Exchange as a separate source.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DoubleVerify and GA4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Copied by hand from the DV Pinnacle and GA4 interfaces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2 · DOUBLEVERIFY PINNACLE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numbers per sheet, per month</a:t>
            </a:r>
            <a:endParaRPr lang="en-US" sz="3400" dirty="0"/>
          </a:p>
        </p:txBody>
      </p:sp>
      <p:sp>
        <p:nvSpPr>
          <p:cNvPr id="4" name="dv card 1"/>
          <p:cNvSpPr/>
          <p:nvPr/>
        </p:nvSpPr>
        <p:spPr>
          <a:xfrm>
            <a:off x="548640" y="2057400"/>
            <a:ext cx="6035040" cy="1371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22860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 post-bid impressions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274320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Workbook column: total DV gross impressions – post-bid. Monitored impressions, Newsweek O&amp;O</a:t>
            </a:r>
            <a:endParaRPr lang="en-US" sz="1400" dirty="0"/>
          </a:p>
        </p:txBody>
      </p:sp>
      <p:sp>
        <p:nvSpPr>
          <p:cNvPr id="8" name="dv card 2"/>
          <p:cNvSpPr/>
          <p:nvPr/>
        </p:nvSpPr>
        <p:spPr>
          <a:xfrm>
            <a:off x="548640" y="3657600"/>
            <a:ext cx="6035040" cy="1371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88620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38862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SIVT Rate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828800" y="434340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Fraud/SIVT rate, entered as a decimal: 0.0004 = 0.04%</a:t>
            </a:r>
            <a:endParaRPr lang="en-US" sz="1400" dirty="0"/>
          </a:p>
        </p:txBody>
      </p:sp>
      <p:sp>
        <p:nvSpPr>
          <p:cNvPr id="12" name="export card"/>
          <p:cNvSpPr/>
          <p:nvPr/>
        </p:nvSpPr>
        <p:spPr>
          <a:xfrm>
            <a:off x="7040880" y="2057400"/>
            <a:ext cx="4602175" cy="297180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60920" y="2331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EXPORT, DON'T READ A TILE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360920" y="278892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370,000,000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7360920" y="361188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2026 DV post-bid impressions are rounded to the nearest 100k, as a UI tile shows them. Use the Pinnacle report export for exact counts.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Pull display and video as separate rows: they go to separate sheets of the DV-GAM workbook.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3 · GA4 AND DV PRE-BID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Pageviews against pre-bid requests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2103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Pageviews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49631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GA4 saved exploration: Year month × Platform, metric Views, Platform = web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54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3200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Prebid Reqs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359359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DV pre-bid page-level requests for the month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251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Discrepancy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469087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Formula already in the sheet. Don't overwrite it</a:t>
            </a:r>
            <a:endParaRPr lang="en-US" sz="1400" dirty="0"/>
          </a:p>
        </p:txBody>
      </p:sp>
      <p:sp>
        <p:nvSpPr>
          <p:cNvPr id="13" name="ga4 card"/>
          <p:cNvSpPr/>
          <p:nvPr/>
        </p:nvSpPr>
        <p:spPr>
          <a:xfrm>
            <a:off x="7040880" y="2057400"/>
            <a:ext cx="4602175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60920" y="2331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GA4 SOURCE OF RECORD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360920" y="27889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Account 131632414 · property 359317277</a:t>
            </a:r>
            <a:endParaRPr lang="en-US" sz="1500" dirty="0"/>
          </a:p>
          <a:p>
            <a:pPr indent="0" marL="0">
              <a:buNone/>
            </a:pPr>
            <a:r>
              <a:rPr lang="en-US" sz="1500" u="sng" dirty="0">
                <a:solidFill>
                  <a:schemeClr val="tx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saved exploration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360920" y="365760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Set the date range to the quarter and copy web Views per month. Save a copy under a shared account so the link survives staff changes.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Quarter math and the deck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Months become quarters, quarters become slides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4 · ROLL MONTHS INTO QUARTERS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Weight SIVT by impressions, never average</a:t>
            </a:r>
            <a:endParaRPr lang="en-US" sz="3400" dirty="0"/>
          </a:p>
        </p:txBody>
      </p:sp>
      <p:sp>
        <p:nvSpPr>
          <p:cNvPr id="4" name="formula 1"/>
          <p:cNvSpPr/>
          <p:nvPr/>
        </p:nvSpPr>
        <p:spPr>
          <a:xfrm>
            <a:off x="548640" y="2057400"/>
            <a:ext cx="5669280" cy="9601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94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QUARTER SIVT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41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Σ(DV post-bid impressions × SIVT Rate) ÷ Σ DV post-bid impressions</a:t>
            </a:r>
            <a:endParaRPr lang="en-US" sz="1400" dirty="0"/>
          </a:p>
        </p:txBody>
      </p:sp>
      <p:sp>
        <p:nvSpPr>
          <p:cNvPr id="7" name="formula 2"/>
          <p:cNvSpPr/>
          <p:nvPr/>
        </p:nvSpPr>
        <p:spPr>
          <a:xfrm>
            <a:off x="548640" y="3200400"/>
            <a:ext cx="5669280" cy="9601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337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OVERALL SIVT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584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same, with display and video summed together</a:t>
            </a:r>
            <a:endParaRPr lang="en-US" sz="1400" dirty="0"/>
          </a:p>
        </p:txBody>
      </p:sp>
      <p:sp>
        <p:nvSpPr>
          <p:cNvPr id="10" name="formula 3"/>
          <p:cNvSpPr/>
          <p:nvPr/>
        </p:nvSpPr>
        <p:spPr>
          <a:xfrm>
            <a:off x="548640" y="4343400"/>
            <a:ext cx="5669280" cy="9601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4480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DISCREPANCY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727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(Σ pageviews − Σ pre-bid) ÷ Σ pageviews</a:t>
            </a:r>
            <a:endParaRPr lang="en-US" sz="1400" dirty="0"/>
          </a:p>
        </p:txBody>
      </p:sp>
      <p:graphicFrame>
        <p:nvGraphicFramePr>
          <p:cNvPr id="13" name="discrepancy chart" descr=""/>
          <p:cNvGraphicFramePr/>
          <p:nvPr/>
        </p:nvGraphicFramePr>
        <p:xfrm>
          <a:off x="6675120" y="1965960"/>
          <a:ext cx="4967935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5 · UPDATE THE DECK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slides change every quarter</a:t>
            </a:r>
            <a:endParaRPr lang="en-US" sz="3400" dirty="0"/>
          </a:p>
        </p:txBody>
      </p:sp>
      <p:sp>
        <p:nvSpPr>
          <p:cNvPr id="4" name="check 1"/>
          <p:cNvSpPr/>
          <p:nvPr/>
        </p:nvSpPr>
        <p:spPr>
          <a:xfrm>
            <a:off x="548640" y="205740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SLIDE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1460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2011680" y="228600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Title year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2011680" y="271576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Confirm the year on the cover.</a:t>
            </a:r>
            <a:endParaRPr lang="en-US" sz="1300" dirty="0"/>
          </a:p>
        </p:txBody>
      </p:sp>
      <p:sp>
        <p:nvSpPr>
          <p:cNvPr id="9" name="check 2"/>
          <p:cNvSpPr/>
          <p:nvPr/>
        </p:nvSpPr>
        <p:spPr>
          <a:xfrm>
            <a:off x="6278728" y="205740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53048" y="2286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SLIDE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251460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7741768" y="228600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GA4 vs DV pre-bid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741768" y="271576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Add the quarter; update the year-to-date row; Q2's DV figure sits in a loose text box outside the DV column, so check it.</a:t>
            </a:r>
            <a:endParaRPr lang="en-US" sz="1300" dirty="0"/>
          </a:p>
        </p:txBody>
      </p:sp>
      <p:sp>
        <p:nvSpPr>
          <p:cNvPr id="14" name="check 3"/>
          <p:cNvSpPr/>
          <p:nvPr/>
        </p:nvSpPr>
        <p:spPr>
          <a:xfrm>
            <a:off x="548640" y="393192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160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SLIDE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3891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440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416052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changes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2011680" y="459028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Anything that moved traffic or measurement: replatforming, new player, vendor or threshold change.</a:t>
            </a:r>
            <a:endParaRPr lang="en-US" sz="1300" dirty="0"/>
          </a:p>
        </p:txBody>
      </p:sp>
      <p:sp>
        <p:nvSpPr>
          <p:cNvPr id="19" name="check 4"/>
          <p:cNvSpPr/>
          <p:nvPr/>
        </p:nvSpPr>
        <p:spPr>
          <a:xfrm>
            <a:off x="6278728" y="393192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53048" y="4160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SLIDE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553048" y="43891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4400" dirty="0"/>
          </a:p>
        </p:txBody>
      </p:sp>
      <p:sp>
        <p:nvSpPr>
          <p:cNvPr id="22" name="Text 20"/>
          <p:cNvSpPr txBox="1"/>
          <p:nvPr/>
        </p:nvSpPr>
        <p:spPr>
          <a:xfrm>
            <a:off x="7741768" y="416052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SIVT by quarter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741768" y="459028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Overall / display / video per quarter. Relabel the bottom row Full year if that's what it is.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BEFORE THE NEXT SEND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fixes in the current files</a:t>
            </a:r>
            <a:endParaRPr lang="en-US" sz="3400" dirty="0"/>
          </a:p>
        </p:txBody>
      </p:sp>
      <p:sp>
        <p:nvSpPr>
          <p:cNvPr id="4" name="fix 1"/>
          <p:cNvSpPr/>
          <p:nvPr/>
        </p:nvSpPr>
        <p:spPr>
          <a:xfrm>
            <a:off x="548640" y="1874520"/>
            <a:ext cx="11094415" cy="603504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fix dot 1"/>
          <p:cNvSpPr/>
          <p:nvPr/>
        </p:nvSpPr>
        <p:spPr>
          <a:xfrm>
            <a:off x="777240" y="2057400"/>
            <a:ext cx="237744" cy="23774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34440" y="201168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Display Jan, Ad Exchange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389120" y="2011680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59,562,722 → 59,956,722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001000" y="1929384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Taken as Open Auction only; short by January's PA (394,000)</a:t>
            </a:r>
            <a:endParaRPr lang="en-US" sz="1200" dirty="0"/>
          </a:p>
        </p:txBody>
      </p:sp>
      <p:sp>
        <p:nvSpPr>
          <p:cNvPr id="9" name="fix 2"/>
          <p:cNvSpPr/>
          <p:nvPr/>
        </p:nvSpPr>
        <p:spPr>
          <a:xfrm>
            <a:off x="548640" y="2578608"/>
            <a:ext cx="11094415" cy="603504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fix dot 2"/>
          <p:cNvSpPr/>
          <p:nvPr/>
        </p:nvSpPr>
        <p:spPr>
          <a:xfrm>
            <a:off x="777240" y="2761488"/>
            <a:ext cx="237744" cy="23774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234440" y="271576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Video Ad Exchange, Jan + Jul–Sep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2715768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Add In-stream video or audio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001000" y="2633472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Aug +82,199 · Sep +42,531 · Jul +83 · Jan +1. Video GAM total moves the same</a:t>
            </a:r>
            <a:endParaRPr lang="en-US" sz="1200" dirty="0"/>
          </a:p>
        </p:txBody>
      </p:sp>
      <p:sp>
        <p:nvSpPr>
          <p:cNvPr id="14" name="fix 3"/>
          <p:cNvSpPr/>
          <p:nvPr/>
        </p:nvSpPr>
        <p:spPr>
          <a:xfrm>
            <a:off x="548640" y="3282696"/>
            <a:ext cx="11094415" cy="603504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5" name="fix dot 3"/>
          <p:cNvSpPr/>
          <p:nvPr/>
        </p:nvSpPr>
        <p:spPr>
          <a:xfrm>
            <a:off x="777240" y="3465576"/>
            <a:ext cx="237744" cy="23774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234440" y="34198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Slide 4 discrepancies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389120" y="3419856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3.21 / 4.41 / 3.61% → 3.11 / 4.22 / 3.48%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001000" y="333756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Restate with the workbook's formula (÷ pageviews)</a:t>
            </a:r>
            <a:endParaRPr lang="en-US" sz="1200" dirty="0"/>
          </a:p>
        </p:txBody>
      </p:sp>
      <p:sp>
        <p:nvSpPr>
          <p:cNvPr id="19" name="fix 4"/>
          <p:cNvSpPr/>
          <p:nvPr/>
        </p:nvSpPr>
        <p:spPr>
          <a:xfrm>
            <a:off x="548640" y="3986784"/>
            <a:ext cx="11094415" cy="603504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0" name="fix dot 4"/>
          <p:cNvSpPr/>
          <p:nvPr/>
        </p:nvSpPr>
        <p:spPr>
          <a:xfrm>
            <a:off x="777240" y="4169664"/>
            <a:ext cx="237744" cy="237744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234440" y="4123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PMP – PD+PG header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389120" y="4123944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"Total impressions"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001000" y="404164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The numbers are total impressions, not unfiltered downloaded</a:t>
            </a:r>
            <a:endParaRPr lang="en-US" sz="1200" dirty="0"/>
          </a:p>
        </p:txBody>
      </p:sp>
      <p:sp>
        <p:nvSpPr>
          <p:cNvPr id="24" name="fix 5"/>
          <p:cNvSpPr/>
          <p:nvPr/>
        </p:nvSpPr>
        <p:spPr>
          <a:xfrm>
            <a:off x="548640" y="4690872"/>
            <a:ext cx="11094415" cy="603504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5" name="fix dot 5"/>
          <p:cNvSpPr/>
          <p:nvPr/>
        </p:nvSpPr>
        <p:spPr>
          <a:xfrm>
            <a:off x="777240" y="4873752"/>
            <a:ext cx="237744" cy="237744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234440" y="482803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DV post-bid impressions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389120" y="4828032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Rounded → exact export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001000" y="4745736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Rounding moves the DV↔GAM gap by up to ~0.03pp a month</a:t>
            </a:r>
            <a:endParaRPr lang="en-US" sz="1200" dirty="0"/>
          </a:p>
        </p:txBody>
      </p:sp>
      <p:sp>
        <p:nvSpPr>
          <p:cNvPr id="29" name="fix 6"/>
          <p:cNvSpPr/>
          <p:nvPr/>
        </p:nvSpPr>
        <p:spPr>
          <a:xfrm>
            <a:off x="548640" y="5394960"/>
            <a:ext cx="11094415" cy="603504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30" name="fix dot 6"/>
          <p:cNvSpPr/>
          <p:nvPr/>
        </p:nvSpPr>
        <p:spPr>
          <a:xfrm>
            <a:off x="777240" y="5577840"/>
            <a:ext cx="237744" cy="237744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234440" y="55321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DV pre-bid menu path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389120" y="5532120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Write it down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8001000" y="5449824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Whoever runs Q4 should add it to this guide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wsweek Paper">
  <a:themeElements>
    <a:clrScheme name="Newsweek Paper">
      <a:dk1>
        <a:srgbClr val="1F1E19"/>
      </a:dk1>
      <a:lt1>
        <a:srgbClr val="FEFCF6"/>
      </a:lt1>
      <a:dk2>
        <a:srgbClr val="57564F"/>
      </a:dk2>
      <a:lt2>
        <a:srgbClr val="F6F2E6"/>
      </a:lt2>
      <a:accent1>
        <a:srgbClr val="E91D0C"/>
      </a:accent1>
      <a:accent2>
        <a:srgbClr val="C41608"/>
      </a:accent2>
      <a:accent3>
        <a:srgbClr val="4B62E0"/>
      </a:accent3>
      <a:accent4>
        <a:srgbClr val="2D8D92"/>
      </a:accent4>
      <a:accent5>
        <a:srgbClr val="B08900"/>
      </a:accent5>
      <a:accent6>
        <a:srgbClr val="3C6B14"/>
      </a:accent6>
      <a:hlink>
        <a:srgbClr val="57564F"/>
      </a:hlink>
      <a:folHlink>
        <a:srgbClr val="8C887B"/>
      </a:folHlink>
    </a:clrScheme>
    <a:fontScheme name="Newsweek Paper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Updating the IVT Monitoring Report</dc:title>
  <dc:subject>PptxGenJS Presentation</dc:subject>
  <dc:creator>Newsweek RevOps</dc:creator>
  <cp:lastModifiedBy>Newsweek RevOps</cp:lastModifiedBy>
  <cp:revision>1</cp:revision>
  <dcterms:created xsi:type="dcterms:W3CDTF">2026-10-20T18:21:31Z</dcterms:created>
  <dcterms:modified xsi:type="dcterms:W3CDTF">2026-10-20T18:21:31Z</dcterms:modified>
</cp:coreProperties>
</file>