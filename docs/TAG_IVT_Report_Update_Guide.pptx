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8989161d-f979-cc43-5a51-7a667d5f9ca6}">
          <p14:sldIdLst>
            <p14:sldId id="256"/>
            <p14:sldId id="257"/>
            <p14:sldId id="258"/>
            <p14:sldId id="259"/>
          </p14:sldIdLst>
        </p14:section>
        <p14:section name="1 · GAM" id="{c1151be3-0f9b-cd45-c301-48965a800c81}">
          <p14:sldIdLst>
            <p14:sldId id="260"/>
            <p14:sldId id="261"/>
            <p14:sldId id="262"/>
            <p14:sldId id="263"/>
          </p14:sldIdLst>
        </p14:section>
        <p14:section name="2–3 · DV and GA4" id="{77d57dc9-de35-cabc-d058-9a2d298fcbc6}">
          <p14:sldIdLst>
            <p14:sldId id="264"/>
            <p14:sldId id="265"/>
            <p14:sldId id="266"/>
          </p14:sldIdLst>
        </p14:section>
        <p14:section name="4–5 · Math and deck" id="{a97eb2d3-f661-4c9b-680e-cf17c6b97292}">
          <p14:sldIdLst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web pageviews vs DV pre-bid requests,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4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GAM impressions by channel, DV post-bid impressions and SIVT rate, display and video sheets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10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impressions and SIVT rate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Slides 1, 4, 9 and 10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Slide 4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8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 unit (top level), not Ad unit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5603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leaf ad unit called newsweek is the bare parent: ~173 impressions a month</a:t>
            </a:r>
            <a:endParaRPr lang="en-US" sz="1300" dirty="0"/>
          </a:p>
        </p:txBody>
      </p:sp>
      <p:sp>
        <p:nvSpPr>
          <p:cNvPr id="9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83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both in-stream formats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749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Inventory format also has In-stream video or audio; always add it to In-stream video</a:t>
            </a:r>
            <a:endParaRPr lang="en-US" sz="1300" dirty="0"/>
          </a:p>
        </p:txBody>
      </p:sp>
      <p:sp>
        <p:nvSpPr>
          <p:cNvPr id="14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Programmatic channel = Open Auction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That is Ad Exchange minus PA; it caused the January Ad Exchange error</a:t>
            </a:r>
            <a:endParaRPr lang="en-US" sz="1300" dirty="0"/>
          </a:p>
        </p:txBody>
      </p:sp>
      <p:sp>
        <p:nvSpPr>
          <p:cNvPr id="19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DOUBLEVERIFY PINNACLE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Use the Pinnacle report export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Pull display and video as separate rows: they go to separate sheets of the DV-GAM workbook.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9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4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9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3048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BEFORE THE NEXT SEND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fixes in the current files</a:t>
            </a:r>
            <a:endParaRPr lang="en-US" sz="3400" dirty="0"/>
          </a:p>
        </p:txBody>
      </p:sp>
      <p:sp>
        <p:nvSpPr>
          <p:cNvPr id="4" name="fix 1"/>
          <p:cNvSpPr/>
          <p:nvPr/>
        </p:nvSpPr>
        <p:spPr>
          <a:xfrm>
            <a:off x="548640" y="1874520"/>
            <a:ext cx="11094415" cy="603504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x dot 1"/>
          <p:cNvSpPr/>
          <p:nvPr/>
        </p:nvSpPr>
        <p:spPr>
          <a:xfrm>
            <a:off x="777240" y="205740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4440" y="20116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Display Jan, Ad Exchange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201168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59,562,722 → 59,956,722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192938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Taken as Open Auction only; short by January's PA (394,000)</a:t>
            </a:r>
            <a:endParaRPr lang="en-US" sz="1200" dirty="0"/>
          </a:p>
        </p:txBody>
      </p:sp>
      <p:sp>
        <p:nvSpPr>
          <p:cNvPr id="9" name="fix 2"/>
          <p:cNvSpPr/>
          <p:nvPr/>
        </p:nvSpPr>
        <p:spPr>
          <a:xfrm>
            <a:off x="548640" y="2578608"/>
            <a:ext cx="11094415" cy="603504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fix dot 2"/>
          <p:cNvSpPr/>
          <p:nvPr/>
        </p:nvSpPr>
        <p:spPr>
          <a:xfrm>
            <a:off x="777240" y="2761488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34440" y="271576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Video Ad Exchange, Jan + Jul–Sep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71576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Add In-stream video or audio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001000" y="263347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Aug +82,199 · Sep +42,531 · Jul +83 · Jan +1. Video GAM total moves the same</a:t>
            </a:r>
            <a:endParaRPr lang="en-US" sz="1200" dirty="0"/>
          </a:p>
        </p:txBody>
      </p:sp>
      <p:sp>
        <p:nvSpPr>
          <p:cNvPr id="14" name="fix 3"/>
          <p:cNvSpPr/>
          <p:nvPr/>
        </p:nvSpPr>
        <p:spPr>
          <a:xfrm>
            <a:off x="548640" y="3282696"/>
            <a:ext cx="11094415" cy="603504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fix dot 3"/>
          <p:cNvSpPr/>
          <p:nvPr/>
        </p:nvSpPr>
        <p:spPr>
          <a:xfrm>
            <a:off x="777240" y="3465576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34440" y="34198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Slide 4 discrepancies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419856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3.21 / 4.41 / 3.61% → 3.11 / 4.22 / 3.48%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33375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Restate with the workbook's formula (÷ pageviews)</a:t>
            </a:r>
            <a:endParaRPr lang="en-US" sz="1200" dirty="0"/>
          </a:p>
        </p:txBody>
      </p:sp>
      <p:sp>
        <p:nvSpPr>
          <p:cNvPr id="19" name="fix 4"/>
          <p:cNvSpPr/>
          <p:nvPr/>
        </p:nvSpPr>
        <p:spPr>
          <a:xfrm>
            <a:off x="548640" y="3986784"/>
            <a:ext cx="11094415" cy="603504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fix dot 4"/>
          <p:cNvSpPr/>
          <p:nvPr/>
        </p:nvSpPr>
        <p:spPr>
          <a:xfrm>
            <a:off x="777240" y="4169664"/>
            <a:ext cx="237744" cy="23774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34440" y="4123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PMP – PD+PG header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389120" y="4123944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"Total impressions"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001000" y="40416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numbers are total impressions, not unfiltered downloaded</a:t>
            </a:r>
            <a:endParaRPr lang="en-US" sz="1200" dirty="0"/>
          </a:p>
        </p:txBody>
      </p:sp>
      <p:sp>
        <p:nvSpPr>
          <p:cNvPr id="24" name="fix 5"/>
          <p:cNvSpPr/>
          <p:nvPr/>
        </p:nvSpPr>
        <p:spPr>
          <a:xfrm>
            <a:off x="548640" y="4690872"/>
            <a:ext cx="11094415" cy="603504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fix dot 5"/>
          <p:cNvSpPr/>
          <p:nvPr/>
        </p:nvSpPr>
        <p:spPr>
          <a:xfrm>
            <a:off x="777240" y="4873752"/>
            <a:ext cx="237744" cy="23774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34440" y="48280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DV post-bid impressions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4828032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Rounded → exact export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001000" y="474573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Rounding moves the DV↔GAM gap by up to ~0.03pp a month</a:t>
            </a:r>
            <a:endParaRPr lang="en-US" sz="1200" dirty="0"/>
          </a:p>
        </p:txBody>
      </p:sp>
      <p:sp>
        <p:nvSpPr>
          <p:cNvPr id="29" name="fix 6"/>
          <p:cNvSpPr/>
          <p:nvPr/>
        </p:nvSpPr>
        <p:spPr>
          <a:xfrm>
            <a:off x="548640" y="5394960"/>
            <a:ext cx="11094415" cy="603504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30" name="fix dot 6"/>
          <p:cNvSpPr/>
          <p:nvPr/>
        </p:nvSpPr>
        <p:spPr>
          <a:xfrm>
            <a:off x="777240" y="5577840"/>
            <a:ext cx="237744" cy="23774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234440" y="55321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DV pre-bid menu path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389120" y="553212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Write it down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001000" y="544982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Whoever runs Q4 should add it to this guide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2026-10-20T18:14:20Z</dcterms:created>
  <dcterms:modified xsi:type="dcterms:W3CDTF">2026-10-20T18:14:20Z</dcterms:modified>
</cp:coreProperties>
</file>