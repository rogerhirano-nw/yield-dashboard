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edfb6b6-2c9e-8bd4-6c79-96ed5c942a51}">
          <p14:sldIdLst>
            <p14:sldId id="256"/>
            <p14:sldId id="257"/>
            <p14:sldId id="258"/>
            <p14:sldId id="259"/>
            <p14:sldId id="260"/>
            <p14:sldId id="261"/>
            <p14:sldId id="262"/>
            <p14:sldId id="263"/>
            <p14:sldId id="264"/>
            <p14:sldId id="265"/>
            <p14:sldId id="266"/>
            <p14:sldId id="267"/>
          </p14:sldIdLst>
        </p14:section>
        <p14:section name="Step 1 · GAM" id="{e4f7f021-73e2-6bed-c6f0-c2dda3b434d2}">
          <p14:sldIdLst>
            <p14:sldId id="268"/>
            <p14:sldId id="269"/>
            <p14:sldId id="270"/>
            <p14:sldId id="271"/>
            <p14:sldId id="272"/>
            <p14:sldId id="273"/>
          </p14:sldIdLst>
        </p14:section>
        <p14:section name="Step 2 · DV" id="{6a4e5997-e455-42e8-5cfe-7206d0fb14c5}">
          <p14:sldIdLst>
            <p14:sldId id="274"/>
            <p14:sldId id="275"/>
            <p14:sldId id="276"/>
          </p14:sldIdLst>
        </p14:section>
        <p14:section name="Step 3 · GA4 + pre-bid" id="{e3fed79e-f1c8-abdd-22a3-c23c1303ba2a}">
          <p14:sldIdLst>
            <p14:sldId id="277"/>
            <p14:sldId id="278"/>
          </p14:sldIdLst>
        </p14:section>
        <p14:section name="Step 4 · Quarter math" id="{fa2c9900-56bc-2a49-930f-3d8a9fd8a67d}">
          <p14:sldIdLst>
            <p14:sldId id="279"/>
            <p14:sldId id="280"/>
          </p14:sldIdLst>
        </p14:section>
        <p14:section name="Step 5 · Build the deck" id="{86cf179b-9bac-3f5f-9188-96092d873376}">
          <p14:sldIdLst>
            <p14:sldId id="281"/>
            <p14:sldId id="282"/>
            <p14:sldId id="283"/>
          </p14:sldIdLst>
        </p14:section>
        <p14:section name="Appendix" id="{d0314779-0f70-c354-af1b-685dcc689fb0}">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12.8</c:v>
                </c:pt>
                <c:pt idx="8">
                  <c:v>11.4</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26.5</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quarterly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quarter.</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After the quarter closes; wait ~3 days so DV data is complete</a:t>
            </a:r>
            <a:endParaRPr lang="en-US" sz="1300" dirty="0"/>
          </a:p>
        </p:txBody>
      </p:sp>
      <p:sp>
        <p:nvSpPr>
          <p:cNvPr id="17" name="Text 15"/>
          <p:cNvSpPr txBox="1"/>
          <p:nvPr/>
        </p:nvSpPr>
        <p:spPr>
          <a:xfrm>
            <a:off x="822960" y="5486400"/>
            <a:ext cx="4861408" cy="320040"/>
          </a:xfrm>
          <a:prstGeom prst="rect">
            <a:avLst/>
          </a:prstGeom>
          <a:noFill/>
          <a:ln/>
        </p:spPr>
        <p:txBody>
          <a:bodyPr wrap="square" lIns="0" tIns="0" rIns="0" bIns="0" rtlCol="0" anchor="t"/>
          <a:lstStyle/>
          <a:p>
            <a:pPr indent="0" marL="0">
              <a:buNone/>
            </a:pPr>
            <a:r>
              <a:rPr lang="en-US" sz="1200" b="1" dirty="0">
                <a:solidFill>
                  <a:srgbClr val="8A6D00"/>
                </a:solidFill>
              </a:rPr>
              <a:t>TO CONFIRM  </a:t>
            </a:r>
            <a:pPr indent="0" marL="0">
              <a:buNone/>
            </a:pPr>
            <a:r>
              <a:rPr lang="en-US" sz="1200" dirty="0">
                <a:solidFill>
                  <a:srgbClr val="8A6D00"/>
                </a:solidFill>
              </a:rPr>
              <a:t>TAG's deadline for the report</a:t>
            </a:r>
            <a:endParaRPr lang="en-US" sz="1200" dirty="0"/>
          </a:p>
        </p:txBody>
      </p:sp>
      <p:sp>
        <p:nvSpPr>
          <p:cNvPr id="18"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9" name="Text 17"/>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20" name="Text 18"/>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to ask</a:t>
            </a:r>
            <a:endParaRPr lang="en-US" sz="1800" dirty="0"/>
          </a:p>
        </p:txBody>
      </p:sp>
      <p:sp>
        <p:nvSpPr>
          <p:cNvPr id="21" name="Text 19"/>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Questions about the numbers: RevOps</a:t>
            </a:r>
            <a:endParaRPr lang="en-US" sz="1300" dirty="0"/>
          </a:p>
        </p:txBody>
      </p:sp>
      <p:sp>
        <p:nvSpPr>
          <p:cNvPr id="22" name="Text 20"/>
          <p:cNvSpPr txBox="1"/>
          <p:nvPr/>
        </p:nvSpPr>
        <p:spPr>
          <a:xfrm>
            <a:off x="6507328" y="5486400"/>
            <a:ext cx="4861408" cy="320040"/>
          </a:xfrm>
          <a:prstGeom prst="rect">
            <a:avLst/>
          </a:prstGeom>
          <a:noFill/>
          <a:ln/>
        </p:spPr>
        <p:txBody>
          <a:bodyPr wrap="square" lIns="0" tIns="0" rIns="0" bIns="0" rtlCol="0" anchor="t"/>
          <a:lstStyle/>
          <a:p>
            <a:pPr indent="0" marL="0">
              <a:buNone/>
            </a:pPr>
            <a:r>
              <a:rPr lang="en-US" sz="1200" b="1" dirty="0">
                <a:solidFill>
                  <a:srgbClr val="8A6D00"/>
                </a:solidFill>
              </a:rPr>
              <a:t>TO CONFIRM  </a:t>
            </a:r>
            <a:pPr indent="0" marL="0">
              <a:buNone/>
            </a:pPr>
            <a:r>
              <a:rPr lang="en-US" sz="1200" dirty="0">
                <a:solidFill>
                  <a:srgbClr val="8A6D00"/>
                </a:solidFill>
              </a:rPr>
              <a:t>Who reviews, approves and sends the report; DV contact</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IAS and 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other two layers of protection</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Three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IAS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quarter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low,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once a quarter</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quarter: open it, run it, and copy only the new months.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1,332,484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1,634,651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26,490,184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2,327,827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32,860,875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23,752,294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302,255,362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TO CONFIRM: Jan and Jul–Sep Ad Exchange still exclude In-stream video or audio.</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TO CONFIRM the scale: the UI shows ~0.4% for July.</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Exact counts need an export: TO CONFIRM the export steps.</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quarter and copy web Views per month.</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quarter</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Title year</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Confirm the year on the cover.</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Rebuild as the by-month and by-quarter tables shown earlier. Discrepancy = (pageviews − DV pre-bid) ÷ pageviews; the 2026 Q1–Q2 report divided by DV, so restate those.</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quarter: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Overall, display and video, weighted by DV post-bid impressions (Step 4). Q4 stays blank until December closes.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85216"/>
          </a:xfrm>
          <a:prstGeom prst="rect">
            <a:avLst/>
          </a:prstGeom>
          <a:solidFill>
            <a:schemeClr val="bg1"/>
          </a:solidFill>
          <a:ln w="9525">
            <a:solidFill>
              <a:srgbClr val="E7E0C9"/>
            </a:solidFill>
            <a:prstDash val="solid"/>
          </a:ln>
        </p:spPr>
      </p:sp>
      <p:sp>
        <p:nvSpPr>
          <p:cNvPr id="5" name="box 1"/>
          <p:cNvSpPr/>
          <p:nvPr/>
        </p:nvSpPr>
        <p:spPr>
          <a:xfrm>
            <a:off x="777240" y="2057400"/>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659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every month of the quarter, display and video, and the Totals rows recalculate</a:t>
            </a:r>
            <a:endParaRPr lang="en-US" sz="1400" dirty="0"/>
          </a:p>
        </p:txBody>
      </p:sp>
      <p:sp>
        <p:nvSpPr>
          <p:cNvPr id="7" name="final 2"/>
          <p:cNvSpPr/>
          <p:nvPr/>
        </p:nvSpPr>
        <p:spPr>
          <a:xfrm>
            <a:off x="548640" y="2560320"/>
            <a:ext cx="11094415" cy="585216"/>
          </a:xfrm>
          <a:prstGeom prst="rect">
            <a:avLst/>
          </a:prstGeom>
          <a:solidFill>
            <a:schemeClr val="bg1"/>
          </a:solidFill>
          <a:ln w="9525">
            <a:solidFill>
              <a:srgbClr val="E7E0C9"/>
            </a:solidFill>
            <a:prstDash val="solid"/>
          </a:ln>
        </p:spPr>
      </p:sp>
      <p:sp>
        <p:nvSpPr>
          <p:cNvPr id="8" name="box 2"/>
          <p:cNvSpPr/>
          <p:nvPr/>
        </p:nvSpPr>
        <p:spPr>
          <a:xfrm>
            <a:off x="777240" y="274320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651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246120"/>
            <a:ext cx="11094415" cy="585216"/>
          </a:xfrm>
          <a:prstGeom prst="rect">
            <a:avLst/>
          </a:prstGeom>
          <a:solidFill>
            <a:schemeClr val="bg1"/>
          </a:solidFill>
          <a:ln w="9525">
            <a:solidFill>
              <a:srgbClr val="E7E0C9"/>
            </a:solidFill>
            <a:prstDash val="solid"/>
          </a:ln>
        </p:spPr>
      </p:sp>
      <p:sp>
        <p:nvSpPr>
          <p:cNvPr id="11" name="box 3"/>
          <p:cNvSpPr/>
          <p:nvPr/>
        </p:nvSpPr>
        <p:spPr>
          <a:xfrm>
            <a:off x="777240" y="3429000"/>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3375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quarter's. A jump of more than a few points gets an explanation on the Key changes slide</a:t>
            </a:r>
            <a:endParaRPr lang="en-US" sz="1400" dirty="0"/>
          </a:p>
        </p:txBody>
      </p:sp>
      <p:sp>
        <p:nvSpPr>
          <p:cNvPr id="13" name="final 4"/>
          <p:cNvSpPr/>
          <p:nvPr/>
        </p:nvSpPr>
        <p:spPr>
          <a:xfrm>
            <a:off x="548640" y="3931920"/>
            <a:ext cx="11094415" cy="585216"/>
          </a:xfrm>
          <a:prstGeom prst="rect">
            <a:avLst/>
          </a:prstGeom>
          <a:solidFill>
            <a:schemeClr val="bg1"/>
          </a:solidFill>
          <a:ln w="9525">
            <a:solidFill>
              <a:srgbClr val="E7E0C9"/>
            </a:solidFill>
            <a:prstDash val="solid"/>
          </a:ln>
        </p:spPr>
      </p:sp>
      <p:sp>
        <p:nvSpPr>
          <p:cNvPr id="14" name="box 4"/>
          <p:cNvSpPr/>
          <p:nvPr/>
        </p:nvSpPr>
        <p:spPr>
          <a:xfrm>
            <a:off x="777240" y="4114800"/>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4023360"/>
            <a:ext cx="694944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on the same scale as the DV UI</a:t>
            </a:r>
            <a:endParaRPr lang="en-US" sz="1400" dirty="0"/>
          </a:p>
        </p:txBody>
      </p:sp>
      <p:sp>
        <p:nvSpPr>
          <p:cNvPr id="16" name="Text 14"/>
          <p:cNvSpPr txBox="1"/>
          <p:nvPr/>
        </p:nvSpPr>
        <p:spPr>
          <a:xfrm>
            <a:off x="8321040" y="4023360"/>
            <a:ext cx="3200400" cy="420624"/>
          </a:xfrm>
          <a:prstGeom prst="rect">
            <a:avLst/>
          </a:prstGeom>
          <a:noFill/>
          <a:ln/>
        </p:spPr>
        <p:txBody>
          <a:bodyPr wrap="square" lIns="0" tIns="0" rIns="0" bIns="0" rtlCol="0" anchor="ctr"/>
          <a:lstStyle/>
          <a:p>
            <a:pPr indent="0" marL="0">
              <a:buNone/>
            </a:pPr>
            <a:r>
              <a:rPr lang="en-US" sz="1200" b="1" dirty="0">
                <a:solidFill>
                  <a:srgbClr val="8A6D00"/>
                </a:solidFill>
              </a:rPr>
              <a:t>TO CONFIRM  </a:t>
            </a:r>
            <a:pPr indent="0" marL="0">
              <a:buNone/>
            </a:pPr>
            <a:r>
              <a:rPr lang="en-US" sz="1200" dirty="0">
                <a:solidFill>
                  <a:srgbClr val="8A6D00"/>
                </a:solidFill>
              </a:rPr>
              <a:t>the 0.04% vs ~0.4% question</a:t>
            </a:r>
            <a:endParaRPr lang="en-US" sz="1200" dirty="0"/>
          </a:p>
        </p:txBody>
      </p:sp>
      <p:sp>
        <p:nvSpPr>
          <p:cNvPr id="17" name="final 5"/>
          <p:cNvSpPr/>
          <p:nvPr/>
        </p:nvSpPr>
        <p:spPr>
          <a:xfrm>
            <a:off x="548640" y="4617720"/>
            <a:ext cx="11094415" cy="585216"/>
          </a:xfrm>
          <a:prstGeom prst="rect">
            <a:avLst/>
          </a:prstGeom>
          <a:solidFill>
            <a:schemeClr val="bg1"/>
          </a:solidFill>
          <a:ln w="9525">
            <a:solidFill>
              <a:srgbClr val="E7E0C9"/>
            </a:solidFill>
            <a:prstDash val="solid"/>
          </a:ln>
        </p:spPr>
      </p:sp>
      <p:sp>
        <p:nvSpPr>
          <p:cNvPr id="18" name="box 5"/>
          <p:cNvSpPr/>
          <p:nvPr/>
        </p:nvSpPr>
        <p:spPr>
          <a:xfrm>
            <a:off x="777240" y="4800600"/>
            <a:ext cx="219456" cy="219456"/>
          </a:xfrm>
          <a:prstGeom prst="rect">
            <a:avLst/>
          </a:prstGeom>
          <a:solidFill>
            <a:schemeClr val="bg1"/>
          </a:solidFill>
          <a:ln w="15875">
            <a:solidFill>
              <a:srgbClr val="1F1E19"/>
            </a:solidFill>
            <a:prstDash val="solid"/>
          </a:ln>
        </p:spPr>
      </p:sp>
      <p:sp>
        <p:nvSpPr>
          <p:cNvPr id="19" name="Text 17"/>
          <p:cNvSpPr txBox="1"/>
          <p:nvPr/>
        </p:nvSpPr>
        <p:spPr>
          <a:xfrm>
            <a:off x="1234440" y="47091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20" name="final 6"/>
          <p:cNvSpPr/>
          <p:nvPr/>
        </p:nvSpPr>
        <p:spPr>
          <a:xfrm>
            <a:off x="548640" y="5303520"/>
            <a:ext cx="11094415" cy="585216"/>
          </a:xfrm>
          <a:prstGeom prst="rect">
            <a:avLst/>
          </a:prstGeom>
          <a:solidFill>
            <a:schemeClr val="bg1"/>
          </a:solidFill>
          <a:ln w="9525">
            <a:solidFill>
              <a:srgbClr val="E7E0C9"/>
            </a:solidFill>
            <a:prstDash val="solid"/>
          </a:ln>
        </p:spPr>
      </p:sp>
      <p:sp>
        <p:nvSpPr>
          <p:cNvPr id="21" name="box 6"/>
          <p:cNvSpPr/>
          <p:nvPr/>
        </p:nvSpPr>
        <p:spPr>
          <a:xfrm>
            <a:off x="777240" y="5486400"/>
            <a:ext cx="219456" cy="219456"/>
          </a:xfrm>
          <a:prstGeom prst="rect">
            <a:avLst/>
          </a:prstGeom>
          <a:solidFill>
            <a:schemeClr val="bg1"/>
          </a:solidFill>
          <a:ln w="15875">
            <a:solidFill>
              <a:srgbClr val="1F1E19"/>
            </a:solidFill>
            <a:prstDash val="solid"/>
          </a:ln>
        </p:spPr>
      </p:sp>
      <p:sp>
        <p:nvSpPr>
          <p:cNvPr id="22" name="Text 20"/>
          <p:cNvSpPr txBox="1"/>
          <p:nvPr/>
        </p:nvSpPr>
        <p:spPr>
          <a:xfrm>
            <a:off x="1234440" y="5394960"/>
            <a:ext cx="6949440" cy="420624"/>
          </a:xfrm>
          <a:prstGeom prst="rect">
            <a:avLst/>
          </a:prstGeom>
          <a:noFill/>
          <a:ln/>
        </p:spPr>
        <p:txBody>
          <a:bodyPr wrap="square" lIns="0" tIns="0" rIns="0" bIns="0" rtlCol="0" anchor="ctr"/>
          <a:lstStyle/>
          <a:p>
            <a:pPr indent="0" marL="0">
              <a:buNone/>
            </a:pPr>
            <a:r>
              <a:rPr lang="en-US" sz="1400" dirty="0">
                <a:solidFill>
                  <a:schemeClr val="tx1"/>
                </a:solidFill>
              </a:rPr>
              <a:t>Someone else reviews the deck before it goes to TAG</a:t>
            </a:r>
            <a:endParaRPr lang="en-US" sz="1400" dirty="0"/>
          </a:p>
        </p:txBody>
      </p:sp>
      <p:sp>
        <p:nvSpPr>
          <p:cNvPr id="23" name="Text 21"/>
          <p:cNvSpPr txBox="1"/>
          <p:nvPr/>
        </p:nvSpPr>
        <p:spPr>
          <a:xfrm>
            <a:off x="8321040" y="5394960"/>
            <a:ext cx="3200400" cy="420624"/>
          </a:xfrm>
          <a:prstGeom prst="rect">
            <a:avLst/>
          </a:prstGeom>
          <a:noFill/>
          <a:ln/>
        </p:spPr>
        <p:txBody>
          <a:bodyPr wrap="square" lIns="0" tIns="0" rIns="0" bIns="0" rtlCol="0" anchor="ctr"/>
          <a:lstStyle/>
          <a:p>
            <a:pPr indent="0" marL="0">
              <a:buNone/>
            </a:pPr>
            <a:r>
              <a:rPr lang="en-US" sz="1200" b="1" dirty="0">
                <a:solidFill>
                  <a:srgbClr val="8A6D00"/>
                </a:solidFill>
              </a:rPr>
              <a:t>TO CONFIRM  </a:t>
            </a:r>
            <a:pPr indent="0" marL="0">
              <a:buNone/>
            </a:pPr>
            <a:r>
              <a:rPr lang="en-US" sz="1200" dirty="0">
                <a:solidFill>
                  <a:srgbClr val="8A6D00"/>
                </a:solidFill>
              </a:rPr>
              <a:t>who reviews and who sends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Charts to sanity-check a quarter before it goes out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measured. Why the gap: TO CONFIRM with DV.</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near 0.04% every quarter</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2026-10-21T00:36:58Z</dcterms:created>
  <dcterms:modified xsi:type="dcterms:W3CDTF">2026-10-21T00:36:58Z</dcterms:modified>
</cp:coreProperties>
</file>